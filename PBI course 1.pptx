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1" r:id="rId4"/>
    <p:sldId id="263" r:id="rId5"/>
    <p:sldId id="264" r:id="rId6"/>
    <p:sldId id="267" r:id="rId7"/>
    <p:sldId id="272" r:id="rId8"/>
    <p:sldId id="265" r:id="rId9"/>
    <p:sldId id="269" r:id="rId10"/>
    <p:sldId id="266" r:id="rId11"/>
    <p:sldId id="270" r:id="rId12"/>
    <p:sldId id="271" r:id="rId13"/>
    <p:sldId id="273" r:id="rId14"/>
    <p:sldId id="274" r:id="rId15"/>
    <p:sldId id="275" r:id="rId16"/>
    <p:sldId id="294" r:id="rId17"/>
    <p:sldId id="295" r:id="rId18"/>
    <p:sldId id="276" r:id="rId19"/>
    <p:sldId id="280" r:id="rId20"/>
    <p:sldId id="281" r:id="rId21"/>
    <p:sldId id="279" r:id="rId22"/>
    <p:sldId id="282" r:id="rId23"/>
    <p:sldId id="283" r:id="rId24"/>
    <p:sldId id="284" r:id="rId25"/>
    <p:sldId id="296" r:id="rId26"/>
    <p:sldId id="297" r:id="rId27"/>
    <p:sldId id="298" r:id="rId28"/>
    <p:sldId id="299" r:id="rId29"/>
    <p:sldId id="300" r:id="rId30"/>
    <p:sldId id="301" r:id="rId31"/>
    <p:sldId id="302"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E8C"/>
    <a:srgbClr val="FFFFFF"/>
    <a:srgbClr val="3C3C41"/>
    <a:srgbClr val="1A1A19"/>
    <a:srgbClr val="F2C811"/>
    <a:srgbClr val="E7E5E6"/>
    <a:srgbClr val="E6E6E6"/>
    <a:srgbClr val="DA9200"/>
    <a:srgbClr val="FFC91E"/>
    <a:srgbClr val="FFE3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1C8ACC-F5EC-411D-AFE0-FE977BB6416D}" v="6" dt="2026-06-25T20:57:20.3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87" d="100"/>
          <a:sy n="87" d="100"/>
        </p:scale>
        <p:origin x="1267" y="2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nzalez, Jose Eduardo" userId="d02e2dd6-2753-4959-b218-95f31edc94a7" providerId="ADAL" clId="{31D103A2-01A1-41BC-A7E2-B05689D3502B}"/>
    <pc:docChg chg="modSld">
      <pc:chgData name="Gonzalez, Jose Eduardo" userId="d02e2dd6-2753-4959-b218-95f31edc94a7" providerId="ADAL" clId="{31D103A2-01A1-41BC-A7E2-B05689D3502B}" dt="2026-06-25T20:57:23.107" v="8" actId="14100"/>
      <pc:docMkLst>
        <pc:docMk/>
      </pc:docMkLst>
      <pc:sldChg chg="addSp modSp mod modAnim">
        <pc:chgData name="Gonzalez, Jose Eduardo" userId="d02e2dd6-2753-4959-b218-95f31edc94a7" providerId="ADAL" clId="{31D103A2-01A1-41BC-A7E2-B05689D3502B}" dt="2026-06-25T20:57:23.107" v="8" actId="14100"/>
        <pc:sldMkLst>
          <pc:docMk/>
          <pc:sldMk cId="1541743819" sldId="297"/>
        </pc:sldMkLst>
        <pc:spChg chg="add mod">
          <ac:chgData name="Gonzalez, Jose Eduardo" userId="d02e2dd6-2753-4959-b218-95f31edc94a7" providerId="ADAL" clId="{31D103A2-01A1-41BC-A7E2-B05689D3502B}" dt="2026-06-25T20:57:23.107" v="8" actId="14100"/>
          <ac:spMkLst>
            <pc:docMk/>
            <pc:sldMk cId="1541743819" sldId="297"/>
            <ac:spMk id="4" creationId="{669E7094-6207-BD3C-CEF4-57EA1558D83C}"/>
          </ac:spMkLst>
        </pc:spChg>
        <pc:spChg chg="add mod">
          <ac:chgData name="Gonzalez, Jose Eduardo" userId="d02e2dd6-2753-4959-b218-95f31edc94a7" providerId="ADAL" clId="{31D103A2-01A1-41BC-A7E2-B05689D3502B}" dt="2026-06-25T20:57:05.472" v="3"/>
          <ac:spMkLst>
            <pc:docMk/>
            <pc:sldMk cId="1541743819" sldId="297"/>
            <ac:spMk id="5" creationId="{AAC34145-58C8-749D-EAB1-5C39F80AE886}"/>
          </ac:spMkLst>
        </pc:spChg>
        <pc:spChg chg="mod">
          <ac:chgData name="Gonzalez, Jose Eduardo" userId="d02e2dd6-2753-4959-b218-95f31edc94a7" providerId="ADAL" clId="{31D103A2-01A1-41BC-A7E2-B05689D3502B}" dt="2026-06-25T20:56:54.047" v="0" actId="1076"/>
          <ac:spMkLst>
            <pc:docMk/>
            <pc:sldMk cId="1541743819" sldId="297"/>
            <ac:spMk id="23" creationId="{9DCE8560-D001-0938-8EB6-A0FDB3A255E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197548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2593904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129014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452740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248026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859769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988956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1147147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3898598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1669081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B28DCA9-9749-49F9-8222-3B95B6608F3F}"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C18A9CC-C576-491C-9F57-D4E1587DC37A}" type="slidenum">
              <a:rPr lang="en-US" smtClean="0"/>
              <a:t>‹#›</a:t>
            </a:fld>
            <a:endParaRPr lang="en-US" dirty="0"/>
          </a:p>
        </p:txBody>
      </p:sp>
    </p:spTree>
    <p:extLst>
      <p:ext uri="{BB962C8B-B14F-4D97-AF65-F5344CB8AC3E}">
        <p14:creationId xmlns:p14="http://schemas.microsoft.com/office/powerpoint/2010/main" val="109266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28DCA9-9749-49F9-8222-3B95B6608F3F}" type="datetimeFigureOut">
              <a:rPr lang="en-US" smtClean="0"/>
              <a:t>6/25/2026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8A9CC-C576-491C-9F57-D4E1587DC37A}" type="slidenum">
              <a:rPr lang="en-US" smtClean="0"/>
              <a:t>‹#›</a:t>
            </a:fld>
            <a:endParaRPr lang="en-US" dirty="0"/>
          </a:p>
        </p:txBody>
      </p:sp>
    </p:spTree>
    <p:extLst>
      <p:ext uri="{BB962C8B-B14F-4D97-AF65-F5344CB8AC3E}">
        <p14:creationId xmlns:p14="http://schemas.microsoft.com/office/powerpoint/2010/main" val="27133535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tmp"/><Relationship Id="rId1" Type="http://schemas.openxmlformats.org/officeDocument/2006/relationships/slideLayout" Target="../slideLayouts/slideLayout5.xml"/><Relationship Id="rId4" Type="http://schemas.openxmlformats.org/officeDocument/2006/relationships/image" Target="../media/image20.tmp"/></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646E4E-2665-414E-9E72-0AF00DF5A7EA}"/>
              </a:ext>
            </a:extLst>
          </p:cNvPr>
          <p:cNvSpPr>
            <a:spLocks noGrp="1"/>
          </p:cNvSpPr>
          <p:nvPr>
            <p:ph type="ctrTitle"/>
          </p:nvPr>
        </p:nvSpPr>
        <p:spPr>
          <a:xfrm>
            <a:off x="1115461" y="1487039"/>
            <a:ext cx="6858000" cy="1181338"/>
          </a:xfrm>
        </p:spPr>
        <p:txBody>
          <a:bodyPr>
            <a:normAutofit/>
          </a:bodyPr>
          <a:lstStyle/>
          <a:p>
            <a:r>
              <a:rPr lang="es-MX" sz="5400" b="1" dirty="0">
                <a:latin typeface="Lucida Sans" panose="020B0602030504020204" pitchFamily="34" charset="0"/>
              </a:rPr>
              <a:t>Bienvenidos</a:t>
            </a:r>
          </a:p>
        </p:txBody>
      </p:sp>
      <p:pic>
        <p:nvPicPr>
          <p:cNvPr id="5" name="pbi logo base" hidden="1">
            <a:extLst>
              <a:ext uri="{FF2B5EF4-FFF2-40B4-BE49-F238E27FC236}">
                <a16:creationId xmlns:a16="http://schemas.microsoft.com/office/drawing/2014/main" id="{EC72BC7A-8C45-45A9-A579-F30B62C06F16}"/>
              </a:ext>
            </a:extLst>
          </p:cNvPr>
          <p:cNvPicPr>
            <a:picLocks noChangeAspect="1"/>
          </p:cNvPicPr>
          <p:nvPr/>
        </p:nvPicPr>
        <p:blipFill>
          <a:blip r:embed="rId2"/>
          <a:stretch>
            <a:fillRect/>
          </a:stretch>
        </p:blipFill>
        <p:spPr>
          <a:xfrm>
            <a:off x="2600761" y="857250"/>
            <a:ext cx="3942479" cy="5143500"/>
          </a:xfrm>
          <a:prstGeom prst="rect">
            <a:avLst/>
          </a:prstGeom>
        </p:spPr>
      </p:pic>
      <p:grpSp>
        <p:nvGrpSpPr>
          <p:cNvPr id="15" name="pbi logo grouped" hidden="1">
            <a:extLst>
              <a:ext uri="{FF2B5EF4-FFF2-40B4-BE49-F238E27FC236}">
                <a16:creationId xmlns:a16="http://schemas.microsoft.com/office/drawing/2014/main" id="{CE86B445-805E-45B2-8F9A-9188693157E1}"/>
              </a:ext>
            </a:extLst>
          </p:cNvPr>
          <p:cNvGrpSpPr/>
          <p:nvPr/>
        </p:nvGrpSpPr>
        <p:grpSpPr>
          <a:xfrm>
            <a:off x="3510366" y="4549637"/>
            <a:ext cx="3704271" cy="4920272"/>
            <a:chOff x="3608126" y="198783"/>
            <a:chExt cx="4939028" cy="6560363"/>
          </a:xfrm>
        </p:grpSpPr>
        <p:sp>
          <p:nvSpPr>
            <p:cNvPr id="12" name="Rectángulo: esquinas redondeadas 11">
              <a:extLst>
                <a:ext uri="{FF2B5EF4-FFF2-40B4-BE49-F238E27FC236}">
                  <a16:creationId xmlns:a16="http://schemas.microsoft.com/office/drawing/2014/main" id="{A483B88F-C0ED-4F89-AC64-8E80CF662E38}"/>
                </a:ext>
              </a:extLst>
            </p:cNvPr>
            <p:cNvSpPr/>
            <p:nvPr/>
          </p:nvSpPr>
          <p:spPr>
            <a:xfrm>
              <a:off x="6328994" y="198783"/>
              <a:ext cx="2218160" cy="6560363"/>
            </a:xfrm>
            <a:prstGeom prst="roundRect">
              <a:avLst>
                <a:gd name="adj" fmla="val 12532"/>
              </a:avLst>
            </a:prstGeom>
            <a:gradFill>
              <a:gsLst>
                <a:gs pos="0">
                  <a:srgbClr val="DA9200"/>
                </a:gs>
                <a:gs pos="74000">
                  <a:srgbClr val="DA9200"/>
                </a:gs>
                <a:gs pos="100000">
                  <a:srgbClr val="DA9200"/>
                </a:gs>
              </a:gsLst>
              <a:lin ang="2700000" scaled="1"/>
            </a:gra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350" dirty="0"/>
            </a:p>
          </p:txBody>
        </p:sp>
        <p:sp>
          <p:nvSpPr>
            <p:cNvPr id="13" name="Rectángulo: esquinas redondeadas 12">
              <a:extLst>
                <a:ext uri="{FF2B5EF4-FFF2-40B4-BE49-F238E27FC236}">
                  <a16:creationId xmlns:a16="http://schemas.microsoft.com/office/drawing/2014/main" id="{0C6EFDA6-F020-46D1-B561-020FFD3B0B8D}"/>
                </a:ext>
              </a:extLst>
            </p:cNvPr>
            <p:cNvSpPr/>
            <p:nvPr/>
          </p:nvSpPr>
          <p:spPr>
            <a:xfrm>
              <a:off x="4986919" y="1766596"/>
              <a:ext cx="2218160" cy="4992550"/>
            </a:xfrm>
            <a:prstGeom prst="roundRect">
              <a:avLst>
                <a:gd name="adj" fmla="val 12532"/>
              </a:avLst>
            </a:prstGeom>
            <a:gradFill>
              <a:gsLst>
                <a:gs pos="0">
                  <a:srgbClr val="FFC91E"/>
                </a:gs>
                <a:gs pos="74000">
                  <a:srgbClr val="FFC91E"/>
                </a:gs>
                <a:gs pos="100000">
                  <a:srgbClr val="FFC91E"/>
                </a:gs>
              </a:gsLst>
              <a:lin ang="2700000" scaled="1"/>
            </a:gra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350" dirty="0"/>
            </a:p>
          </p:txBody>
        </p:sp>
        <p:sp>
          <p:nvSpPr>
            <p:cNvPr id="14" name="Rectángulo: esquinas redondeadas 13">
              <a:extLst>
                <a:ext uri="{FF2B5EF4-FFF2-40B4-BE49-F238E27FC236}">
                  <a16:creationId xmlns:a16="http://schemas.microsoft.com/office/drawing/2014/main" id="{863DE253-C9A8-499B-91BC-9A58419008CF}"/>
                </a:ext>
              </a:extLst>
            </p:cNvPr>
            <p:cNvSpPr/>
            <p:nvPr/>
          </p:nvSpPr>
          <p:spPr>
            <a:xfrm>
              <a:off x="3608126" y="3478964"/>
              <a:ext cx="2218160" cy="3279868"/>
            </a:xfrm>
            <a:prstGeom prst="roundRect">
              <a:avLst>
                <a:gd name="adj" fmla="val 12532"/>
              </a:avLst>
            </a:prstGeom>
            <a:gradFill flip="none" rotWithShape="1">
              <a:gsLst>
                <a:gs pos="0">
                  <a:srgbClr val="FFE36D"/>
                </a:gs>
                <a:gs pos="74000">
                  <a:srgbClr val="FFE36D"/>
                </a:gs>
                <a:gs pos="100000">
                  <a:srgbClr val="FFE36D"/>
                </a:gs>
              </a:gsLst>
              <a:lin ang="2700000" scaled="1"/>
              <a:tileRect/>
            </a:gra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350" dirty="0"/>
            </a:p>
          </p:txBody>
        </p:sp>
      </p:grpSp>
      <p:pic>
        <p:nvPicPr>
          <p:cNvPr id="27" name="Marcador de contenido 18">
            <a:extLst>
              <a:ext uri="{FF2B5EF4-FFF2-40B4-BE49-F238E27FC236}">
                <a16:creationId xmlns:a16="http://schemas.microsoft.com/office/drawing/2014/main" id="{54856FB3-4117-46F3-BF37-E0522445CD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1778" y="3068776"/>
            <a:ext cx="2199239" cy="2199239"/>
          </a:xfrm>
          <a:prstGeom prst="ellipse">
            <a:avLst/>
          </a:prstGeom>
          <a:ln w="635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066610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7D0F80BB-5E05-4201-B2B5-95FC8340F3C3}"/>
              </a:ext>
            </a:extLst>
          </p:cNvPr>
          <p:cNvSpPr txBox="1">
            <a:spLocks/>
          </p:cNvSpPr>
          <p:nvPr/>
        </p:nvSpPr>
        <p:spPr>
          <a:xfrm>
            <a:off x="868681" y="2579132"/>
            <a:ext cx="3653552" cy="179070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500" dirty="0" err="1">
                <a:latin typeface="Lucida Sans" panose="020B0602030504020204" pitchFamily="34" charset="0"/>
              </a:rPr>
              <a:t>Curso</a:t>
            </a:r>
            <a:endParaRPr lang="en-US" sz="4500" dirty="0">
              <a:latin typeface="Lucida Sans" panose="020B0602030504020204" pitchFamily="34" charset="0"/>
            </a:endParaRPr>
          </a:p>
        </p:txBody>
      </p:sp>
      <p:sp>
        <p:nvSpPr>
          <p:cNvPr id="11" name="Rectángulo 10">
            <a:extLst>
              <a:ext uri="{FF2B5EF4-FFF2-40B4-BE49-F238E27FC236}">
                <a16:creationId xmlns:a16="http://schemas.microsoft.com/office/drawing/2014/main" id="{685EA058-5608-4A35-8E28-607A68B8239B}"/>
              </a:ext>
            </a:extLst>
          </p:cNvPr>
          <p:cNvSpPr/>
          <p:nvPr/>
        </p:nvSpPr>
        <p:spPr>
          <a:xfrm>
            <a:off x="4560570" y="857250"/>
            <a:ext cx="4572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Rectángulo: esquinas redondeadas 7">
            <a:extLst>
              <a:ext uri="{FF2B5EF4-FFF2-40B4-BE49-F238E27FC236}">
                <a16:creationId xmlns:a16="http://schemas.microsoft.com/office/drawing/2014/main" id="{F87B7AC2-F75F-4FE8-A25D-4327B2F6BDA6}"/>
              </a:ext>
            </a:extLst>
          </p:cNvPr>
          <p:cNvSpPr/>
          <p:nvPr/>
        </p:nvSpPr>
        <p:spPr>
          <a:xfrm>
            <a:off x="6532764" y="2027234"/>
            <a:ext cx="762601" cy="2255444"/>
          </a:xfrm>
          <a:prstGeom prst="roundRect">
            <a:avLst>
              <a:gd name="adj" fmla="val 12532"/>
            </a:avLst>
          </a:prstGeom>
          <a:gradFill>
            <a:gsLst>
              <a:gs pos="0">
                <a:srgbClr val="DA9200"/>
              </a:gs>
              <a:gs pos="74000">
                <a:srgbClr val="DA9200"/>
              </a:gs>
              <a:gs pos="100000">
                <a:srgbClr val="DA9200"/>
              </a:gs>
            </a:gsLst>
            <a:lin ang="2700000" scaled="1"/>
          </a:gra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350" dirty="0"/>
          </a:p>
        </p:txBody>
      </p:sp>
      <p:sp>
        <p:nvSpPr>
          <p:cNvPr id="9" name="Rectángulo: esquinas redondeadas 8">
            <a:extLst>
              <a:ext uri="{FF2B5EF4-FFF2-40B4-BE49-F238E27FC236}">
                <a16:creationId xmlns:a16="http://schemas.microsoft.com/office/drawing/2014/main" id="{A93F7BF5-FF31-42AB-995B-6A89600C0C87}"/>
              </a:ext>
            </a:extLst>
          </p:cNvPr>
          <p:cNvSpPr/>
          <p:nvPr/>
        </p:nvSpPr>
        <p:spPr>
          <a:xfrm>
            <a:off x="6058737" y="2566246"/>
            <a:ext cx="762601" cy="1716432"/>
          </a:xfrm>
          <a:prstGeom prst="roundRect">
            <a:avLst>
              <a:gd name="adj" fmla="val 12532"/>
            </a:avLst>
          </a:prstGeom>
          <a:gradFill>
            <a:gsLst>
              <a:gs pos="0">
                <a:srgbClr val="FFC91E"/>
              </a:gs>
              <a:gs pos="74000">
                <a:srgbClr val="FFC91E"/>
              </a:gs>
              <a:gs pos="100000">
                <a:srgbClr val="FFC91E"/>
              </a:gs>
            </a:gsLst>
            <a:lin ang="2700000" scaled="1"/>
          </a:gra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350" dirty="0"/>
          </a:p>
        </p:txBody>
      </p:sp>
      <p:sp>
        <p:nvSpPr>
          <p:cNvPr id="10" name="Rectángulo: esquinas redondeadas 9">
            <a:extLst>
              <a:ext uri="{FF2B5EF4-FFF2-40B4-BE49-F238E27FC236}">
                <a16:creationId xmlns:a16="http://schemas.microsoft.com/office/drawing/2014/main" id="{E126CBA3-970E-44FD-9A3B-434C8658C1B9}"/>
              </a:ext>
            </a:extLst>
          </p:cNvPr>
          <p:cNvSpPr/>
          <p:nvPr/>
        </p:nvSpPr>
        <p:spPr>
          <a:xfrm>
            <a:off x="5584709" y="3154955"/>
            <a:ext cx="762601" cy="1127615"/>
          </a:xfrm>
          <a:prstGeom prst="roundRect">
            <a:avLst>
              <a:gd name="adj" fmla="val 12532"/>
            </a:avLst>
          </a:prstGeom>
          <a:gradFill flip="none" rotWithShape="1">
            <a:gsLst>
              <a:gs pos="0">
                <a:srgbClr val="FFE36D"/>
              </a:gs>
              <a:gs pos="74000">
                <a:srgbClr val="FFE36D"/>
              </a:gs>
              <a:gs pos="100000">
                <a:srgbClr val="FFE36D"/>
              </a:gs>
            </a:gsLst>
            <a:lin ang="2700000" scaled="1"/>
            <a:tileRect/>
          </a:gra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350" dirty="0"/>
          </a:p>
        </p:txBody>
      </p:sp>
      <p:sp>
        <p:nvSpPr>
          <p:cNvPr id="13" name="Rectángulo 12">
            <a:extLst>
              <a:ext uri="{FF2B5EF4-FFF2-40B4-BE49-F238E27FC236}">
                <a16:creationId xmlns:a16="http://schemas.microsoft.com/office/drawing/2014/main" id="{D68056D1-B50C-4C24-B132-E59187FB3FB1}"/>
              </a:ext>
            </a:extLst>
          </p:cNvPr>
          <p:cNvSpPr/>
          <p:nvPr/>
        </p:nvSpPr>
        <p:spPr>
          <a:xfrm>
            <a:off x="4669631" y="4987766"/>
            <a:ext cx="4474369" cy="187827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4" name="Rectángulo 13">
            <a:extLst>
              <a:ext uri="{FF2B5EF4-FFF2-40B4-BE49-F238E27FC236}">
                <a16:creationId xmlns:a16="http://schemas.microsoft.com/office/drawing/2014/main" id="{4F4C694B-DCAF-4E0B-AA4D-9CF1477156CD}"/>
              </a:ext>
            </a:extLst>
          </p:cNvPr>
          <p:cNvSpPr/>
          <p:nvPr/>
        </p:nvSpPr>
        <p:spPr>
          <a:xfrm>
            <a:off x="4669631" y="4369832"/>
            <a:ext cx="4474369" cy="248816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 name="Marcador de texto 4">
            <a:extLst>
              <a:ext uri="{FF2B5EF4-FFF2-40B4-BE49-F238E27FC236}">
                <a16:creationId xmlns:a16="http://schemas.microsoft.com/office/drawing/2014/main" id="{C2C2FA4B-ADBD-473C-B538-1C8D6AAC4BE8}"/>
              </a:ext>
            </a:extLst>
          </p:cNvPr>
          <p:cNvSpPr>
            <a:spLocks noGrp="1"/>
          </p:cNvSpPr>
          <p:nvPr>
            <p:ph type="body" idx="1"/>
          </p:nvPr>
        </p:nvSpPr>
        <p:spPr>
          <a:xfrm>
            <a:off x="4543901" y="4369832"/>
            <a:ext cx="3887391" cy="617934"/>
          </a:xfrm>
        </p:spPr>
        <p:txBody>
          <a:bodyPr/>
          <a:lstStyle/>
          <a:p>
            <a:pPr algn="ctr"/>
            <a:r>
              <a:rPr lang="en-US" sz="3000" b="0" dirty="0">
                <a:latin typeface="Segoe UI" panose="020B0502040204020203" pitchFamily="34" charset="0"/>
                <a:cs typeface="Segoe UI" panose="020B0502040204020203" pitchFamily="34" charset="0"/>
              </a:rPr>
              <a:t>Power BI</a:t>
            </a:r>
            <a:endParaRPr lang="en-US" b="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53425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01960137-9E83-4AF1-A478-86E8A594F0D1}"/>
              </a:ext>
            </a:extLst>
          </p:cNvPr>
          <p:cNvSpPr>
            <a:spLocks noGrp="1"/>
          </p:cNvSpPr>
          <p:nvPr>
            <p:ph type="body" idx="1"/>
          </p:nvPr>
        </p:nvSpPr>
        <p:spPr>
          <a:xfrm>
            <a:off x="629842" y="4289822"/>
            <a:ext cx="3868340" cy="617934"/>
          </a:xfrm>
        </p:spPr>
        <p:txBody>
          <a:bodyPr>
            <a:normAutofit/>
          </a:bodyPr>
          <a:lstStyle/>
          <a:p>
            <a:pPr algn="ctr"/>
            <a:r>
              <a:rPr lang="en-US" sz="1800" dirty="0">
                <a:latin typeface="Segoe UI" panose="020B0502040204020203" pitchFamily="34" charset="0"/>
                <a:cs typeface="Segoe UI" panose="020B0502040204020203" pitchFamily="34" charset="0"/>
              </a:rPr>
              <a:t>Eduardo Gon</a:t>
            </a:r>
            <a:r>
              <a:rPr lang="es-MX" sz="1800" dirty="0" err="1">
                <a:latin typeface="Segoe UI" panose="020B0502040204020203" pitchFamily="34" charset="0"/>
                <a:cs typeface="Segoe UI" panose="020B0502040204020203" pitchFamily="34" charset="0"/>
              </a:rPr>
              <a:t>zález</a:t>
            </a:r>
            <a:r>
              <a:rPr lang="es-MX" sz="1800" dirty="0">
                <a:latin typeface="Segoe UI" panose="020B0502040204020203" pitchFamily="34" charset="0"/>
                <a:cs typeface="Segoe UI" panose="020B0502040204020203" pitchFamily="34" charset="0"/>
              </a:rPr>
              <a:t> Franco</a:t>
            </a:r>
            <a:endParaRPr lang="en-US" sz="1800" dirty="0">
              <a:latin typeface="Segoe UI" panose="020B0502040204020203" pitchFamily="34" charset="0"/>
              <a:cs typeface="Segoe UI" panose="020B0502040204020203" pitchFamily="34" charset="0"/>
            </a:endParaRPr>
          </a:p>
        </p:txBody>
      </p:sp>
      <p:sp>
        <p:nvSpPr>
          <p:cNvPr id="6" name="Marcador de contenido 5">
            <a:extLst>
              <a:ext uri="{FF2B5EF4-FFF2-40B4-BE49-F238E27FC236}">
                <a16:creationId xmlns:a16="http://schemas.microsoft.com/office/drawing/2014/main" id="{BD62CD0C-40A4-4085-A9F7-8C6FB45988EA}"/>
              </a:ext>
            </a:extLst>
          </p:cNvPr>
          <p:cNvSpPr>
            <a:spLocks noGrp="1"/>
          </p:cNvSpPr>
          <p:nvPr>
            <p:ph sz="half" idx="2"/>
          </p:nvPr>
        </p:nvSpPr>
        <p:spPr>
          <a:xfrm>
            <a:off x="4629149" y="1706879"/>
            <a:ext cx="4364725" cy="4846319"/>
          </a:xfrm>
        </p:spPr>
        <p:txBody>
          <a:bodyPr>
            <a:normAutofit fontScale="92500" lnSpcReduction="10000"/>
          </a:bodyPr>
          <a:lstStyle/>
          <a:p>
            <a:r>
              <a:rPr lang="es-MX" dirty="0">
                <a:latin typeface="Segoe UI" panose="020B0502040204020203" pitchFamily="34" charset="0"/>
                <a:cs typeface="Segoe UI" panose="020B0502040204020203" pitchFamily="34" charset="0"/>
              </a:rPr>
              <a:t>5 años de experiencia con data.</a:t>
            </a:r>
          </a:p>
          <a:p>
            <a:r>
              <a:rPr lang="es-MX" dirty="0">
                <a:latin typeface="Segoe UI" panose="020B0502040204020203" pitchFamily="34" charset="0"/>
                <a:cs typeface="Segoe UI" panose="020B0502040204020203" pitchFamily="34" charset="0"/>
              </a:rPr>
              <a:t>Actualmente laborando como data </a:t>
            </a:r>
            <a:r>
              <a:rPr lang="es-MX" dirty="0" err="1">
                <a:latin typeface="Segoe UI" panose="020B0502040204020203" pitchFamily="34" charset="0"/>
                <a:cs typeface="Segoe UI" panose="020B0502040204020203" pitchFamily="34" charset="0"/>
              </a:rPr>
              <a:t>analyst</a:t>
            </a:r>
            <a:r>
              <a:rPr lang="es-MX" dirty="0">
                <a:latin typeface="Segoe UI" panose="020B0502040204020203" pitchFamily="34" charset="0"/>
                <a:cs typeface="Segoe UI" panose="020B0502040204020203" pitchFamily="34" charset="0"/>
              </a:rPr>
              <a:t> </a:t>
            </a:r>
            <a:r>
              <a:rPr lang="es-MX" dirty="0" err="1">
                <a:latin typeface="Segoe UI" panose="020B0502040204020203" pitchFamily="34" charset="0"/>
                <a:cs typeface="Segoe UI" panose="020B0502040204020203" pitchFamily="34" charset="0"/>
              </a:rPr>
              <a:t>engineer</a:t>
            </a:r>
            <a:r>
              <a:rPr lang="es-MX" dirty="0">
                <a:latin typeface="Segoe UI" panose="020B0502040204020203" pitchFamily="34" charset="0"/>
                <a:cs typeface="Segoe UI" panose="020B0502040204020203" pitchFamily="34" charset="0"/>
              </a:rPr>
              <a:t> en </a:t>
            </a:r>
            <a:r>
              <a:rPr lang="es-MX" b="1" dirty="0">
                <a:latin typeface="Segoe UI" panose="020B0502040204020203" pitchFamily="34" charset="0"/>
                <a:cs typeface="Segoe UI" panose="020B0502040204020203" pitchFamily="34" charset="0"/>
              </a:rPr>
              <a:t>Corning </a:t>
            </a:r>
            <a:r>
              <a:rPr lang="es-MX" b="1" dirty="0" err="1">
                <a:latin typeface="Segoe UI" panose="020B0502040204020203" pitchFamily="34" charset="0"/>
                <a:cs typeface="Segoe UI" panose="020B0502040204020203" pitchFamily="34" charset="0"/>
              </a:rPr>
              <a:t>Optical</a:t>
            </a:r>
            <a:r>
              <a:rPr lang="es-MX" b="1" dirty="0">
                <a:latin typeface="Segoe UI" panose="020B0502040204020203" pitchFamily="34" charset="0"/>
                <a:cs typeface="Segoe UI" panose="020B0502040204020203" pitchFamily="34" charset="0"/>
              </a:rPr>
              <a:t> </a:t>
            </a:r>
            <a:r>
              <a:rPr lang="es-MX" b="1" dirty="0" err="1">
                <a:latin typeface="Segoe UI" panose="020B0502040204020203" pitchFamily="34" charset="0"/>
                <a:cs typeface="Segoe UI" panose="020B0502040204020203" pitchFamily="34" charset="0"/>
              </a:rPr>
              <a:t>Communications</a:t>
            </a:r>
            <a:endParaRPr lang="es-MX" b="1" dirty="0">
              <a:latin typeface="Segoe UI" panose="020B0502040204020203" pitchFamily="34" charset="0"/>
              <a:cs typeface="Segoe UI" panose="020B0502040204020203" pitchFamily="34" charset="0"/>
            </a:endParaRPr>
          </a:p>
          <a:p>
            <a:endParaRPr lang="es-MX" dirty="0">
              <a:latin typeface="Segoe UI" panose="020B0502040204020203" pitchFamily="34" charset="0"/>
              <a:cs typeface="Segoe UI" panose="020B0502040204020203" pitchFamily="34" charset="0"/>
            </a:endParaRPr>
          </a:p>
          <a:p>
            <a:r>
              <a:rPr lang="es-MX" sz="1800" dirty="0">
                <a:latin typeface="Segoe UI" panose="020B0502040204020203" pitchFamily="34" charset="0"/>
                <a:cs typeface="Segoe UI" panose="020B0502040204020203" pitchFamily="34" charset="0"/>
              </a:rPr>
              <a:t>Experiencia como:</a:t>
            </a:r>
          </a:p>
          <a:p>
            <a:pPr lvl="1"/>
            <a:r>
              <a:rPr lang="es-MX" sz="1500" dirty="0">
                <a:latin typeface="Segoe UI" panose="020B0502040204020203" pitchFamily="34" charset="0"/>
                <a:cs typeface="Segoe UI" panose="020B0502040204020203" pitchFamily="34" charset="0"/>
              </a:rPr>
              <a:t>Ingeniero de datos</a:t>
            </a:r>
          </a:p>
          <a:p>
            <a:pPr lvl="1"/>
            <a:r>
              <a:rPr lang="es-MX" sz="1500" dirty="0">
                <a:latin typeface="Segoe UI" panose="020B0502040204020203" pitchFamily="34" charset="0"/>
                <a:cs typeface="Segoe UI" panose="020B0502040204020203" pitchFamily="34" charset="0"/>
              </a:rPr>
              <a:t>Analista de datos</a:t>
            </a:r>
          </a:p>
          <a:p>
            <a:pPr lvl="1"/>
            <a:r>
              <a:rPr lang="es-MX" sz="1500" dirty="0">
                <a:latin typeface="Segoe UI" panose="020B0502040204020203" pitchFamily="34" charset="0"/>
                <a:cs typeface="Segoe UI" panose="020B0502040204020203" pitchFamily="34" charset="0"/>
              </a:rPr>
              <a:t>Desarrollador de </a:t>
            </a:r>
            <a:r>
              <a:rPr lang="es-MX" sz="1500" dirty="0" err="1">
                <a:latin typeface="Segoe UI" panose="020B0502040204020203" pitchFamily="34" charset="0"/>
                <a:cs typeface="Segoe UI" panose="020B0502040204020203" pitchFamily="34" charset="0"/>
              </a:rPr>
              <a:t>Power</a:t>
            </a:r>
            <a:r>
              <a:rPr lang="es-MX" sz="1500" dirty="0">
                <a:latin typeface="Segoe UI" panose="020B0502040204020203" pitchFamily="34" charset="0"/>
                <a:cs typeface="Segoe UI" panose="020B0502040204020203" pitchFamily="34" charset="0"/>
              </a:rPr>
              <a:t> BI</a:t>
            </a:r>
          </a:p>
          <a:p>
            <a:pPr lvl="1"/>
            <a:r>
              <a:rPr lang="es-MX" sz="1500" dirty="0" err="1">
                <a:latin typeface="Segoe UI" panose="020B0502040204020203" pitchFamily="34" charset="0"/>
                <a:cs typeface="Segoe UI" panose="020B0502040204020203" pitchFamily="34" charset="0"/>
              </a:rPr>
              <a:t>Databricks</a:t>
            </a:r>
            <a:endParaRPr lang="es-MX" sz="1500" dirty="0">
              <a:latin typeface="Segoe UI" panose="020B0502040204020203" pitchFamily="34" charset="0"/>
              <a:cs typeface="Segoe UI" panose="020B0502040204020203" pitchFamily="34" charset="0"/>
            </a:endParaRPr>
          </a:p>
          <a:p>
            <a:pPr lvl="1"/>
            <a:r>
              <a:rPr lang="es-MX" sz="1500" dirty="0">
                <a:latin typeface="Segoe UI" panose="020B0502040204020203" pitchFamily="34" charset="0"/>
                <a:cs typeface="Segoe UI" panose="020B0502040204020203" pitchFamily="34" charset="0"/>
              </a:rPr>
              <a:t>PowerApps</a:t>
            </a:r>
          </a:p>
          <a:p>
            <a:pPr lvl="1"/>
            <a:r>
              <a:rPr lang="es-MX" sz="1500" dirty="0">
                <a:latin typeface="Segoe UI" panose="020B0502040204020203" pitchFamily="34" charset="0"/>
                <a:cs typeface="Segoe UI" panose="020B0502040204020203" pitchFamily="34" charset="0"/>
              </a:rPr>
              <a:t>Experto en Excel</a:t>
            </a:r>
          </a:p>
          <a:p>
            <a:pPr lvl="1"/>
            <a:r>
              <a:rPr lang="es-MX" sz="1500" dirty="0" err="1">
                <a:latin typeface="Segoe UI" panose="020B0502040204020203" pitchFamily="34" charset="0"/>
                <a:cs typeface="Segoe UI" panose="020B0502040204020203" pitchFamily="34" charset="0"/>
              </a:rPr>
              <a:t>PowerAutomate</a:t>
            </a:r>
            <a:endParaRPr lang="es-MX" sz="1500" dirty="0">
              <a:latin typeface="Segoe UI" panose="020B0502040204020203" pitchFamily="34" charset="0"/>
              <a:cs typeface="Segoe UI" panose="020B0502040204020203" pitchFamily="34" charset="0"/>
            </a:endParaRPr>
          </a:p>
        </p:txBody>
      </p:sp>
      <p:sp>
        <p:nvSpPr>
          <p:cNvPr id="5" name="Marcador de texto 4">
            <a:extLst>
              <a:ext uri="{FF2B5EF4-FFF2-40B4-BE49-F238E27FC236}">
                <a16:creationId xmlns:a16="http://schemas.microsoft.com/office/drawing/2014/main" id="{F05E1FFA-F9B9-4240-9A84-C81F48F4D982}"/>
              </a:ext>
            </a:extLst>
          </p:cNvPr>
          <p:cNvSpPr>
            <a:spLocks noGrp="1"/>
          </p:cNvSpPr>
          <p:nvPr>
            <p:ph type="body" sz="quarter" idx="3"/>
          </p:nvPr>
        </p:nvSpPr>
        <p:spPr>
          <a:xfrm>
            <a:off x="627460" y="4968716"/>
            <a:ext cx="3887391" cy="617934"/>
          </a:xfrm>
        </p:spPr>
        <p:txBody>
          <a:bodyPr>
            <a:normAutofit/>
          </a:bodyPr>
          <a:lstStyle/>
          <a:p>
            <a:pPr algn="ctr"/>
            <a:r>
              <a:rPr lang="en-US" sz="1800" dirty="0">
                <a:latin typeface="Segoe UI" panose="020B0502040204020203" pitchFamily="34" charset="0"/>
                <a:cs typeface="Segoe UI" panose="020B0502040204020203" pitchFamily="34" charset="0"/>
              </a:rPr>
              <a:t>Ing. </a:t>
            </a:r>
            <a:r>
              <a:rPr lang="es-MX" sz="1800" dirty="0">
                <a:latin typeface="Segoe UI" panose="020B0502040204020203" pitchFamily="34" charset="0"/>
                <a:cs typeface="Segoe UI" panose="020B0502040204020203" pitchFamily="34" charset="0"/>
              </a:rPr>
              <a:t>Tecnologías</a:t>
            </a:r>
            <a:r>
              <a:rPr lang="en-US" sz="1800" dirty="0">
                <a:latin typeface="Segoe UI" panose="020B0502040204020203" pitchFamily="34" charset="0"/>
                <a:cs typeface="Segoe UI" panose="020B0502040204020203" pitchFamily="34" charset="0"/>
              </a:rPr>
              <a:t> de la </a:t>
            </a:r>
            <a:r>
              <a:rPr lang="es-MX" sz="1800" dirty="0">
                <a:latin typeface="Segoe UI" panose="020B0502040204020203" pitchFamily="34" charset="0"/>
                <a:cs typeface="Segoe UI" panose="020B0502040204020203" pitchFamily="34" charset="0"/>
              </a:rPr>
              <a:t>información</a:t>
            </a:r>
            <a:r>
              <a:rPr lang="en-US" sz="1800" dirty="0">
                <a:latin typeface="Segoe UI" panose="020B0502040204020203" pitchFamily="34" charset="0"/>
                <a:cs typeface="Segoe UI" panose="020B0502040204020203" pitchFamily="34" charset="0"/>
              </a:rPr>
              <a:t> y las </a:t>
            </a:r>
            <a:r>
              <a:rPr lang="es-MX" sz="1800" dirty="0">
                <a:latin typeface="Segoe UI" panose="020B0502040204020203" pitchFamily="34" charset="0"/>
                <a:cs typeface="Segoe UI" panose="020B0502040204020203" pitchFamily="34" charset="0"/>
              </a:rPr>
              <a:t>comunicaciones</a:t>
            </a:r>
          </a:p>
        </p:txBody>
      </p:sp>
      <p:pic>
        <p:nvPicPr>
          <p:cNvPr id="9" name="Imagen 8">
            <a:extLst>
              <a:ext uri="{FF2B5EF4-FFF2-40B4-BE49-F238E27FC236}">
                <a16:creationId xmlns:a16="http://schemas.microsoft.com/office/drawing/2014/main" id="{90FF8A96-F8FD-4F2C-9EA2-B73B1266B508}"/>
              </a:ext>
            </a:extLst>
          </p:cNvPr>
          <p:cNvPicPr>
            <a:picLocks noChangeAspect="1"/>
          </p:cNvPicPr>
          <p:nvPr/>
        </p:nvPicPr>
        <p:blipFill>
          <a:blip r:embed="rId2"/>
          <a:stretch>
            <a:fillRect/>
          </a:stretch>
        </p:blipFill>
        <p:spPr>
          <a:xfrm>
            <a:off x="-1701198" y="2653457"/>
            <a:ext cx="476316" cy="1476581"/>
          </a:xfrm>
          <a:prstGeom prst="rect">
            <a:avLst/>
          </a:prstGeom>
        </p:spPr>
      </p:pic>
      <p:sp>
        <p:nvSpPr>
          <p:cNvPr id="10" name="Rectángulo 9">
            <a:extLst>
              <a:ext uri="{FF2B5EF4-FFF2-40B4-BE49-F238E27FC236}">
                <a16:creationId xmlns:a16="http://schemas.microsoft.com/office/drawing/2014/main" id="{20E555C9-A363-42A2-90DA-CE7DB27205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23B52A-61F4-4DE7-8EFB-C5F15E1EB695}"/>
              </a:ext>
            </a:extLst>
          </p:cNvPr>
          <p:cNvSpPr>
            <a:spLocks noGrp="1"/>
          </p:cNvSpPr>
          <p:nvPr>
            <p:ph type="title"/>
          </p:nvPr>
        </p:nvSpPr>
        <p:spPr>
          <a:xfrm>
            <a:off x="0" y="60961"/>
            <a:ext cx="9144000" cy="990599"/>
          </a:xfrm>
        </p:spPr>
        <p:txBody>
          <a:bodyPr>
            <a:normAutofit/>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Acerca</a:t>
            </a:r>
            <a:r>
              <a:rPr lang="en-US" sz="4800" dirty="0">
                <a:solidFill>
                  <a:schemeClr val="bg1">
                    <a:lumMod val="95000"/>
                  </a:schemeClr>
                </a:solidFill>
                <a:latin typeface="Segoe UI" panose="020B0502040204020203" pitchFamily="34" charset="0"/>
                <a:cs typeface="Segoe UI" panose="020B0502040204020203" pitchFamily="34" charset="0"/>
              </a:rPr>
              <a:t> de </a:t>
            </a:r>
            <a:r>
              <a:rPr lang="es-MX" sz="4800" dirty="0">
                <a:solidFill>
                  <a:schemeClr val="bg1">
                    <a:lumMod val="95000"/>
                  </a:schemeClr>
                </a:solidFill>
                <a:latin typeface="Segoe UI" panose="020B0502040204020203" pitchFamily="34" charset="0"/>
                <a:cs typeface="Segoe UI" panose="020B0502040204020203" pitchFamily="34" charset="0"/>
              </a:rPr>
              <a:t>mí</a:t>
            </a:r>
          </a:p>
        </p:txBody>
      </p:sp>
      <p:pic>
        <p:nvPicPr>
          <p:cNvPr id="8" name="Picture 7" descr="A person in a suit&#10;&#10;AI-generated content may be incorrect.">
            <a:extLst>
              <a:ext uri="{FF2B5EF4-FFF2-40B4-BE49-F238E27FC236}">
                <a16:creationId xmlns:a16="http://schemas.microsoft.com/office/drawing/2014/main" id="{835EF975-60C8-30A8-D717-9347B901CD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9739" y="1691192"/>
            <a:ext cx="1714500" cy="2286000"/>
          </a:xfrm>
          <a:prstGeom prst="ellipse">
            <a:avLst/>
          </a:prstGeom>
          <a:ln w="31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25576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BD62CD0C-40A4-4085-A9F7-8C6FB45988EA}"/>
              </a:ext>
            </a:extLst>
          </p:cNvPr>
          <p:cNvSpPr>
            <a:spLocks noGrp="1"/>
          </p:cNvSpPr>
          <p:nvPr>
            <p:ph sz="half" idx="2"/>
          </p:nvPr>
        </p:nvSpPr>
        <p:spPr>
          <a:xfrm>
            <a:off x="702860" y="1351129"/>
            <a:ext cx="7738280" cy="4230806"/>
          </a:xfrm>
        </p:spPr>
        <p:txBody>
          <a:bodyPr>
            <a:normAutofit/>
          </a:bodyPr>
          <a:lstStyle/>
          <a:p>
            <a:pPr marL="0" indent="0">
              <a:buNone/>
            </a:pPr>
            <a:r>
              <a:rPr lang="es-ES" sz="2400" dirty="0">
                <a:latin typeface="Segoe UI" panose="020B0502040204020203" pitchFamily="34" charset="0"/>
                <a:cs typeface="Segoe UI" panose="020B0502040204020203" pitchFamily="34" charset="0"/>
              </a:rPr>
              <a:t>Business </a:t>
            </a:r>
            <a:r>
              <a:rPr lang="es-ES" sz="2400" dirty="0" err="1">
                <a:latin typeface="Segoe UI" panose="020B0502040204020203" pitchFamily="34" charset="0"/>
                <a:cs typeface="Segoe UI" panose="020B0502040204020203" pitchFamily="34" charset="0"/>
              </a:rPr>
              <a:t>Intelligence</a:t>
            </a:r>
            <a:r>
              <a:rPr lang="es-ES" sz="2400" dirty="0">
                <a:latin typeface="Segoe UI" panose="020B0502040204020203" pitchFamily="34" charset="0"/>
                <a:cs typeface="Segoe UI" panose="020B0502040204020203" pitchFamily="34" charset="0"/>
              </a:rPr>
              <a:t> (BI) es un tipo de software que se alimenta de datos de negocios y presenta reportes, paneles, tablas y gráficos de forma amigable para el usuario.</a:t>
            </a:r>
          </a:p>
          <a:p>
            <a:pPr marL="0" indent="0">
              <a:buNone/>
            </a:pPr>
            <a:endParaRPr lang="es-ES" sz="2400" dirty="0">
              <a:latin typeface="Segoe UI" panose="020B0502040204020203" pitchFamily="34" charset="0"/>
              <a:cs typeface="Segoe UI" panose="020B0502040204020203" pitchFamily="34" charset="0"/>
            </a:endParaRPr>
          </a:p>
          <a:p>
            <a:pPr marL="0" indent="0">
              <a:buNone/>
            </a:pPr>
            <a:r>
              <a:rPr lang="es-ES" sz="2400" dirty="0">
                <a:latin typeface="Segoe UI" panose="020B0502040204020203" pitchFamily="34" charset="0"/>
                <a:cs typeface="Segoe UI" panose="020B0502040204020203" pitchFamily="34" charset="0"/>
              </a:rPr>
              <a:t>Las herramientas de BI permiten a los usuarios de negocio acceder a diferentes tipos de datos: </a:t>
            </a:r>
            <a:r>
              <a:rPr lang="es-ES" sz="2400" b="1" dirty="0">
                <a:latin typeface="Segoe UI" panose="020B0502040204020203" pitchFamily="34" charset="0"/>
                <a:cs typeface="Segoe UI" panose="020B0502040204020203" pitchFamily="34" charset="0"/>
              </a:rPr>
              <a:t>históricos y actuales</a:t>
            </a:r>
            <a:r>
              <a:rPr lang="es-ES" sz="2400" dirty="0">
                <a:latin typeface="Segoe UI" panose="020B0502040204020203" pitchFamily="34" charset="0"/>
                <a:cs typeface="Segoe UI" panose="020B0502040204020203" pitchFamily="34" charset="0"/>
              </a:rPr>
              <a:t>, de </a:t>
            </a:r>
            <a:r>
              <a:rPr lang="es-ES" sz="2400" b="1" dirty="0">
                <a:latin typeface="Segoe UI" panose="020B0502040204020203" pitchFamily="34" charset="0"/>
                <a:cs typeface="Segoe UI" panose="020B0502040204020203" pitchFamily="34" charset="0"/>
              </a:rPr>
              <a:t>terceros e internos</a:t>
            </a:r>
            <a:r>
              <a:rPr lang="es-ES" sz="2400" dirty="0">
                <a:latin typeface="Segoe UI" panose="020B0502040204020203" pitchFamily="34" charset="0"/>
                <a:cs typeface="Segoe UI" panose="020B0502040204020203" pitchFamily="34" charset="0"/>
              </a:rPr>
              <a:t>, así como datos </a:t>
            </a:r>
            <a:r>
              <a:rPr lang="es-ES" sz="2400" b="1" dirty="0">
                <a:latin typeface="Segoe UI" panose="020B0502040204020203" pitchFamily="34" charset="0"/>
                <a:cs typeface="Segoe UI" panose="020B0502040204020203" pitchFamily="34" charset="0"/>
              </a:rPr>
              <a:t>semiestructurados y datos no estructurados</a:t>
            </a:r>
            <a:r>
              <a:rPr lang="es-ES" sz="2400" dirty="0">
                <a:latin typeface="Segoe UI" panose="020B0502040204020203" pitchFamily="34" charset="0"/>
                <a:cs typeface="Segoe UI" panose="020B0502040204020203" pitchFamily="34" charset="0"/>
              </a:rPr>
              <a:t> como las redes sociales.</a:t>
            </a:r>
            <a:endParaRPr lang="en-US" sz="2400" dirty="0">
              <a:latin typeface="Segoe UI" panose="020B0502040204020203" pitchFamily="34" charset="0"/>
              <a:cs typeface="Segoe UI" panose="020B0502040204020203" pitchFamily="34" charset="0"/>
            </a:endParaRPr>
          </a:p>
        </p:txBody>
      </p:sp>
      <p:pic>
        <p:nvPicPr>
          <p:cNvPr id="9" name="Imagen 8">
            <a:extLst>
              <a:ext uri="{FF2B5EF4-FFF2-40B4-BE49-F238E27FC236}">
                <a16:creationId xmlns:a16="http://schemas.microsoft.com/office/drawing/2014/main" id="{90FF8A96-F8FD-4F2C-9EA2-B73B1266B508}"/>
              </a:ext>
            </a:extLst>
          </p:cNvPr>
          <p:cNvPicPr>
            <a:picLocks noChangeAspect="1"/>
          </p:cNvPicPr>
          <p:nvPr/>
        </p:nvPicPr>
        <p:blipFill>
          <a:blip r:embed="rId2"/>
          <a:stretch>
            <a:fillRect/>
          </a:stretch>
        </p:blipFill>
        <p:spPr>
          <a:xfrm>
            <a:off x="-1701198" y="2653457"/>
            <a:ext cx="476316" cy="1476581"/>
          </a:xfrm>
          <a:prstGeom prst="rect">
            <a:avLst/>
          </a:prstGeom>
        </p:spPr>
      </p:pic>
      <p:sp>
        <p:nvSpPr>
          <p:cNvPr id="10" name="Rectángulo 9">
            <a:extLst>
              <a:ext uri="{FF2B5EF4-FFF2-40B4-BE49-F238E27FC236}">
                <a16:creationId xmlns:a16="http://schemas.microsoft.com/office/drawing/2014/main" id="{20E555C9-A363-42A2-90DA-CE7DB27205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23B52A-61F4-4DE7-8EFB-C5F15E1EB695}"/>
              </a:ext>
            </a:extLst>
          </p:cNvPr>
          <p:cNvSpPr>
            <a:spLocks noGrp="1"/>
          </p:cNvSpPr>
          <p:nvPr>
            <p:ph type="title"/>
          </p:nvPr>
        </p:nvSpPr>
        <p:spPr>
          <a:xfrm>
            <a:off x="0" y="60961"/>
            <a:ext cx="9144000" cy="990599"/>
          </a:xfrm>
        </p:spPr>
        <p:txBody>
          <a:bodyPr>
            <a:normAutofit/>
          </a:bodyPr>
          <a:lstStyle/>
          <a:p>
            <a:pPr algn="ctr"/>
            <a:r>
              <a:rPr lang="en-US" sz="4800" dirty="0" err="1">
                <a:solidFill>
                  <a:schemeClr val="bg1">
                    <a:lumMod val="95000"/>
                  </a:schemeClr>
                </a:solidFill>
                <a:latin typeface="Segoe UI" panose="020B0502040204020203" pitchFamily="34" charset="0"/>
                <a:cs typeface="Segoe UI" panose="020B0502040204020203" pitchFamily="34" charset="0"/>
              </a:rPr>
              <a:t>Inteligencia</a:t>
            </a:r>
            <a:r>
              <a:rPr lang="en-US" sz="4800" dirty="0">
                <a:solidFill>
                  <a:schemeClr val="bg1">
                    <a:lumMod val="95000"/>
                  </a:schemeClr>
                </a:solidFill>
                <a:latin typeface="Segoe UI" panose="020B0502040204020203" pitchFamily="34" charset="0"/>
                <a:cs typeface="Segoe UI" panose="020B0502040204020203" pitchFamily="34" charset="0"/>
              </a:rPr>
              <a:t> de </a:t>
            </a:r>
            <a:r>
              <a:rPr lang="en-US" sz="4800" dirty="0" err="1">
                <a:solidFill>
                  <a:schemeClr val="bg1">
                    <a:lumMod val="95000"/>
                  </a:schemeClr>
                </a:solidFill>
                <a:latin typeface="Segoe UI" panose="020B0502040204020203" pitchFamily="34" charset="0"/>
                <a:cs typeface="Segoe UI" panose="020B0502040204020203" pitchFamily="34" charset="0"/>
              </a:rPr>
              <a:t>Negocios</a:t>
            </a:r>
            <a:endParaRPr lang="es-MX" sz="4800" dirty="0">
              <a:solidFill>
                <a:schemeClr val="bg1">
                  <a:lumMod val="95000"/>
                </a:schemeClr>
              </a:solidFill>
              <a:latin typeface="Segoe UI" panose="020B0502040204020203" pitchFamily="34" charset="0"/>
              <a:cs typeface="Segoe UI" panose="020B0502040204020203" pitchFamily="34" charset="0"/>
            </a:endParaRPr>
          </a:p>
        </p:txBody>
      </p:sp>
      <p:sp>
        <p:nvSpPr>
          <p:cNvPr id="7" name="Marcador de contenido 5">
            <a:extLst>
              <a:ext uri="{FF2B5EF4-FFF2-40B4-BE49-F238E27FC236}">
                <a16:creationId xmlns:a16="http://schemas.microsoft.com/office/drawing/2014/main" id="{291ADB00-7607-433C-9518-7200182810D8}"/>
              </a:ext>
            </a:extLst>
          </p:cNvPr>
          <p:cNvSpPr txBox="1">
            <a:spLocks/>
          </p:cNvSpPr>
          <p:nvPr/>
        </p:nvSpPr>
        <p:spPr>
          <a:xfrm>
            <a:off x="866636" y="6073254"/>
            <a:ext cx="7738280" cy="436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800" i="1" dirty="0">
                <a:latin typeface="Segoe UI" panose="020B0502040204020203" pitchFamily="34" charset="0"/>
                <a:cs typeface="Segoe UI" panose="020B0502040204020203" pitchFamily="34" charset="0"/>
              </a:rPr>
              <a:t>https://www.ibm.com/mx-es/topics/business-intelligence</a:t>
            </a:r>
            <a:endParaRPr lang="en-US" sz="1800"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53960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BD62CD0C-40A4-4085-A9F7-8C6FB45988EA}"/>
              </a:ext>
            </a:extLst>
          </p:cNvPr>
          <p:cNvSpPr>
            <a:spLocks noGrp="1"/>
          </p:cNvSpPr>
          <p:nvPr>
            <p:ph sz="half" idx="2"/>
          </p:nvPr>
        </p:nvSpPr>
        <p:spPr>
          <a:xfrm>
            <a:off x="702860" y="1351129"/>
            <a:ext cx="7738280" cy="4230806"/>
          </a:xfrm>
        </p:spPr>
        <p:txBody>
          <a:bodyPr>
            <a:normAutofit/>
          </a:bodyPr>
          <a:lstStyle/>
          <a:p>
            <a:pPr marL="0" indent="0">
              <a:buNone/>
            </a:pPr>
            <a:r>
              <a:rPr lang="es-ES" sz="2400" dirty="0">
                <a:latin typeface="Segoe UI" panose="020B0502040204020203" pitchFamily="34" charset="0"/>
                <a:cs typeface="Segoe UI" panose="020B0502040204020203" pitchFamily="34" charset="0"/>
              </a:rPr>
              <a:t>Business </a:t>
            </a:r>
            <a:r>
              <a:rPr lang="es-ES" sz="2400" dirty="0" err="1">
                <a:latin typeface="Segoe UI" panose="020B0502040204020203" pitchFamily="34" charset="0"/>
                <a:cs typeface="Segoe UI" panose="020B0502040204020203" pitchFamily="34" charset="0"/>
              </a:rPr>
              <a:t>Intelligence</a:t>
            </a:r>
            <a:r>
              <a:rPr lang="es-ES" sz="2400" dirty="0">
                <a:latin typeface="Segoe UI" panose="020B0502040204020203" pitchFamily="34" charset="0"/>
                <a:cs typeface="Segoe UI" panose="020B0502040204020203" pitchFamily="34" charset="0"/>
              </a:rPr>
              <a:t> (BI) es un tipo de software que se alimenta de datos de negocios y presenta reportes, paneles, tablas y gráficos de forma amigable para el usuario.</a:t>
            </a:r>
          </a:p>
          <a:p>
            <a:pPr marL="0" indent="0">
              <a:buNone/>
            </a:pPr>
            <a:endParaRPr lang="es-ES" sz="2400" dirty="0">
              <a:latin typeface="Segoe UI" panose="020B0502040204020203" pitchFamily="34" charset="0"/>
              <a:cs typeface="Segoe UI" panose="020B0502040204020203" pitchFamily="34" charset="0"/>
            </a:endParaRPr>
          </a:p>
          <a:p>
            <a:pPr marL="0" indent="0">
              <a:buNone/>
            </a:pPr>
            <a:r>
              <a:rPr lang="es-ES" sz="2400" dirty="0">
                <a:latin typeface="Segoe UI" panose="020B0502040204020203" pitchFamily="34" charset="0"/>
                <a:cs typeface="Segoe UI" panose="020B0502040204020203" pitchFamily="34" charset="0"/>
              </a:rPr>
              <a:t>Las herramientas de BI permiten a los usuarios de negocio acceder a diferentes tipos de datos: </a:t>
            </a:r>
            <a:r>
              <a:rPr lang="es-ES" sz="2400" b="1" dirty="0">
                <a:latin typeface="Segoe UI" panose="020B0502040204020203" pitchFamily="34" charset="0"/>
                <a:cs typeface="Segoe UI" panose="020B0502040204020203" pitchFamily="34" charset="0"/>
              </a:rPr>
              <a:t>históricos y actuales</a:t>
            </a:r>
            <a:r>
              <a:rPr lang="es-ES" sz="2400" dirty="0">
                <a:latin typeface="Segoe UI" panose="020B0502040204020203" pitchFamily="34" charset="0"/>
                <a:cs typeface="Segoe UI" panose="020B0502040204020203" pitchFamily="34" charset="0"/>
              </a:rPr>
              <a:t>, de </a:t>
            </a:r>
            <a:r>
              <a:rPr lang="es-ES" sz="2400" b="1" dirty="0">
                <a:latin typeface="Segoe UI" panose="020B0502040204020203" pitchFamily="34" charset="0"/>
                <a:cs typeface="Segoe UI" panose="020B0502040204020203" pitchFamily="34" charset="0"/>
              </a:rPr>
              <a:t>terceros e internos</a:t>
            </a:r>
            <a:r>
              <a:rPr lang="es-ES" sz="2400" dirty="0">
                <a:latin typeface="Segoe UI" panose="020B0502040204020203" pitchFamily="34" charset="0"/>
                <a:cs typeface="Segoe UI" panose="020B0502040204020203" pitchFamily="34" charset="0"/>
              </a:rPr>
              <a:t>, así como datos </a:t>
            </a:r>
            <a:r>
              <a:rPr lang="es-ES" sz="2400" b="1" dirty="0">
                <a:latin typeface="Segoe UI" panose="020B0502040204020203" pitchFamily="34" charset="0"/>
                <a:cs typeface="Segoe UI" panose="020B0502040204020203" pitchFamily="34" charset="0"/>
              </a:rPr>
              <a:t>semiestructurados y datos no estructurados</a:t>
            </a:r>
            <a:r>
              <a:rPr lang="es-ES" sz="2400" dirty="0">
                <a:latin typeface="Segoe UI" panose="020B0502040204020203" pitchFamily="34" charset="0"/>
                <a:cs typeface="Segoe UI" panose="020B0502040204020203" pitchFamily="34" charset="0"/>
              </a:rPr>
              <a:t> como las redes sociales.</a:t>
            </a:r>
            <a:endParaRPr lang="en-US" sz="2400" dirty="0">
              <a:latin typeface="Segoe UI" panose="020B0502040204020203" pitchFamily="34" charset="0"/>
              <a:cs typeface="Segoe UI" panose="020B0502040204020203" pitchFamily="34" charset="0"/>
            </a:endParaRPr>
          </a:p>
        </p:txBody>
      </p:sp>
      <p:pic>
        <p:nvPicPr>
          <p:cNvPr id="9" name="Imagen 8">
            <a:extLst>
              <a:ext uri="{FF2B5EF4-FFF2-40B4-BE49-F238E27FC236}">
                <a16:creationId xmlns:a16="http://schemas.microsoft.com/office/drawing/2014/main" id="{90FF8A96-F8FD-4F2C-9EA2-B73B1266B508}"/>
              </a:ext>
            </a:extLst>
          </p:cNvPr>
          <p:cNvPicPr>
            <a:picLocks noChangeAspect="1"/>
          </p:cNvPicPr>
          <p:nvPr/>
        </p:nvPicPr>
        <p:blipFill>
          <a:blip r:embed="rId2"/>
          <a:stretch>
            <a:fillRect/>
          </a:stretch>
        </p:blipFill>
        <p:spPr>
          <a:xfrm>
            <a:off x="-1701198" y="2653457"/>
            <a:ext cx="476316" cy="1476581"/>
          </a:xfrm>
          <a:prstGeom prst="rect">
            <a:avLst/>
          </a:prstGeom>
        </p:spPr>
      </p:pic>
      <p:sp>
        <p:nvSpPr>
          <p:cNvPr id="10" name="Rectángulo 9">
            <a:extLst>
              <a:ext uri="{FF2B5EF4-FFF2-40B4-BE49-F238E27FC236}">
                <a16:creationId xmlns:a16="http://schemas.microsoft.com/office/drawing/2014/main" id="{20E555C9-A363-42A2-90DA-CE7DB27205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23B52A-61F4-4DE7-8EFB-C5F15E1EB695}"/>
              </a:ext>
            </a:extLst>
          </p:cNvPr>
          <p:cNvSpPr>
            <a:spLocks noGrp="1"/>
          </p:cNvSpPr>
          <p:nvPr>
            <p:ph type="title"/>
          </p:nvPr>
        </p:nvSpPr>
        <p:spPr>
          <a:xfrm>
            <a:off x="0" y="60961"/>
            <a:ext cx="9144000" cy="990599"/>
          </a:xfrm>
        </p:spPr>
        <p:txBody>
          <a:bodyPr>
            <a:normAutofit/>
          </a:bodyPr>
          <a:lstStyle/>
          <a:p>
            <a:pPr algn="ctr"/>
            <a:r>
              <a:rPr lang="en-US" sz="4800" dirty="0" err="1">
                <a:solidFill>
                  <a:schemeClr val="bg1">
                    <a:lumMod val="95000"/>
                  </a:schemeClr>
                </a:solidFill>
                <a:latin typeface="Segoe UI" panose="020B0502040204020203" pitchFamily="34" charset="0"/>
                <a:cs typeface="Segoe UI" panose="020B0502040204020203" pitchFamily="34" charset="0"/>
              </a:rPr>
              <a:t>Inteligencia</a:t>
            </a:r>
            <a:r>
              <a:rPr lang="en-US" sz="4800" dirty="0">
                <a:solidFill>
                  <a:schemeClr val="bg1">
                    <a:lumMod val="95000"/>
                  </a:schemeClr>
                </a:solidFill>
                <a:latin typeface="Segoe UI" panose="020B0502040204020203" pitchFamily="34" charset="0"/>
                <a:cs typeface="Segoe UI" panose="020B0502040204020203" pitchFamily="34" charset="0"/>
              </a:rPr>
              <a:t> de </a:t>
            </a:r>
            <a:r>
              <a:rPr lang="en-US" sz="4800" dirty="0" err="1">
                <a:solidFill>
                  <a:schemeClr val="bg1">
                    <a:lumMod val="95000"/>
                  </a:schemeClr>
                </a:solidFill>
                <a:latin typeface="Segoe UI" panose="020B0502040204020203" pitchFamily="34" charset="0"/>
                <a:cs typeface="Segoe UI" panose="020B0502040204020203" pitchFamily="34" charset="0"/>
              </a:rPr>
              <a:t>Negocios</a:t>
            </a:r>
            <a:endParaRPr lang="es-MX" sz="4800" dirty="0">
              <a:solidFill>
                <a:schemeClr val="bg1">
                  <a:lumMod val="95000"/>
                </a:schemeClr>
              </a:solidFill>
              <a:latin typeface="Segoe UI" panose="020B0502040204020203" pitchFamily="34" charset="0"/>
              <a:cs typeface="Segoe UI" panose="020B0502040204020203" pitchFamily="34" charset="0"/>
            </a:endParaRPr>
          </a:p>
        </p:txBody>
      </p:sp>
      <p:sp>
        <p:nvSpPr>
          <p:cNvPr id="7" name="Marcador de contenido 5">
            <a:extLst>
              <a:ext uri="{FF2B5EF4-FFF2-40B4-BE49-F238E27FC236}">
                <a16:creationId xmlns:a16="http://schemas.microsoft.com/office/drawing/2014/main" id="{291ADB00-7607-433C-9518-7200182810D8}"/>
              </a:ext>
            </a:extLst>
          </p:cNvPr>
          <p:cNvSpPr txBox="1">
            <a:spLocks/>
          </p:cNvSpPr>
          <p:nvPr/>
        </p:nvSpPr>
        <p:spPr>
          <a:xfrm>
            <a:off x="866636" y="6073254"/>
            <a:ext cx="7738280" cy="436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800" i="1" dirty="0">
                <a:latin typeface="Segoe UI" panose="020B0502040204020203" pitchFamily="34" charset="0"/>
                <a:cs typeface="Segoe UI" panose="020B0502040204020203" pitchFamily="34" charset="0"/>
              </a:rPr>
              <a:t>https://www.ibm.com/mx-es/topics/business-intelligence</a:t>
            </a:r>
            <a:endParaRPr lang="en-US" sz="1800"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34784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BD62CD0C-40A4-4085-A9F7-8C6FB45988EA}"/>
              </a:ext>
            </a:extLst>
          </p:cNvPr>
          <p:cNvSpPr>
            <a:spLocks noGrp="1"/>
          </p:cNvSpPr>
          <p:nvPr>
            <p:ph sz="half" idx="2"/>
          </p:nvPr>
        </p:nvSpPr>
        <p:spPr>
          <a:xfrm>
            <a:off x="702860" y="1351129"/>
            <a:ext cx="7738280" cy="4230806"/>
          </a:xfrm>
        </p:spPr>
        <p:txBody>
          <a:bodyPr>
            <a:normAutofit/>
          </a:bodyPr>
          <a:lstStyle/>
          <a:p>
            <a:pPr marL="0" indent="0">
              <a:buNone/>
            </a:pPr>
            <a:r>
              <a:rPr lang="es-ES" sz="2400" dirty="0">
                <a:latin typeface="Segoe UI" panose="020B0502040204020203" pitchFamily="34" charset="0"/>
                <a:cs typeface="Segoe UI" panose="020B0502040204020203" pitchFamily="34" charset="0"/>
              </a:rPr>
              <a:t>La BI brinda a las organizaciones la capacidad de hacer preguntas en un lenguaje sencillo y obtener respuestas que puedan comprender.</a:t>
            </a:r>
          </a:p>
          <a:p>
            <a:pPr marL="0" indent="0">
              <a:buNone/>
            </a:pPr>
            <a:endParaRPr lang="es-ES" sz="2400" dirty="0">
              <a:latin typeface="Segoe UI" panose="020B0502040204020203" pitchFamily="34" charset="0"/>
              <a:cs typeface="Segoe UI" panose="020B0502040204020203" pitchFamily="34" charset="0"/>
            </a:endParaRPr>
          </a:p>
          <a:p>
            <a:pPr marL="0" indent="0">
              <a:buNone/>
            </a:pPr>
            <a:r>
              <a:rPr lang="es-ES" sz="2400" dirty="0">
                <a:latin typeface="Segoe UI" panose="020B0502040204020203" pitchFamily="34" charset="0"/>
                <a:cs typeface="Segoe UI" panose="020B0502040204020203" pitchFamily="34" charset="0"/>
              </a:rPr>
              <a:t>En lugar de utilizar conjeturas, las empresas podrían basar sus decisiones en lo que les dicen sus datos comerciales, ya sea que se relacionen con la producción, la cadena de suministro, los clientes o las tendencias del mercado.</a:t>
            </a:r>
            <a:endParaRPr lang="en-US" sz="2400" dirty="0">
              <a:latin typeface="Segoe UI" panose="020B0502040204020203" pitchFamily="34" charset="0"/>
              <a:cs typeface="Segoe UI" panose="020B0502040204020203" pitchFamily="34" charset="0"/>
            </a:endParaRPr>
          </a:p>
        </p:txBody>
      </p:sp>
      <p:pic>
        <p:nvPicPr>
          <p:cNvPr id="9" name="Imagen 8">
            <a:extLst>
              <a:ext uri="{FF2B5EF4-FFF2-40B4-BE49-F238E27FC236}">
                <a16:creationId xmlns:a16="http://schemas.microsoft.com/office/drawing/2014/main" id="{90FF8A96-F8FD-4F2C-9EA2-B73B1266B508}"/>
              </a:ext>
            </a:extLst>
          </p:cNvPr>
          <p:cNvPicPr>
            <a:picLocks noChangeAspect="1"/>
          </p:cNvPicPr>
          <p:nvPr/>
        </p:nvPicPr>
        <p:blipFill>
          <a:blip r:embed="rId2"/>
          <a:stretch>
            <a:fillRect/>
          </a:stretch>
        </p:blipFill>
        <p:spPr>
          <a:xfrm>
            <a:off x="-1701198" y="2690709"/>
            <a:ext cx="476316" cy="1476581"/>
          </a:xfrm>
          <a:prstGeom prst="rect">
            <a:avLst/>
          </a:prstGeom>
        </p:spPr>
      </p:pic>
      <p:sp>
        <p:nvSpPr>
          <p:cNvPr id="10" name="Rectángulo 9">
            <a:extLst>
              <a:ext uri="{FF2B5EF4-FFF2-40B4-BE49-F238E27FC236}">
                <a16:creationId xmlns:a16="http://schemas.microsoft.com/office/drawing/2014/main" id="{20E555C9-A363-42A2-90DA-CE7DB27205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23B52A-61F4-4DE7-8EFB-C5F15E1EB695}"/>
              </a:ext>
            </a:extLst>
          </p:cNvPr>
          <p:cNvSpPr>
            <a:spLocks noGrp="1"/>
          </p:cNvSpPr>
          <p:nvPr>
            <p:ph type="title"/>
          </p:nvPr>
        </p:nvSpPr>
        <p:spPr>
          <a:xfrm>
            <a:off x="0" y="60961"/>
            <a:ext cx="9144000" cy="990599"/>
          </a:xfrm>
        </p:spPr>
        <p:txBody>
          <a:bodyPr>
            <a:normAutofit/>
          </a:bodyPr>
          <a:lstStyle/>
          <a:p>
            <a:pPr algn="ctr"/>
            <a:r>
              <a:rPr lang="en-US" sz="4800" dirty="0" err="1">
                <a:solidFill>
                  <a:schemeClr val="bg1">
                    <a:lumMod val="95000"/>
                  </a:schemeClr>
                </a:solidFill>
                <a:latin typeface="Segoe UI" panose="020B0502040204020203" pitchFamily="34" charset="0"/>
                <a:cs typeface="Segoe UI" panose="020B0502040204020203" pitchFamily="34" charset="0"/>
              </a:rPr>
              <a:t>Inteligencia</a:t>
            </a:r>
            <a:r>
              <a:rPr lang="en-US" sz="4800" dirty="0">
                <a:solidFill>
                  <a:schemeClr val="bg1">
                    <a:lumMod val="95000"/>
                  </a:schemeClr>
                </a:solidFill>
                <a:latin typeface="Segoe UI" panose="020B0502040204020203" pitchFamily="34" charset="0"/>
                <a:cs typeface="Segoe UI" panose="020B0502040204020203" pitchFamily="34" charset="0"/>
              </a:rPr>
              <a:t> de </a:t>
            </a:r>
            <a:r>
              <a:rPr lang="en-US" sz="4800" dirty="0" err="1">
                <a:solidFill>
                  <a:schemeClr val="bg1">
                    <a:lumMod val="95000"/>
                  </a:schemeClr>
                </a:solidFill>
                <a:latin typeface="Segoe UI" panose="020B0502040204020203" pitchFamily="34" charset="0"/>
                <a:cs typeface="Segoe UI" panose="020B0502040204020203" pitchFamily="34" charset="0"/>
              </a:rPr>
              <a:t>Negocios</a:t>
            </a:r>
            <a:endParaRPr lang="es-MX" sz="4800" dirty="0">
              <a:solidFill>
                <a:schemeClr val="bg1">
                  <a:lumMod val="95000"/>
                </a:schemeClr>
              </a:solidFill>
              <a:latin typeface="Segoe UI" panose="020B0502040204020203" pitchFamily="34" charset="0"/>
              <a:cs typeface="Segoe UI" panose="020B0502040204020203" pitchFamily="34" charset="0"/>
            </a:endParaRPr>
          </a:p>
        </p:txBody>
      </p:sp>
      <p:sp>
        <p:nvSpPr>
          <p:cNvPr id="7" name="Marcador de contenido 5">
            <a:extLst>
              <a:ext uri="{FF2B5EF4-FFF2-40B4-BE49-F238E27FC236}">
                <a16:creationId xmlns:a16="http://schemas.microsoft.com/office/drawing/2014/main" id="{291ADB00-7607-433C-9518-7200182810D8}"/>
              </a:ext>
            </a:extLst>
          </p:cNvPr>
          <p:cNvSpPr txBox="1">
            <a:spLocks/>
          </p:cNvSpPr>
          <p:nvPr/>
        </p:nvSpPr>
        <p:spPr>
          <a:xfrm>
            <a:off x="866636" y="6073254"/>
            <a:ext cx="7738280" cy="436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800" i="1" dirty="0">
                <a:latin typeface="Segoe UI" panose="020B0502040204020203" pitchFamily="34" charset="0"/>
                <a:cs typeface="Segoe UI" panose="020B0502040204020203" pitchFamily="34" charset="0"/>
              </a:rPr>
              <a:t>https://www.ibm.com/mx-es/topics/business-intelligence</a:t>
            </a:r>
            <a:endParaRPr lang="en-US" sz="1800"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94784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20E555C9-A363-42A2-90DA-CE7DB27205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23B52A-61F4-4DE7-8EFB-C5F15E1EB695}"/>
              </a:ext>
            </a:extLst>
          </p:cNvPr>
          <p:cNvSpPr>
            <a:spLocks noGrp="1"/>
          </p:cNvSpPr>
          <p:nvPr>
            <p:ph type="title"/>
          </p:nvPr>
        </p:nvSpPr>
        <p:spPr>
          <a:xfrm>
            <a:off x="0" y="60961"/>
            <a:ext cx="9144000" cy="990599"/>
          </a:xfrm>
        </p:spPr>
        <p:txBody>
          <a:bodyPr>
            <a:normAutofit/>
          </a:bodyPr>
          <a:lstStyle/>
          <a:p>
            <a:pPr algn="ctr"/>
            <a:r>
              <a:rPr lang="en-US" sz="4800" dirty="0" err="1">
                <a:solidFill>
                  <a:schemeClr val="bg1">
                    <a:lumMod val="95000"/>
                  </a:schemeClr>
                </a:solidFill>
                <a:latin typeface="Segoe UI" panose="020B0502040204020203" pitchFamily="34" charset="0"/>
                <a:cs typeface="Segoe UI" panose="020B0502040204020203" pitchFamily="34" charset="0"/>
              </a:rPr>
              <a:t>Inteligencia</a:t>
            </a:r>
            <a:r>
              <a:rPr lang="en-US" sz="4800" dirty="0">
                <a:solidFill>
                  <a:schemeClr val="bg1">
                    <a:lumMod val="95000"/>
                  </a:schemeClr>
                </a:solidFill>
                <a:latin typeface="Segoe UI" panose="020B0502040204020203" pitchFamily="34" charset="0"/>
                <a:cs typeface="Segoe UI" panose="020B0502040204020203" pitchFamily="34" charset="0"/>
              </a:rPr>
              <a:t> de </a:t>
            </a:r>
            <a:r>
              <a:rPr lang="en-US" sz="4800" dirty="0" err="1">
                <a:solidFill>
                  <a:schemeClr val="bg1">
                    <a:lumMod val="95000"/>
                  </a:schemeClr>
                </a:solidFill>
                <a:latin typeface="Segoe UI" panose="020B0502040204020203" pitchFamily="34" charset="0"/>
                <a:cs typeface="Segoe UI" panose="020B0502040204020203" pitchFamily="34" charset="0"/>
              </a:rPr>
              <a:t>Negocios</a:t>
            </a:r>
            <a:endParaRPr lang="es-MX" sz="4800" dirty="0">
              <a:solidFill>
                <a:schemeClr val="bg1">
                  <a:lumMod val="95000"/>
                </a:schemeClr>
              </a:solidFill>
              <a:latin typeface="Segoe UI" panose="020B0502040204020203" pitchFamily="34" charset="0"/>
              <a:cs typeface="Segoe UI" panose="020B0502040204020203" pitchFamily="34" charset="0"/>
            </a:endParaRPr>
          </a:p>
        </p:txBody>
      </p:sp>
      <p:pic>
        <p:nvPicPr>
          <p:cNvPr id="9218" name="Picture 2" descr="business intelligence">
            <a:extLst>
              <a:ext uri="{FF2B5EF4-FFF2-40B4-BE49-F238E27FC236}">
                <a16:creationId xmlns:a16="http://schemas.microsoft.com/office/drawing/2014/main" id="{B5E22B95-A0E9-45AE-B7A6-855B5FAC05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38" b="6903"/>
          <a:stretch/>
        </p:blipFill>
        <p:spPr bwMode="auto">
          <a:xfrm>
            <a:off x="0" y="1067939"/>
            <a:ext cx="9144000" cy="4885898"/>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E2999CD3-4A8E-4C3A-8D4C-92F9D1CB8FE2}"/>
              </a:ext>
            </a:extLst>
          </p:cNvPr>
          <p:cNvSpPr/>
          <p:nvPr/>
        </p:nvSpPr>
        <p:spPr>
          <a:xfrm>
            <a:off x="0" y="5953837"/>
            <a:ext cx="9144000" cy="904163"/>
          </a:xfrm>
          <a:prstGeom prst="rect">
            <a:avLst/>
          </a:prstGeom>
          <a:solidFill>
            <a:srgbClr val="E7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arcador de contenido 5">
            <a:extLst>
              <a:ext uri="{FF2B5EF4-FFF2-40B4-BE49-F238E27FC236}">
                <a16:creationId xmlns:a16="http://schemas.microsoft.com/office/drawing/2014/main" id="{291ADB00-7607-433C-9518-7200182810D8}"/>
              </a:ext>
            </a:extLst>
          </p:cNvPr>
          <p:cNvSpPr txBox="1">
            <a:spLocks/>
          </p:cNvSpPr>
          <p:nvPr/>
        </p:nvSpPr>
        <p:spPr>
          <a:xfrm>
            <a:off x="1357960" y="6357476"/>
            <a:ext cx="7738280" cy="43672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800" i="1" dirty="0">
                <a:latin typeface="Segoe UI" panose="020B0502040204020203" pitchFamily="34" charset="0"/>
                <a:cs typeface="Segoe UI" panose="020B0502040204020203" pitchFamily="34" charset="0"/>
              </a:rPr>
              <a:t>https://blog.interius.com.mx/business-intelligence-el-futuro-para-la-toma-de-decisiones</a:t>
            </a:r>
            <a:endParaRPr lang="en-US" sz="1800"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45685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n-US" sz="4800" dirty="0">
                <a:solidFill>
                  <a:schemeClr val="bg1">
                    <a:lumMod val="95000"/>
                  </a:schemeClr>
                </a:solidFill>
                <a:latin typeface="Segoe UI" panose="020B0502040204020203" pitchFamily="34" charset="0"/>
                <a:cs typeface="Segoe UI" panose="020B0502040204020203" pitchFamily="34" charset="0"/>
              </a:rPr>
              <a:t>Que es Power BI?</a:t>
            </a:r>
            <a:endParaRPr lang="es-MX" sz="4800" dirty="0">
              <a:solidFill>
                <a:schemeClr val="bg1">
                  <a:lumMod val="95000"/>
                </a:schemeClr>
              </a:solidFill>
              <a:latin typeface="Segoe UI" panose="020B0502040204020203" pitchFamily="34" charset="0"/>
              <a:cs typeface="Segoe UI" panose="020B0502040204020203" pitchFamily="34" charset="0"/>
            </a:endParaRPr>
          </a:p>
        </p:txBody>
      </p:sp>
      <p:sp>
        <p:nvSpPr>
          <p:cNvPr id="10" name="Marcador de contenido 5">
            <a:extLst>
              <a:ext uri="{FF2B5EF4-FFF2-40B4-BE49-F238E27FC236}">
                <a16:creationId xmlns:a16="http://schemas.microsoft.com/office/drawing/2014/main" id="{719EA399-412B-4008-916F-77D207BA07D6}"/>
              </a:ext>
            </a:extLst>
          </p:cNvPr>
          <p:cNvSpPr>
            <a:spLocks noGrp="1"/>
          </p:cNvSpPr>
          <p:nvPr>
            <p:ph sz="half" idx="2"/>
          </p:nvPr>
        </p:nvSpPr>
        <p:spPr>
          <a:xfrm>
            <a:off x="702860" y="1637731"/>
            <a:ext cx="7738280" cy="4544704"/>
          </a:xfrm>
        </p:spPr>
        <p:txBody>
          <a:bodyPr>
            <a:normAutofit/>
          </a:bodyPr>
          <a:lstStyle/>
          <a:p>
            <a:pPr marL="0" indent="0">
              <a:buNone/>
            </a:pPr>
            <a:r>
              <a:rPr lang="es-ES" sz="2400" dirty="0">
                <a:latin typeface="Segoe UI" panose="020B0502040204020203" pitchFamily="34" charset="0"/>
                <a:cs typeface="Segoe UI" panose="020B0502040204020203" pitchFamily="34" charset="0"/>
              </a:rPr>
              <a:t>PBI participa en la </a:t>
            </a:r>
            <a:r>
              <a:rPr lang="es-ES" sz="2400" b="1" dirty="0">
                <a:latin typeface="Segoe UI" panose="020B0502040204020203" pitchFamily="34" charset="0"/>
                <a:cs typeface="Segoe UI" panose="020B0502040204020203" pitchFamily="34" charset="0"/>
              </a:rPr>
              <a:t>explotación de datos </a:t>
            </a:r>
            <a:r>
              <a:rPr lang="es-ES" sz="2400" dirty="0">
                <a:latin typeface="Segoe UI" panose="020B0502040204020203" pitchFamily="34" charset="0"/>
                <a:cs typeface="Segoe UI" panose="020B0502040204020203" pitchFamily="34" charset="0"/>
              </a:rPr>
              <a:t>en tiempo real a partir de </a:t>
            </a:r>
            <a:r>
              <a:rPr lang="es-ES" sz="2400" b="1" dirty="0">
                <a:latin typeface="Segoe UI" panose="020B0502040204020203" pitchFamily="34" charset="0"/>
                <a:cs typeface="Segoe UI" panose="020B0502040204020203" pitchFamily="34" charset="0"/>
              </a:rPr>
              <a:t>diferentes fuentes </a:t>
            </a:r>
            <a:r>
              <a:rPr lang="es-ES" sz="2400" dirty="0">
                <a:latin typeface="Segoe UI" panose="020B0502040204020203" pitchFamily="34" charset="0"/>
                <a:cs typeface="Segoe UI" panose="020B0502040204020203" pitchFamily="34" charset="0"/>
              </a:rPr>
              <a:t>y en la </a:t>
            </a:r>
            <a:r>
              <a:rPr lang="es-ES" sz="2400" b="1" dirty="0">
                <a:latin typeface="Segoe UI" panose="020B0502040204020203" pitchFamily="34" charset="0"/>
                <a:cs typeface="Segoe UI" panose="020B0502040204020203" pitchFamily="34" charset="0"/>
              </a:rPr>
              <a:t>creación de informes y paneles.</a:t>
            </a:r>
          </a:p>
          <a:p>
            <a:pPr marL="0" indent="0">
              <a:buNone/>
            </a:pPr>
            <a:r>
              <a:rPr lang="es-ES" sz="2400" dirty="0">
                <a:latin typeface="Segoe UI" panose="020B0502040204020203" pitchFamily="34" charset="0"/>
                <a:cs typeface="Segoe UI" panose="020B0502040204020203" pitchFamily="34" charset="0"/>
              </a:rPr>
              <a:t>Con el fin de ofrecer posteriormente de una manera simple, visual e intuitiva los resultados de todos aquellos elementos que nos interese </a:t>
            </a:r>
            <a:r>
              <a:rPr lang="es-ES" sz="2400" b="1" dirty="0">
                <a:latin typeface="Segoe UI" panose="020B0502040204020203" pitchFamily="34" charset="0"/>
                <a:cs typeface="Segoe UI" panose="020B0502040204020203" pitchFamily="34" charset="0"/>
              </a:rPr>
              <a:t>analizar</a:t>
            </a:r>
            <a:r>
              <a:rPr lang="es-ES" sz="2400" dirty="0">
                <a:latin typeface="Segoe UI" panose="020B0502040204020203" pitchFamily="34" charset="0"/>
                <a:cs typeface="Segoe UI" panose="020B0502040204020203" pitchFamily="34" charset="0"/>
              </a:rPr>
              <a:t> y </a:t>
            </a:r>
            <a:r>
              <a:rPr lang="es-ES" sz="2400" b="1" dirty="0">
                <a:latin typeface="Segoe UI" panose="020B0502040204020203" pitchFamily="34" charset="0"/>
                <a:cs typeface="Segoe UI" panose="020B0502040204020203" pitchFamily="34" charset="0"/>
              </a:rPr>
              <a:t>compartir</a:t>
            </a:r>
            <a:r>
              <a:rPr lang="es-ES" sz="2400" dirty="0">
                <a:latin typeface="Segoe UI" panose="020B0502040204020203" pitchFamily="34" charset="0"/>
                <a:cs typeface="Segoe UI" panose="020B0502040204020203" pitchFamily="34" charset="0"/>
              </a:rPr>
              <a:t> entre varios profesionales de una misma empresa: </a:t>
            </a:r>
          </a:p>
          <a:p>
            <a:pPr marL="0" indent="0">
              <a:buNone/>
            </a:pPr>
            <a:r>
              <a:rPr lang="es-ES" sz="2400" dirty="0">
                <a:latin typeface="Segoe UI" panose="020B0502040204020203" pitchFamily="34" charset="0"/>
                <a:cs typeface="Segoe UI" panose="020B0502040204020203" pitchFamily="34" charset="0"/>
              </a:rPr>
              <a:t>desde </a:t>
            </a:r>
            <a:r>
              <a:rPr lang="es-ES" sz="2400" b="1" dirty="0">
                <a:latin typeface="Segoe UI" panose="020B0502040204020203" pitchFamily="34" charset="0"/>
                <a:cs typeface="Segoe UI" panose="020B0502040204020203" pitchFamily="34" charset="0"/>
              </a:rPr>
              <a:t>directores generales </a:t>
            </a:r>
            <a:r>
              <a:rPr lang="es-ES" sz="2400" dirty="0">
                <a:latin typeface="Segoe UI" panose="020B0502040204020203" pitchFamily="34" charset="0"/>
                <a:cs typeface="Segoe UI" panose="020B0502040204020203" pitchFamily="34" charset="0"/>
              </a:rPr>
              <a:t>y </a:t>
            </a:r>
            <a:r>
              <a:rPr lang="es-ES" sz="2400" b="1" dirty="0">
                <a:latin typeface="Segoe UI" panose="020B0502040204020203" pitchFamily="34" charset="0"/>
                <a:cs typeface="Segoe UI" panose="020B0502040204020203" pitchFamily="34" charset="0"/>
              </a:rPr>
              <a:t>ejecutivos</a:t>
            </a:r>
            <a:r>
              <a:rPr lang="es-ES" sz="2400" dirty="0">
                <a:latin typeface="Segoe UI" panose="020B0502040204020203" pitchFamily="34" charset="0"/>
                <a:cs typeface="Segoe UI" panose="020B0502040204020203" pitchFamily="34" charset="0"/>
              </a:rPr>
              <a:t> hasta expertos en </a:t>
            </a:r>
            <a:r>
              <a:rPr lang="es-ES" sz="2400" b="1" dirty="0">
                <a:latin typeface="Segoe UI" panose="020B0502040204020203" pitchFamily="34" charset="0"/>
                <a:cs typeface="Segoe UI" panose="020B0502040204020203" pitchFamily="34" charset="0"/>
              </a:rPr>
              <a:t>marketing</a:t>
            </a:r>
            <a:r>
              <a:rPr lang="es-ES" sz="2400" dirty="0">
                <a:latin typeface="Segoe UI" panose="020B0502040204020203" pitchFamily="34" charset="0"/>
                <a:cs typeface="Segoe UI" panose="020B0502040204020203" pitchFamily="34" charset="0"/>
              </a:rPr>
              <a:t>, directores de </a:t>
            </a:r>
            <a:r>
              <a:rPr lang="es-ES" sz="2400" b="1" dirty="0">
                <a:latin typeface="Segoe UI" panose="020B0502040204020203" pitchFamily="34" charset="0"/>
                <a:cs typeface="Segoe UI" panose="020B0502040204020203" pitchFamily="34" charset="0"/>
              </a:rPr>
              <a:t>comunicación</a:t>
            </a:r>
            <a:r>
              <a:rPr lang="es-ES" sz="2400" dirty="0">
                <a:latin typeface="Segoe UI" panose="020B0502040204020203" pitchFamily="34" charset="0"/>
                <a:cs typeface="Segoe UI" panose="020B0502040204020203" pitchFamily="34" charset="0"/>
              </a:rPr>
              <a:t>, </a:t>
            </a:r>
            <a:r>
              <a:rPr lang="es-ES" sz="2400" b="1" dirty="0">
                <a:latin typeface="Segoe UI" panose="020B0502040204020203" pitchFamily="34" charset="0"/>
                <a:cs typeface="Segoe UI" panose="020B0502040204020203" pitchFamily="34" charset="0"/>
              </a:rPr>
              <a:t>administrativos</a:t>
            </a:r>
            <a:r>
              <a:rPr lang="es-ES" sz="2400" dirty="0">
                <a:latin typeface="Segoe UI" panose="020B0502040204020203" pitchFamily="34" charset="0"/>
                <a:cs typeface="Segoe UI" panose="020B0502040204020203" pitchFamily="34" charset="0"/>
              </a:rPr>
              <a:t> o </a:t>
            </a:r>
            <a:r>
              <a:rPr lang="es-ES" sz="2400" b="1" dirty="0">
                <a:latin typeface="Segoe UI" panose="020B0502040204020203" pitchFamily="34" charset="0"/>
                <a:cs typeface="Segoe UI" panose="020B0502040204020203" pitchFamily="34" charset="0"/>
              </a:rPr>
              <a:t>comerciales</a:t>
            </a:r>
            <a:r>
              <a:rPr lang="es-ES" sz="2400" dirty="0">
                <a:latin typeface="Segoe UI" panose="020B0502040204020203" pitchFamily="34" charset="0"/>
                <a:cs typeface="Segoe UI" panose="020B0502040204020203" pitchFamily="34" charset="0"/>
              </a:rPr>
              <a:t>. </a:t>
            </a:r>
            <a:endParaRPr lang="en-US" sz="2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858500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n-US" sz="4800" dirty="0">
                <a:solidFill>
                  <a:schemeClr val="bg1">
                    <a:lumMod val="95000"/>
                  </a:schemeClr>
                </a:solidFill>
                <a:latin typeface="Segoe UI" panose="020B0502040204020203" pitchFamily="34" charset="0"/>
                <a:cs typeface="Segoe UI" panose="020B0502040204020203" pitchFamily="34" charset="0"/>
              </a:rPr>
              <a:t>Que es Power BI?</a:t>
            </a:r>
            <a:endParaRPr lang="es-MX" sz="4800" dirty="0">
              <a:solidFill>
                <a:schemeClr val="bg1">
                  <a:lumMod val="95000"/>
                </a:schemeClr>
              </a:solidFill>
              <a:latin typeface="Segoe UI" panose="020B0502040204020203" pitchFamily="34" charset="0"/>
              <a:cs typeface="Segoe UI" panose="020B0502040204020203" pitchFamily="34" charset="0"/>
            </a:endParaRPr>
          </a:p>
        </p:txBody>
      </p:sp>
      <p:sp>
        <p:nvSpPr>
          <p:cNvPr id="5" name="Marcador de contenido 5">
            <a:extLst>
              <a:ext uri="{FF2B5EF4-FFF2-40B4-BE49-F238E27FC236}">
                <a16:creationId xmlns:a16="http://schemas.microsoft.com/office/drawing/2014/main" id="{A0212726-CD19-41DB-A1B2-C2E50D966ED5}"/>
              </a:ext>
            </a:extLst>
          </p:cNvPr>
          <p:cNvSpPr>
            <a:spLocks noGrp="1"/>
          </p:cNvSpPr>
          <p:nvPr>
            <p:ph sz="half" idx="2"/>
          </p:nvPr>
        </p:nvSpPr>
        <p:spPr>
          <a:xfrm>
            <a:off x="702860" y="2265527"/>
            <a:ext cx="7738280" cy="3916907"/>
          </a:xfrm>
        </p:spPr>
        <p:txBody>
          <a:bodyPr>
            <a:normAutofit/>
          </a:bodyPr>
          <a:lstStyle/>
          <a:p>
            <a:r>
              <a:rPr lang="en-US" sz="2400" dirty="0" err="1">
                <a:latin typeface="Segoe UI" panose="020B0502040204020203" pitchFamily="34" charset="0"/>
                <a:cs typeface="Segoe UI" panose="020B0502040204020203" pitchFamily="34" charset="0"/>
              </a:rPr>
              <a:t>Desarrollado</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en</a:t>
            </a:r>
            <a:r>
              <a:rPr lang="en-US" sz="2400" dirty="0">
                <a:latin typeface="Segoe UI" panose="020B0502040204020203" pitchFamily="34" charset="0"/>
                <a:cs typeface="Segoe UI" panose="020B0502040204020203" pitchFamily="34" charset="0"/>
              </a:rPr>
              <a:t> 2006, por Microsoft.</a:t>
            </a:r>
          </a:p>
          <a:p>
            <a:endParaRPr lang="en-US" sz="2400" dirty="0">
              <a:latin typeface="Segoe UI" panose="020B0502040204020203" pitchFamily="34" charset="0"/>
              <a:cs typeface="Segoe UI" panose="020B0502040204020203" pitchFamily="34" charset="0"/>
            </a:endParaRPr>
          </a:p>
          <a:p>
            <a:r>
              <a:rPr lang="en-US" sz="2400" dirty="0">
                <a:latin typeface="Segoe UI" panose="020B0502040204020203" pitchFamily="34" charset="0"/>
                <a:cs typeface="Segoe UI" panose="020B0502040204020203" pitchFamily="34" charset="0"/>
              </a:rPr>
              <a:t>Se </a:t>
            </a:r>
            <a:r>
              <a:rPr lang="en-US" sz="2400" dirty="0" err="1">
                <a:latin typeface="Segoe UI" panose="020B0502040204020203" pitchFamily="34" charset="0"/>
                <a:cs typeface="Segoe UI" panose="020B0502040204020203" pitchFamily="34" charset="0"/>
              </a:rPr>
              <a:t>ofrecia</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como</a:t>
            </a:r>
            <a:r>
              <a:rPr lang="en-US" sz="2400" dirty="0">
                <a:latin typeface="Segoe UI" panose="020B0502040204020203" pitchFamily="34" charset="0"/>
                <a:cs typeface="Segoe UI" panose="020B0502040204020203" pitchFamily="34" charset="0"/>
              </a:rPr>
              <a:t> un </a:t>
            </a:r>
            <a:r>
              <a:rPr lang="en-US" sz="2400" dirty="0" err="1">
                <a:latin typeface="Segoe UI" panose="020B0502040204020203" pitchFamily="34" charset="0"/>
                <a:cs typeface="Segoe UI" panose="020B0502040204020203" pitchFamily="34" charset="0"/>
              </a:rPr>
              <a:t>complemento</a:t>
            </a:r>
            <a:endParaRPr lang="en-US" sz="2400" dirty="0">
              <a:latin typeface="Segoe UI" panose="020B0502040204020203" pitchFamily="34" charset="0"/>
              <a:cs typeface="Segoe UI" panose="020B0502040204020203" pitchFamily="34" charset="0"/>
            </a:endParaRPr>
          </a:p>
          <a:p>
            <a:endParaRPr lang="en-US" sz="2400" dirty="0">
              <a:latin typeface="Segoe UI" panose="020B0502040204020203" pitchFamily="34" charset="0"/>
              <a:cs typeface="Segoe UI" panose="020B0502040204020203" pitchFamily="34" charset="0"/>
            </a:endParaRPr>
          </a:p>
          <a:p>
            <a:r>
              <a:rPr lang="en-US" sz="2400" dirty="0">
                <a:latin typeface="Segoe UI" panose="020B0502040204020203" pitchFamily="34" charset="0"/>
                <a:cs typeface="Segoe UI" panose="020B0502040204020203" pitchFamily="34" charset="0"/>
              </a:rPr>
              <a:t>A </a:t>
            </a:r>
            <a:r>
              <a:rPr lang="en-US" sz="2400" dirty="0" err="1">
                <a:latin typeface="Segoe UI" panose="020B0502040204020203" pitchFamily="34" charset="0"/>
                <a:cs typeface="Segoe UI" panose="020B0502040204020203" pitchFamily="34" charset="0"/>
              </a:rPr>
              <a:t>partir</a:t>
            </a:r>
            <a:r>
              <a:rPr lang="en-US" sz="2400" dirty="0">
                <a:latin typeface="Segoe UI" panose="020B0502040204020203" pitchFamily="34" charset="0"/>
                <a:cs typeface="Segoe UI" panose="020B0502040204020203" pitchFamily="34" charset="0"/>
              </a:rPr>
              <a:t> de 2014 se </a:t>
            </a:r>
            <a:r>
              <a:rPr lang="en-US" sz="2400" dirty="0" err="1">
                <a:latin typeface="Segoe UI" panose="020B0502040204020203" pitchFamily="34" charset="0"/>
                <a:cs typeface="Segoe UI" panose="020B0502040204020203" pitchFamily="34" charset="0"/>
              </a:rPr>
              <a:t>integro</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como</a:t>
            </a:r>
            <a:r>
              <a:rPr lang="en-US" sz="2400" dirty="0">
                <a:latin typeface="Segoe UI" panose="020B0502040204020203" pitchFamily="34" charset="0"/>
                <a:cs typeface="Segoe UI" panose="020B0502040204020203" pitchFamily="34" charset="0"/>
              </a:rPr>
              <a:t> una Plataforma de </a:t>
            </a:r>
            <a:r>
              <a:rPr lang="en-US" sz="2400" dirty="0" err="1">
                <a:latin typeface="Segoe UI" panose="020B0502040204020203" pitchFamily="34" charset="0"/>
                <a:cs typeface="Segoe UI" panose="020B0502040204020203" pitchFamily="34" charset="0"/>
              </a:rPr>
              <a:t>extraccion</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modelado</a:t>
            </a:r>
            <a:r>
              <a:rPr lang="en-US" sz="2400" dirty="0">
                <a:latin typeface="Segoe UI" panose="020B0502040204020203" pitchFamily="34" charset="0"/>
                <a:cs typeface="Segoe UI" panose="020B0502040204020203" pitchFamily="34" charset="0"/>
              </a:rPr>
              <a:t> y </a:t>
            </a:r>
            <a:r>
              <a:rPr lang="en-US" sz="2400" dirty="0" err="1">
                <a:latin typeface="Segoe UI" panose="020B0502040204020203" pitchFamily="34" charset="0"/>
                <a:cs typeface="Segoe UI" panose="020B0502040204020203" pitchFamily="34" charset="0"/>
              </a:rPr>
              <a:t>diseno</a:t>
            </a:r>
            <a:r>
              <a:rPr lang="en-US" sz="2400" dirty="0">
                <a:latin typeface="Segoe UI" panose="020B0502040204020203" pitchFamily="34" charset="0"/>
                <a:cs typeface="Segoe UI" panose="020B0502040204020203" pitchFamily="34" charset="0"/>
              </a:rPr>
              <a:t> de </a:t>
            </a:r>
            <a:r>
              <a:rPr lang="en-US" sz="2400" dirty="0" err="1">
                <a:latin typeface="Segoe UI" panose="020B0502040204020203" pitchFamily="34" charset="0"/>
                <a:cs typeface="Segoe UI" panose="020B0502040204020203" pitchFamily="34" charset="0"/>
              </a:rPr>
              <a:t>modelos</a:t>
            </a:r>
            <a:r>
              <a:rPr lang="en-US" sz="2400" dirty="0">
                <a:latin typeface="Segoe UI" panose="020B0502040204020203" pitchFamily="34" charset="0"/>
                <a:cs typeface="Segoe UI" panose="020B0502040204020203" pitchFamily="34" charset="0"/>
              </a:rPr>
              <a:t> de datos.</a:t>
            </a:r>
          </a:p>
          <a:p>
            <a:pPr marL="0" indent="0">
              <a:buNone/>
            </a:pPr>
            <a:endParaRPr lang="en-US" sz="2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71114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E77B601-0178-48A1-960E-7D43032091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54707"/>
            <a:ext cx="9144000" cy="4267200"/>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n-US" sz="4800" dirty="0">
                <a:solidFill>
                  <a:schemeClr val="bg1">
                    <a:lumMod val="95000"/>
                  </a:schemeClr>
                </a:solidFill>
                <a:latin typeface="Segoe UI" panose="020B0502040204020203" pitchFamily="34" charset="0"/>
                <a:cs typeface="Segoe UI" panose="020B0502040204020203" pitchFamily="34" charset="0"/>
              </a:rPr>
              <a:t>Que es la </a:t>
            </a:r>
            <a:r>
              <a:rPr lang="en-US" sz="4800" dirty="0" err="1">
                <a:solidFill>
                  <a:schemeClr val="bg1">
                    <a:lumMod val="95000"/>
                  </a:schemeClr>
                </a:solidFill>
                <a:latin typeface="Segoe UI" panose="020B0502040204020203" pitchFamily="34" charset="0"/>
                <a:cs typeface="Segoe UI" panose="020B0502040204020203" pitchFamily="34" charset="0"/>
              </a:rPr>
              <a:t>plataforma</a:t>
            </a:r>
            <a:r>
              <a:rPr lang="en-US" sz="4800" dirty="0">
                <a:solidFill>
                  <a:schemeClr val="bg1">
                    <a:lumMod val="95000"/>
                  </a:schemeClr>
                </a:solidFill>
                <a:latin typeface="Segoe UI" panose="020B0502040204020203" pitchFamily="34" charset="0"/>
                <a:cs typeface="Segoe UI" panose="020B0502040204020203" pitchFamily="34" charset="0"/>
              </a:rPr>
              <a:t> Power BI?</a:t>
            </a:r>
            <a:endParaRPr lang="es-MX" sz="4800" dirty="0">
              <a:solidFill>
                <a:schemeClr val="bg1">
                  <a:lumMod val="95000"/>
                </a:schemeClr>
              </a:solidFill>
              <a:latin typeface="Segoe UI" panose="020B0502040204020203" pitchFamily="34" charset="0"/>
              <a:cs typeface="Segoe UI" panose="020B0502040204020203" pitchFamily="34" charset="0"/>
            </a:endParaRPr>
          </a:p>
        </p:txBody>
      </p:sp>
      <p:sp>
        <p:nvSpPr>
          <p:cNvPr id="6" name="CuadroTexto 5">
            <a:extLst>
              <a:ext uri="{FF2B5EF4-FFF2-40B4-BE49-F238E27FC236}">
                <a16:creationId xmlns:a16="http://schemas.microsoft.com/office/drawing/2014/main" id="{F51F790A-EBB5-47F2-B05A-17667E5C37DF}"/>
              </a:ext>
            </a:extLst>
          </p:cNvPr>
          <p:cNvSpPr txBox="1"/>
          <p:nvPr/>
        </p:nvSpPr>
        <p:spPr>
          <a:xfrm>
            <a:off x="1433015" y="6427707"/>
            <a:ext cx="7710985" cy="369332"/>
          </a:xfrm>
          <a:prstGeom prst="rect">
            <a:avLst/>
          </a:prstGeom>
          <a:noFill/>
        </p:spPr>
        <p:txBody>
          <a:bodyPr wrap="square">
            <a:spAutoFit/>
          </a:bodyPr>
          <a:lstStyle/>
          <a:p>
            <a:r>
              <a:rPr lang="en-US" i="1" dirty="0">
                <a:latin typeface="Segoe UI" panose="020B0502040204020203" pitchFamily="34" charset="0"/>
                <a:cs typeface="Segoe UI" panose="020B0502040204020203" pitchFamily="34" charset="0"/>
              </a:rPr>
              <a:t>https://www.im-projects.com/productos-y-servicios/soluciones-bi/power-bi/</a:t>
            </a:r>
          </a:p>
        </p:txBody>
      </p:sp>
    </p:spTree>
    <p:extLst>
      <p:ext uri="{BB962C8B-B14F-4D97-AF65-F5344CB8AC3E}">
        <p14:creationId xmlns:p14="http://schemas.microsoft.com/office/powerpoint/2010/main" val="3732693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Qué es Power BI ? Juega con este informe para probar | Biist Pro">
            <a:extLst>
              <a:ext uri="{FF2B5EF4-FFF2-40B4-BE49-F238E27FC236}">
                <a16:creationId xmlns:a16="http://schemas.microsoft.com/office/drawing/2014/main" id="{46C5B45C-6410-4E97-8802-97851B731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4523"/>
            <a:ext cx="9144000" cy="1275083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AE42EDD-44EA-45D8-90B2-C8160E00CC8A}"/>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1255CBF6-0905-4FC8-A206-42ACF1AF1679}"/>
              </a:ext>
            </a:extLst>
          </p:cNvPr>
          <p:cNvSpPr>
            <a:spLocks noGrp="1"/>
          </p:cNvSpPr>
          <p:nvPr>
            <p:ph type="title"/>
          </p:nvPr>
        </p:nvSpPr>
        <p:spPr>
          <a:xfrm>
            <a:off x="0" y="60961"/>
            <a:ext cx="9144000" cy="990599"/>
          </a:xfrm>
        </p:spPr>
        <p:txBody>
          <a:bodyPr>
            <a:normAutofit/>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Conectores </a:t>
            </a:r>
            <a:r>
              <a:rPr lang="es-MX" sz="4800" dirty="0" err="1">
                <a:solidFill>
                  <a:schemeClr val="bg1">
                    <a:lumMod val="95000"/>
                  </a:schemeClr>
                </a:solidFill>
                <a:latin typeface="Segoe UI" panose="020B0502040204020203" pitchFamily="34" charset="0"/>
                <a:cs typeface="Segoe UI" panose="020B0502040204020203" pitchFamily="34" charset="0"/>
              </a:rPr>
              <a:t>Power</a:t>
            </a:r>
            <a:r>
              <a:rPr lang="es-MX" sz="4800" dirty="0">
                <a:solidFill>
                  <a:schemeClr val="bg1">
                    <a:lumMod val="95000"/>
                  </a:schemeClr>
                </a:solidFill>
                <a:latin typeface="Segoe UI" panose="020B0502040204020203" pitchFamily="34" charset="0"/>
                <a:cs typeface="Segoe UI" panose="020B0502040204020203" pitchFamily="34" charset="0"/>
              </a:rPr>
              <a:t> BI</a:t>
            </a:r>
          </a:p>
        </p:txBody>
      </p:sp>
    </p:spTree>
    <p:extLst>
      <p:ext uri="{BB962C8B-B14F-4D97-AF65-F5344CB8AC3E}">
        <p14:creationId xmlns:p14="http://schemas.microsoft.com/office/powerpoint/2010/main" val="418990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0 -3.7037E-6 L 0 -1.03912 " pathEditMode="relative" rAng="0" ptsTypes="AA">
                                      <p:cBhvr>
                                        <p:cTn id="6" dur="4000" fill="hold"/>
                                        <p:tgtEl>
                                          <p:spTgt spid="7170"/>
                                        </p:tgtEl>
                                        <p:attrNameLst>
                                          <p:attrName>ppt_x</p:attrName>
                                          <p:attrName>ppt_y</p:attrName>
                                        </p:attrNameLst>
                                      </p:cBhvr>
                                      <p:rCtr x="0" y="-5196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AE42EDD-44EA-45D8-90B2-C8160E00CC8A}"/>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1255CBF6-0905-4FC8-A206-42ACF1AF1679}"/>
              </a:ext>
            </a:extLst>
          </p:cNvPr>
          <p:cNvSpPr>
            <a:spLocks noGrp="1"/>
          </p:cNvSpPr>
          <p:nvPr>
            <p:ph type="title"/>
          </p:nvPr>
        </p:nvSpPr>
        <p:spPr>
          <a:xfrm>
            <a:off x="0" y="60961"/>
            <a:ext cx="9144000" cy="990599"/>
          </a:xfrm>
        </p:spPr>
        <p:txBody>
          <a:bodyPr>
            <a:normAutofit/>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Alcance </a:t>
            </a:r>
            <a:r>
              <a:rPr lang="es-MX" sz="4800" dirty="0" err="1">
                <a:solidFill>
                  <a:schemeClr val="bg1">
                    <a:lumMod val="95000"/>
                  </a:schemeClr>
                </a:solidFill>
                <a:latin typeface="Segoe UI" panose="020B0502040204020203" pitchFamily="34" charset="0"/>
                <a:cs typeface="Segoe UI" panose="020B0502040204020203" pitchFamily="34" charset="0"/>
              </a:rPr>
              <a:t>Power</a:t>
            </a:r>
            <a:r>
              <a:rPr lang="es-MX" sz="4800" dirty="0">
                <a:solidFill>
                  <a:schemeClr val="bg1">
                    <a:lumMod val="95000"/>
                  </a:schemeClr>
                </a:solidFill>
                <a:latin typeface="Segoe UI" panose="020B0502040204020203" pitchFamily="34" charset="0"/>
                <a:cs typeface="Segoe UI" panose="020B0502040204020203" pitchFamily="34" charset="0"/>
              </a:rPr>
              <a:t> BI</a:t>
            </a:r>
          </a:p>
        </p:txBody>
      </p:sp>
      <p:sp>
        <p:nvSpPr>
          <p:cNvPr id="6" name="Marcador de contenido 5">
            <a:extLst>
              <a:ext uri="{FF2B5EF4-FFF2-40B4-BE49-F238E27FC236}">
                <a16:creationId xmlns:a16="http://schemas.microsoft.com/office/drawing/2014/main" id="{B4EC8916-181D-4953-BB16-DCFBC2BBCE49}"/>
              </a:ext>
            </a:extLst>
          </p:cNvPr>
          <p:cNvSpPr>
            <a:spLocks noGrp="1"/>
          </p:cNvSpPr>
          <p:nvPr>
            <p:ph sz="half" idx="2"/>
          </p:nvPr>
        </p:nvSpPr>
        <p:spPr>
          <a:xfrm>
            <a:off x="608348" y="1364776"/>
            <a:ext cx="7927304" cy="4824887"/>
          </a:xfrm>
        </p:spPr>
        <p:txBody>
          <a:bodyPr/>
          <a:lstStyle/>
          <a:p>
            <a:r>
              <a:rPr lang="es-MX" dirty="0"/>
              <a:t>Empresas que desean tomar decisiones basadas en datos.</a:t>
            </a:r>
          </a:p>
          <a:p>
            <a:r>
              <a:rPr lang="es-MX" dirty="0"/>
              <a:t>Equipos que buscan respaldar una idea de Proyecto sin costosos experimentos.</a:t>
            </a:r>
          </a:p>
          <a:p>
            <a:r>
              <a:rPr lang="es-MX" dirty="0"/>
              <a:t>Compañías que desean iniciar con la gobernanza de datos a través de todos los niveles.</a:t>
            </a:r>
          </a:p>
          <a:p>
            <a:r>
              <a:rPr lang="es-MX" dirty="0"/>
              <a:t>Desarrolladores e Ingenieros con el objetivo de construir visuales intuitivos de forma rápida y sencilla.</a:t>
            </a:r>
          </a:p>
          <a:p>
            <a:endParaRPr lang="en-US" dirty="0"/>
          </a:p>
        </p:txBody>
      </p:sp>
    </p:spTree>
    <p:extLst>
      <p:ext uri="{BB962C8B-B14F-4D97-AF65-F5344CB8AC3E}">
        <p14:creationId xmlns:p14="http://schemas.microsoft.com/office/powerpoint/2010/main" val="2010497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n-US" sz="4800" dirty="0" err="1">
                <a:solidFill>
                  <a:schemeClr val="bg1">
                    <a:lumMod val="95000"/>
                  </a:schemeClr>
                </a:solidFill>
                <a:latin typeface="Segoe UI" panose="020B0502040204020203" pitchFamily="34" charset="0"/>
                <a:cs typeface="Segoe UI" panose="020B0502040204020203" pitchFamily="34" charset="0"/>
              </a:rPr>
              <a:t>Funcionamiento</a:t>
            </a:r>
            <a:endParaRPr lang="es-MX" sz="4800" dirty="0">
              <a:solidFill>
                <a:schemeClr val="bg1">
                  <a:lumMod val="95000"/>
                </a:schemeClr>
              </a:solidFill>
              <a:latin typeface="Segoe UI" panose="020B0502040204020203" pitchFamily="34" charset="0"/>
              <a:cs typeface="Segoe UI" panose="020B0502040204020203" pitchFamily="34" charset="0"/>
            </a:endParaRPr>
          </a:p>
        </p:txBody>
      </p:sp>
      <p:pic>
        <p:nvPicPr>
          <p:cNvPr id="6146" name="Picture 2" descr="Qué es Power BI? Explicado para principiantes (II) - Devaim">
            <a:extLst>
              <a:ext uri="{FF2B5EF4-FFF2-40B4-BE49-F238E27FC236}">
                <a16:creationId xmlns:a16="http://schemas.microsoft.com/office/drawing/2014/main" id="{137FBAFF-E3EE-450C-946F-FF9CC137EC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71577"/>
            <a:ext cx="9144000" cy="2776537"/>
          </a:xfrm>
          <a:prstGeom prst="rect">
            <a:avLst/>
          </a:prstGeom>
          <a:noFill/>
          <a:extLst>
            <a:ext uri="{909E8E84-426E-40DD-AFC4-6F175D3DCCD1}">
              <a14:hiddenFill xmlns:a14="http://schemas.microsoft.com/office/drawing/2010/main">
                <a:solidFill>
                  <a:srgbClr val="FFFFFF"/>
                </a:solidFill>
              </a14:hiddenFill>
            </a:ext>
          </a:extLst>
        </p:spPr>
      </p:pic>
      <p:sp>
        <p:nvSpPr>
          <p:cNvPr id="11" name="Marcador de contenido 5">
            <a:extLst>
              <a:ext uri="{FF2B5EF4-FFF2-40B4-BE49-F238E27FC236}">
                <a16:creationId xmlns:a16="http://schemas.microsoft.com/office/drawing/2014/main" id="{E4E28C91-78DE-4551-89DB-5DDC9B55D94C}"/>
              </a:ext>
            </a:extLst>
          </p:cNvPr>
          <p:cNvSpPr>
            <a:spLocks noGrp="1"/>
          </p:cNvSpPr>
          <p:nvPr>
            <p:ph sz="half" idx="2"/>
          </p:nvPr>
        </p:nvSpPr>
        <p:spPr>
          <a:xfrm>
            <a:off x="608347" y="4100145"/>
            <a:ext cx="3581515" cy="2655498"/>
          </a:xfrm>
        </p:spPr>
        <p:txBody>
          <a:bodyPr numCol="1">
            <a:normAutofit/>
          </a:bodyPr>
          <a:lstStyle/>
          <a:p>
            <a:r>
              <a:rPr lang="es-MX" dirty="0"/>
              <a:t>Gratuito</a:t>
            </a:r>
          </a:p>
          <a:p>
            <a:r>
              <a:rPr lang="es-MX" dirty="0"/>
              <a:t>Extracción</a:t>
            </a:r>
            <a:r>
              <a:rPr lang="en-US" dirty="0"/>
              <a:t> de datos</a:t>
            </a:r>
          </a:p>
          <a:p>
            <a:r>
              <a:rPr lang="en-US" dirty="0"/>
              <a:t>Modelado de </a:t>
            </a:r>
            <a:r>
              <a:rPr lang="es-MX" dirty="0"/>
              <a:t>información</a:t>
            </a:r>
          </a:p>
          <a:p>
            <a:r>
              <a:rPr lang="es-MX" dirty="0"/>
              <a:t>Diseño</a:t>
            </a:r>
            <a:r>
              <a:rPr lang="en-US" dirty="0"/>
              <a:t> de visuales</a:t>
            </a:r>
          </a:p>
          <a:p>
            <a:endParaRPr lang="en-US" dirty="0"/>
          </a:p>
          <a:p>
            <a:endParaRPr lang="es-MX" dirty="0"/>
          </a:p>
          <a:p>
            <a:endParaRPr lang="en-US" dirty="0"/>
          </a:p>
        </p:txBody>
      </p:sp>
      <p:sp>
        <p:nvSpPr>
          <p:cNvPr id="12" name="Marcador de contenido 5">
            <a:extLst>
              <a:ext uri="{FF2B5EF4-FFF2-40B4-BE49-F238E27FC236}">
                <a16:creationId xmlns:a16="http://schemas.microsoft.com/office/drawing/2014/main" id="{FED3FBD8-6239-4641-AA9E-91E76FDB05E1}"/>
              </a:ext>
            </a:extLst>
          </p:cNvPr>
          <p:cNvSpPr txBox="1">
            <a:spLocks/>
          </p:cNvSpPr>
          <p:nvPr/>
        </p:nvSpPr>
        <p:spPr>
          <a:xfrm>
            <a:off x="4954140" y="3922723"/>
            <a:ext cx="3581515" cy="2928907"/>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Tiene costo</a:t>
            </a:r>
          </a:p>
          <a:p>
            <a:r>
              <a:rPr lang="es-MX" dirty="0"/>
              <a:t>Extracción</a:t>
            </a:r>
            <a:r>
              <a:rPr lang="en-US" dirty="0"/>
              <a:t> </a:t>
            </a:r>
            <a:r>
              <a:rPr lang="es-MX" dirty="0"/>
              <a:t>automática</a:t>
            </a:r>
            <a:r>
              <a:rPr lang="en-US" dirty="0"/>
              <a:t> de datos</a:t>
            </a:r>
          </a:p>
          <a:p>
            <a:r>
              <a:rPr lang="en-US" dirty="0"/>
              <a:t>Herramientas para compartir </a:t>
            </a:r>
            <a:r>
              <a:rPr lang="en-US" dirty="0" err="1"/>
              <a:t>reportes</a:t>
            </a:r>
            <a:endParaRPr lang="en-US" dirty="0"/>
          </a:p>
          <a:p>
            <a:r>
              <a:rPr lang="es-MX" dirty="0"/>
              <a:t>Multiplataforma</a:t>
            </a:r>
            <a:endParaRPr lang="en-US" dirty="0"/>
          </a:p>
          <a:p>
            <a:endParaRPr lang="es-MX" dirty="0"/>
          </a:p>
          <a:p>
            <a:endParaRPr lang="en-US" dirty="0"/>
          </a:p>
        </p:txBody>
      </p:sp>
    </p:spTree>
    <p:extLst>
      <p:ext uri="{BB962C8B-B14F-4D97-AF65-F5344CB8AC3E}">
        <p14:creationId xmlns:p14="http://schemas.microsoft.com/office/powerpoint/2010/main" val="407072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Proceso ETL</a:t>
            </a:r>
          </a:p>
        </p:txBody>
      </p:sp>
      <p:pic>
        <p:nvPicPr>
          <p:cNvPr id="11266" name="Picture 2" descr="Cómo elegir la herramienta ETL adecuada?">
            <a:extLst>
              <a:ext uri="{FF2B5EF4-FFF2-40B4-BE49-F238E27FC236}">
                <a16:creationId xmlns:a16="http://schemas.microsoft.com/office/drawing/2014/main" id="{B8CCD6E4-8721-41C9-A5A4-5534F9AF05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12521"/>
            <a:ext cx="9144000" cy="514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4982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Proceso ETL en </a:t>
            </a:r>
            <a:r>
              <a:rPr lang="es-MX" sz="4800" dirty="0" err="1">
                <a:solidFill>
                  <a:schemeClr val="bg1">
                    <a:lumMod val="95000"/>
                  </a:schemeClr>
                </a:solidFill>
                <a:latin typeface="Segoe UI" panose="020B0502040204020203" pitchFamily="34" charset="0"/>
                <a:cs typeface="Segoe UI" panose="020B0502040204020203" pitchFamily="34" charset="0"/>
              </a:rPr>
              <a:t>Power</a:t>
            </a:r>
            <a:r>
              <a:rPr lang="es-MX" sz="4800" dirty="0">
                <a:solidFill>
                  <a:schemeClr val="bg1">
                    <a:lumMod val="95000"/>
                  </a:schemeClr>
                </a:solidFill>
                <a:latin typeface="Segoe UI" panose="020B0502040204020203" pitchFamily="34" charset="0"/>
                <a:cs typeface="Segoe UI" panose="020B0502040204020203" pitchFamily="34" charset="0"/>
              </a:rPr>
              <a:t> BI</a:t>
            </a:r>
          </a:p>
        </p:txBody>
      </p:sp>
      <p:pic>
        <p:nvPicPr>
          <p:cNvPr id="11266" name="Picture 2" descr="Cómo elegir la herramienta ETL adecuada?">
            <a:extLst>
              <a:ext uri="{FF2B5EF4-FFF2-40B4-BE49-F238E27FC236}">
                <a16:creationId xmlns:a16="http://schemas.microsoft.com/office/drawing/2014/main" id="{B8CCD6E4-8721-41C9-A5A4-5534F9AF05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910" t="38626" r="27165" b="30044"/>
          <a:stretch/>
        </p:blipFill>
        <p:spPr bwMode="auto">
          <a:xfrm>
            <a:off x="2552131" y="3098042"/>
            <a:ext cx="4107976" cy="1610436"/>
          </a:xfrm>
          <a:prstGeom prst="rect">
            <a:avLst/>
          </a:prstGeom>
          <a:noFill/>
          <a:extLst>
            <a:ext uri="{909E8E84-426E-40DD-AFC4-6F175D3DCCD1}">
              <a14:hiddenFill xmlns:a14="http://schemas.microsoft.com/office/drawing/2010/main">
                <a:solidFill>
                  <a:srgbClr val="FFFFFF"/>
                </a:solidFill>
              </a14:hiddenFill>
            </a:ext>
          </a:extLst>
        </p:spPr>
      </p:pic>
      <p:cxnSp>
        <p:nvCxnSpPr>
          <p:cNvPr id="3" name="Conector recto de flecha 2">
            <a:extLst>
              <a:ext uri="{FF2B5EF4-FFF2-40B4-BE49-F238E27FC236}">
                <a16:creationId xmlns:a16="http://schemas.microsoft.com/office/drawing/2014/main" id="{24C61BCE-A63B-45AA-AA0A-4C0B7081FA74}"/>
              </a:ext>
            </a:extLst>
          </p:cNvPr>
          <p:cNvCxnSpPr>
            <a:cxnSpLocks/>
          </p:cNvCxnSpPr>
          <p:nvPr/>
        </p:nvCxnSpPr>
        <p:spPr>
          <a:xfrm flipH="1">
            <a:off x="1705970" y="2210937"/>
            <a:ext cx="627797" cy="109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Picture 2">
            <a:extLst>
              <a:ext uri="{FF2B5EF4-FFF2-40B4-BE49-F238E27FC236}">
                <a16:creationId xmlns:a16="http://schemas.microsoft.com/office/drawing/2014/main" id="{92C38861-4C78-47E0-90FD-567CF037D5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1343" b="75347"/>
          <a:stretch/>
        </p:blipFill>
        <p:spPr bwMode="auto">
          <a:xfrm>
            <a:off x="0" y="1500115"/>
            <a:ext cx="1705970" cy="105201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de flecha 4">
            <a:extLst>
              <a:ext uri="{FF2B5EF4-FFF2-40B4-BE49-F238E27FC236}">
                <a16:creationId xmlns:a16="http://schemas.microsoft.com/office/drawing/2014/main" id="{0739D9C5-2C87-4506-9F6A-E61005848C64}"/>
              </a:ext>
            </a:extLst>
          </p:cNvPr>
          <p:cNvCxnSpPr>
            <a:cxnSpLocks/>
          </p:cNvCxnSpPr>
          <p:nvPr/>
        </p:nvCxnSpPr>
        <p:spPr>
          <a:xfrm>
            <a:off x="4606119" y="2987040"/>
            <a:ext cx="13648" cy="1216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290" name="Picture 2" descr="Upload Data with Power Query — Excel Dashboards VBA">
            <a:extLst>
              <a:ext uri="{FF2B5EF4-FFF2-40B4-BE49-F238E27FC236}">
                <a16:creationId xmlns:a16="http://schemas.microsoft.com/office/drawing/2014/main" id="{4CA6B090-F5ED-4367-ADFB-0038338667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2772" y="4496937"/>
            <a:ext cx="1673990" cy="1977563"/>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Conector recto de flecha 14">
            <a:extLst>
              <a:ext uri="{FF2B5EF4-FFF2-40B4-BE49-F238E27FC236}">
                <a16:creationId xmlns:a16="http://schemas.microsoft.com/office/drawing/2014/main" id="{EEE2169F-F257-4B61-86C1-A1D672D059A9}"/>
              </a:ext>
            </a:extLst>
          </p:cNvPr>
          <p:cNvCxnSpPr/>
          <p:nvPr/>
        </p:nvCxnSpPr>
        <p:spPr>
          <a:xfrm>
            <a:off x="6469039" y="2552130"/>
            <a:ext cx="736979" cy="54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Imagen 22">
            <a:extLst>
              <a:ext uri="{FF2B5EF4-FFF2-40B4-BE49-F238E27FC236}">
                <a16:creationId xmlns:a16="http://schemas.microsoft.com/office/drawing/2014/main" id="{F6201FD3-6A15-4949-879C-B117F011C5ED}"/>
              </a:ext>
            </a:extLst>
          </p:cNvPr>
          <p:cNvPicPr>
            <a:picLocks noChangeAspect="1"/>
          </p:cNvPicPr>
          <p:nvPr/>
        </p:nvPicPr>
        <p:blipFill>
          <a:blip r:embed="rId5"/>
          <a:stretch>
            <a:fillRect/>
          </a:stretch>
        </p:blipFill>
        <p:spPr>
          <a:xfrm>
            <a:off x="7288770" y="2471158"/>
            <a:ext cx="1830277" cy="1713017"/>
          </a:xfrm>
          <a:prstGeom prst="rect">
            <a:avLst/>
          </a:prstGeom>
        </p:spPr>
      </p:pic>
      <p:sp>
        <p:nvSpPr>
          <p:cNvPr id="27" name="CuadroTexto 26">
            <a:extLst>
              <a:ext uri="{FF2B5EF4-FFF2-40B4-BE49-F238E27FC236}">
                <a16:creationId xmlns:a16="http://schemas.microsoft.com/office/drawing/2014/main" id="{51E7D448-4904-4C8E-BA0C-0A8D2E981EC1}"/>
              </a:ext>
            </a:extLst>
          </p:cNvPr>
          <p:cNvSpPr txBox="1"/>
          <p:nvPr/>
        </p:nvSpPr>
        <p:spPr>
          <a:xfrm>
            <a:off x="7890748" y="4184175"/>
            <a:ext cx="736979" cy="369332"/>
          </a:xfrm>
          <a:prstGeom prst="rect">
            <a:avLst/>
          </a:prstGeom>
          <a:noFill/>
        </p:spPr>
        <p:txBody>
          <a:bodyPr wrap="square">
            <a:spAutoFit/>
          </a:bodyPr>
          <a:lstStyle/>
          <a:p>
            <a:pPr algn="l"/>
            <a:r>
              <a:rPr lang="en-US" b="1" i="0" dirty="0">
                <a:solidFill>
                  <a:srgbClr val="161616"/>
                </a:solidFill>
                <a:effectLst/>
                <a:latin typeface="Segoe UI" panose="020B0502040204020203" pitchFamily="34" charset="0"/>
              </a:rPr>
              <a:t>DAX</a:t>
            </a:r>
          </a:p>
        </p:txBody>
      </p:sp>
    </p:spTree>
    <p:extLst>
      <p:ext uri="{BB962C8B-B14F-4D97-AF65-F5344CB8AC3E}">
        <p14:creationId xmlns:p14="http://schemas.microsoft.com/office/powerpoint/2010/main" val="2112619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0 0 L 0 -0.25 E" pathEditMode="relative" ptsTypes="">
                                      <p:cBhvr>
                                        <p:cTn id="6" dur="2000" fill="hold"/>
                                        <p:tgtEl>
                                          <p:spTgt spid="11266"/>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290"/>
                                        </p:tgtEl>
                                        <p:attrNameLst>
                                          <p:attrName>style.visibility</p:attrName>
                                        </p:attrNameLst>
                                      </p:cBhvr>
                                      <p:to>
                                        <p:strVal val="visible"/>
                                      </p:to>
                                    </p:set>
                                    <p:animEffect transition="in" filter="fade">
                                      <p:cBhvr>
                                        <p:cTn id="19" dur="500"/>
                                        <p:tgtEl>
                                          <p:spTgt spid="12290"/>
                                        </p:tgtEl>
                                      </p:cBhvr>
                                    </p:animEffect>
                                  </p:childTnLst>
                                </p:cTn>
                              </p:par>
                              <p:par>
                                <p:cTn id="20" presetID="10"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AE42EDD-44EA-45D8-90B2-C8160E00CC8A}"/>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1255CBF6-0905-4FC8-A206-42ACF1AF1679}"/>
              </a:ext>
            </a:extLst>
          </p:cNvPr>
          <p:cNvSpPr>
            <a:spLocks noGrp="1"/>
          </p:cNvSpPr>
          <p:nvPr>
            <p:ph type="title"/>
          </p:nvPr>
        </p:nvSpPr>
        <p:spPr>
          <a:xfrm>
            <a:off x="0" y="60961"/>
            <a:ext cx="9144000" cy="990599"/>
          </a:xfrm>
        </p:spPr>
        <p:txBody>
          <a:bodyPr>
            <a:normAutofit fontScale="90000"/>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Limpieza y Transformación de datos</a:t>
            </a:r>
          </a:p>
        </p:txBody>
      </p:sp>
      <p:sp>
        <p:nvSpPr>
          <p:cNvPr id="6" name="Marcador de contenido 5">
            <a:extLst>
              <a:ext uri="{FF2B5EF4-FFF2-40B4-BE49-F238E27FC236}">
                <a16:creationId xmlns:a16="http://schemas.microsoft.com/office/drawing/2014/main" id="{B4EC8916-181D-4953-BB16-DCFBC2BBCE49}"/>
              </a:ext>
            </a:extLst>
          </p:cNvPr>
          <p:cNvSpPr>
            <a:spLocks noGrp="1"/>
          </p:cNvSpPr>
          <p:nvPr>
            <p:ph sz="half" idx="2"/>
          </p:nvPr>
        </p:nvSpPr>
        <p:spPr>
          <a:xfrm>
            <a:off x="608348" y="1364776"/>
            <a:ext cx="7927304" cy="4824887"/>
          </a:xfrm>
        </p:spPr>
        <p:txBody>
          <a:bodyPr>
            <a:normAutofit fontScale="92500"/>
          </a:bodyPr>
          <a:lstStyle/>
          <a:p>
            <a:pPr marL="0" indent="0" algn="l">
              <a:buNone/>
            </a:pPr>
            <a:r>
              <a:rPr lang="es-ES" b="0" i="0" dirty="0" err="1">
                <a:solidFill>
                  <a:srgbClr val="161616"/>
                </a:solidFill>
                <a:effectLst/>
                <a:latin typeface="Segoe UI" panose="020B0502040204020203" pitchFamily="34" charset="0"/>
              </a:rPr>
              <a:t>Power</a:t>
            </a:r>
            <a:r>
              <a:rPr lang="es-ES" b="0" i="0" dirty="0">
                <a:solidFill>
                  <a:srgbClr val="161616"/>
                </a:solidFill>
                <a:effectLst/>
                <a:latin typeface="Segoe UI" panose="020B0502040204020203" pitchFamily="34" charset="0"/>
              </a:rPr>
              <a:t> BI Desktop tiene tres vistas:</a:t>
            </a:r>
          </a:p>
          <a:p>
            <a:pPr algn="l">
              <a:buFont typeface="Arial" panose="020B0604020202020204" pitchFamily="34" charset="0"/>
              <a:buChar char="•"/>
            </a:pPr>
            <a:r>
              <a:rPr lang="es-ES" b="1" i="0" dirty="0">
                <a:solidFill>
                  <a:srgbClr val="161616"/>
                </a:solidFill>
                <a:effectLst/>
                <a:latin typeface="Segoe UI" panose="020B0502040204020203" pitchFamily="34" charset="0"/>
              </a:rPr>
              <a:t>Vista de informe:</a:t>
            </a:r>
            <a:r>
              <a:rPr lang="es-ES" b="0" i="0" dirty="0">
                <a:solidFill>
                  <a:srgbClr val="161616"/>
                </a:solidFill>
                <a:effectLst/>
                <a:latin typeface="Segoe UI" panose="020B0502040204020203" pitchFamily="34" charset="0"/>
              </a:rPr>
              <a:t> puede crear consultas para crear visualizaciones atractivas que puede compartir con otros usuarios. Puede organizarlos como quiera que aparezcan.</a:t>
            </a:r>
          </a:p>
          <a:p>
            <a:pPr algn="l">
              <a:buFont typeface="Arial" panose="020B0604020202020204" pitchFamily="34" charset="0"/>
              <a:buChar char="•"/>
            </a:pPr>
            <a:r>
              <a:rPr lang="es-ES" b="1" i="0" dirty="0">
                <a:solidFill>
                  <a:srgbClr val="161616"/>
                </a:solidFill>
                <a:effectLst/>
                <a:latin typeface="Segoe UI" panose="020B0502040204020203" pitchFamily="34" charset="0"/>
              </a:rPr>
              <a:t>Vista de datos:</a:t>
            </a:r>
            <a:r>
              <a:rPr lang="es-ES" b="0" i="0" dirty="0">
                <a:solidFill>
                  <a:srgbClr val="161616"/>
                </a:solidFill>
                <a:effectLst/>
                <a:latin typeface="Segoe UI" panose="020B0502040204020203" pitchFamily="34" charset="0"/>
              </a:rPr>
              <a:t> vea los datos en el informe en el formato de modelo de datos, donde puede agregar medidas, crear columnas y administrar relaciones.</a:t>
            </a:r>
          </a:p>
          <a:p>
            <a:pPr algn="l">
              <a:buFont typeface="Arial" panose="020B0604020202020204" pitchFamily="34" charset="0"/>
              <a:buChar char="•"/>
            </a:pPr>
            <a:r>
              <a:rPr lang="es-ES" b="1" i="0" dirty="0">
                <a:solidFill>
                  <a:srgbClr val="161616"/>
                </a:solidFill>
                <a:effectLst/>
                <a:latin typeface="Segoe UI" panose="020B0502040204020203" pitchFamily="34" charset="0"/>
              </a:rPr>
              <a:t>Vista Modelo</a:t>
            </a:r>
            <a:r>
              <a:rPr lang="es-ES" b="0" i="0" dirty="0">
                <a:solidFill>
                  <a:srgbClr val="161616"/>
                </a:solidFill>
                <a:effectLst/>
                <a:latin typeface="Segoe UI" panose="020B0502040204020203" pitchFamily="34" charset="0"/>
              </a:rPr>
              <a:t>: obtenga una representación gráfica de las relaciones que se han establecido en el modelo de datos y adminístrelas o modifíquelas según corresponda.</a:t>
            </a:r>
          </a:p>
          <a:p>
            <a:endParaRPr lang="en-US" dirty="0"/>
          </a:p>
        </p:txBody>
      </p:sp>
    </p:spTree>
    <p:extLst>
      <p:ext uri="{BB962C8B-B14F-4D97-AF65-F5344CB8AC3E}">
        <p14:creationId xmlns:p14="http://schemas.microsoft.com/office/powerpoint/2010/main" val="2151493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AE42EDD-44EA-45D8-90B2-C8160E00CC8A}"/>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1255CBF6-0905-4FC8-A206-42ACF1AF1679}"/>
              </a:ext>
            </a:extLst>
          </p:cNvPr>
          <p:cNvSpPr>
            <a:spLocks noGrp="1"/>
          </p:cNvSpPr>
          <p:nvPr>
            <p:ph type="title"/>
          </p:nvPr>
        </p:nvSpPr>
        <p:spPr>
          <a:xfrm>
            <a:off x="0" y="60961"/>
            <a:ext cx="9144000" cy="990599"/>
          </a:xfrm>
        </p:spPr>
        <p:txBody>
          <a:bodyPr>
            <a:normAutofit fontScale="90000"/>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Limpieza y Transformación de datos</a:t>
            </a:r>
          </a:p>
        </p:txBody>
      </p:sp>
      <p:pic>
        <p:nvPicPr>
          <p:cNvPr id="1026" name="Picture 2" descr="Captura de pantalla del botón Transformar datos de la pestaña Inicio.">
            <a:extLst>
              <a:ext uri="{FF2B5EF4-FFF2-40B4-BE49-F238E27FC236}">
                <a16:creationId xmlns:a16="http://schemas.microsoft.com/office/drawing/2014/main" id="{A553B13D-C25F-4F49-ACAA-ED55F401F4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84220"/>
            <a:ext cx="9144000" cy="203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0305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Extracción de datos</a:t>
            </a:r>
          </a:p>
        </p:txBody>
      </p:sp>
      <p:sp>
        <p:nvSpPr>
          <p:cNvPr id="2" name="Rectángulo 1">
            <a:extLst>
              <a:ext uri="{FF2B5EF4-FFF2-40B4-BE49-F238E27FC236}">
                <a16:creationId xmlns:a16="http://schemas.microsoft.com/office/drawing/2014/main" id="{B29D78CB-D7EE-46A7-9670-853A2A98C759}"/>
              </a:ext>
            </a:extLst>
          </p:cNvPr>
          <p:cNvSpPr/>
          <p:nvPr/>
        </p:nvSpPr>
        <p:spPr>
          <a:xfrm>
            <a:off x="-148590" y="1051560"/>
            <a:ext cx="248031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A1A19"/>
                </a:solidFill>
                <a:latin typeface="Segoe UI" panose="020B0502040204020203" pitchFamily="34" charset="0"/>
                <a:cs typeface="Segoe UI" panose="020B0502040204020203" pitchFamily="34" charset="0"/>
              </a:rPr>
              <a:t>Power Query Editor</a:t>
            </a:r>
          </a:p>
        </p:txBody>
      </p:sp>
      <p:sp>
        <p:nvSpPr>
          <p:cNvPr id="16" name="CuadroTexto 15">
            <a:extLst>
              <a:ext uri="{FF2B5EF4-FFF2-40B4-BE49-F238E27FC236}">
                <a16:creationId xmlns:a16="http://schemas.microsoft.com/office/drawing/2014/main" id="{738FA3E6-F987-4223-8FB5-D149D52D3AC8}"/>
              </a:ext>
            </a:extLst>
          </p:cNvPr>
          <p:cNvSpPr txBox="1"/>
          <p:nvPr/>
        </p:nvSpPr>
        <p:spPr>
          <a:xfrm>
            <a:off x="0" y="1607523"/>
            <a:ext cx="8983980" cy="923330"/>
          </a:xfrm>
          <a:prstGeom prst="rect">
            <a:avLst/>
          </a:prstGeom>
          <a:noFill/>
        </p:spPr>
        <p:txBody>
          <a:bodyPr wrap="square">
            <a:spAutoFit/>
          </a:bodyPr>
          <a:lstStyle/>
          <a:p>
            <a:r>
              <a:rPr lang="es-ES" dirty="0">
                <a:solidFill>
                  <a:srgbClr val="161616"/>
                </a:solidFill>
                <a:latin typeface="Segoe UI" panose="020B0502040204020203" pitchFamily="34" charset="0"/>
              </a:rPr>
              <a:t>El componente d</a:t>
            </a:r>
            <a:r>
              <a:rPr lang="es-ES" b="0" i="0" dirty="0">
                <a:solidFill>
                  <a:srgbClr val="161616"/>
                </a:solidFill>
                <a:effectLst/>
                <a:latin typeface="Segoe UI" panose="020B0502040204020203" pitchFamily="34" charset="0"/>
              </a:rPr>
              <a:t>onde puede agregar o modificar consultas, administrar consultas agrupando o agregando descripciones a pasos de consulta, o visualizando las consultas y su estructura con vistas diferentes.</a:t>
            </a:r>
            <a:endParaRPr lang="en-US" dirty="0"/>
          </a:p>
        </p:txBody>
      </p:sp>
      <p:pic>
        <p:nvPicPr>
          <p:cNvPr id="11" name="Imagen 10">
            <a:extLst>
              <a:ext uri="{FF2B5EF4-FFF2-40B4-BE49-F238E27FC236}">
                <a16:creationId xmlns:a16="http://schemas.microsoft.com/office/drawing/2014/main" id="{8B276884-4DE8-4F71-86B1-111913F395B2}"/>
              </a:ext>
            </a:extLst>
          </p:cNvPr>
          <p:cNvPicPr>
            <a:picLocks noChangeAspect="1"/>
          </p:cNvPicPr>
          <p:nvPr/>
        </p:nvPicPr>
        <p:blipFill rotWithShape="1">
          <a:blip r:embed="rId2">
            <a:extLst>
              <a:ext uri="{28A0092B-C50C-407E-A947-70E740481C1C}">
                <a14:useLocalDpi xmlns:a14="http://schemas.microsoft.com/office/drawing/2010/main" val="0"/>
              </a:ext>
            </a:extLst>
          </a:blip>
          <a:srcRect b="6753"/>
          <a:stretch/>
        </p:blipFill>
        <p:spPr>
          <a:xfrm>
            <a:off x="0" y="2793373"/>
            <a:ext cx="9144000" cy="4041767"/>
          </a:xfrm>
          <a:prstGeom prst="rect">
            <a:avLst/>
          </a:prstGeom>
        </p:spPr>
      </p:pic>
      <p:sp>
        <p:nvSpPr>
          <p:cNvPr id="19" name="Rectángulo 18">
            <a:extLst>
              <a:ext uri="{FF2B5EF4-FFF2-40B4-BE49-F238E27FC236}">
                <a16:creationId xmlns:a16="http://schemas.microsoft.com/office/drawing/2014/main" id="{50E450EE-D6ED-4590-B89C-726AFA52FCAB}"/>
              </a:ext>
            </a:extLst>
          </p:cNvPr>
          <p:cNvSpPr/>
          <p:nvPr/>
        </p:nvSpPr>
        <p:spPr>
          <a:xfrm>
            <a:off x="3169920" y="2793373"/>
            <a:ext cx="248031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1A1A19"/>
                </a:solidFill>
                <a:latin typeface="Segoe UI" panose="020B0502040204020203" pitchFamily="34" charset="0"/>
                <a:cs typeface="Segoe UI" panose="020B0502040204020203" pitchFamily="34" charset="0"/>
              </a:rPr>
              <a:t>Cinta</a:t>
            </a:r>
            <a:r>
              <a:rPr lang="en-US" dirty="0">
                <a:solidFill>
                  <a:srgbClr val="1A1A19"/>
                </a:solidFill>
                <a:latin typeface="Segoe UI" panose="020B0502040204020203" pitchFamily="34" charset="0"/>
                <a:cs typeface="Segoe UI" panose="020B0502040204020203" pitchFamily="34" charset="0"/>
              </a:rPr>
              <a:t> de </a:t>
            </a:r>
            <a:r>
              <a:rPr lang="en-US" dirty="0" err="1">
                <a:solidFill>
                  <a:srgbClr val="1A1A19"/>
                </a:solidFill>
                <a:latin typeface="Segoe UI" panose="020B0502040204020203" pitchFamily="34" charset="0"/>
                <a:cs typeface="Segoe UI" panose="020B0502040204020203" pitchFamily="34" charset="0"/>
              </a:rPr>
              <a:t>Opciones</a:t>
            </a:r>
            <a:endParaRPr lang="en-US" dirty="0">
              <a:solidFill>
                <a:srgbClr val="1A1A19"/>
              </a:solidFill>
              <a:latin typeface="Segoe UI" panose="020B0502040204020203" pitchFamily="34" charset="0"/>
              <a:cs typeface="Segoe UI" panose="020B0502040204020203" pitchFamily="34" charset="0"/>
            </a:endParaRPr>
          </a:p>
        </p:txBody>
      </p:sp>
      <p:sp>
        <p:nvSpPr>
          <p:cNvPr id="20" name="Rectángulo 19">
            <a:extLst>
              <a:ext uri="{FF2B5EF4-FFF2-40B4-BE49-F238E27FC236}">
                <a16:creationId xmlns:a16="http://schemas.microsoft.com/office/drawing/2014/main" id="{D7A66A98-2340-4386-A39A-8D114F9147A4}"/>
              </a:ext>
            </a:extLst>
          </p:cNvPr>
          <p:cNvSpPr/>
          <p:nvPr/>
        </p:nvSpPr>
        <p:spPr>
          <a:xfrm>
            <a:off x="0" y="4943920"/>
            <a:ext cx="1337310" cy="613113"/>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A1A19"/>
                </a:solidFill>
                <a:latin typeface="Segoe UI" panose="020B0502040204020203" pitchFamily="34" charset="0"/>
                <a:cs typeface="Segoe UI" panose="020B0502040204020203" pitchFamily="34" charset="0"/>
              </a:rPr>
              <a:t>Panel de</a:t>
            </a:r>
          </a:p>
          <a:p>
            <a:pPr algn="ctr"/>
            <a:r>
              <a:rPr lang="en-US" dirty="0" err="1">
                <a:solidFill>
                  <a:srgbClr val="1A1A19"/>
                </a:solidFill>
                <a:latin typeface="Segoe UI" panose="020B0502040204020203" pitchFamily="34" charset="0"/>
                <a:cs typeface="Segoe UI" panose="020B0502040204020203" pitchFamily="34" charset="0"/>
              </a:rPr>
              <a:t>Consultas</a:t>
            </a:r>
            <a:endParaRPr lang="en-US" dirty="0">
              <a:solidFill>
                <a:srgbClr val="1A1A19"/>
              </a:solidFill>
              <a:latin typeface="Segoe UI" panose="020B0502040204020203" pitchFamily="34" charset="0"/>
              <a:cs typeface="Segoe UI" panose="020B0502040204020203" pitchFamily="34" charset="0"/>
            </a:endParaRPr>
          </a:p>
        </p:txBody>
      </p:sp>
      <p:sp>
        <p:nvSpPr>
          <p:cNvPr id="21" name="Rectángulo 20">
            <a:extLst>
              <a:ext uri="{FF2B5EF4-FFF2-40B4-BE49-F238E27FC236}">
                <a16:creationId xmlns:a16="http://schemas.microsoft.com/office/drawing/2014/main" id="{B4D7337C-118B-4BEB-86D9-80EFACD3B4EC}"/>
              </a:ext>
            </a:extLst>
          </p:cNvPr>
          <p:cNvSpPr/>
          <p:nvPr/>
        </p:nvSpPr>
        <p:spPr>
          <a:xfrm>
            <a:off x="3063240" y="4702010"/>
            <a:ext cx="2586990" cy="613113"/>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A1A19"/>
                </a:solidFill>
                <a:latin typeface="Segoe UI" panose="020B0502040204020203" pitchFamily="34" charset="0"/>
                <a:cs typeface="Segoe UI" panose="020B0502040204020203" pitchFamily="34" charset="0"/>
              </a:rPr>
              <a:t>Vista Actual</a:t>
            </a:r>
          </a:p>
        </p:txBody>
      </p:sp>
      <p:sp>
        <p:nvSpPr>
          <p:cNvPr id="22" name="Rectángulo 21">
            <a:extLst>
              <a:ext uri="{FF2B5EF4-FFF2-40B4-BE49-F238E27FC236}">
                <a16:creationId xmlns:a16="http://schemas.microsoft.com/office/drawing/2014/main" id="{8E03E8C3-4D42-420C-990B-3DB27A4CF3F1}"/>
              </a:ext>
            </a:extLst>
          </p:cNvPr>
          <p:cNvSpPr/>
          <p:nvPr/>
        </p:nvSpPr>
        <p:spPr>
          <a:xfrm>
            <a:off x="7376160" y="4351512"/>
            <a:ext cx="1889760" cy="613113"/>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1A1A19"/>
                </a:solidFill>
                <a:latin typeface="Segoe UI" panose="020B0502040204020203" pitchFamily="34" charset="0"/>
                <a:cs typeface="Segoe UI" panose="020B0502040204020203" pitchFamily="34" charset="0"/>
              </a:rPr>
              <a:t>Configuracion</a:t>
            </a:r>
            <a:r>
              <a:rPr lang="en-US" dirty="0">
                <a:solidFill>
                  <a:srgbClr val="1A1A19"/>
                </a:solidFill>
                <a:latin typeface="Segoe UI" panose="020B0502040204020203" pitchFamily="34" charset="0"/>
                <a:cs typeface="Segoe UI" panose="020B0502040204020203" pitchFamily="34" charset="0"/>
              </a:rPr>
              <a:t> de Consulta</a:t>
            </a:r>
          </a:p>
        </p:txBody>
      </p:sp>
    </p:spTree>
    <p:extLst>
      <p:ext uri="{BB962C8B-B14F-4D97-AF65-F5344CB8AC3E}">
        <p14:creationId xmlns:p14="http://schemas.microsoft.com/office/powerpoint/2010/main" val="402697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Deshacer cambios</a:t>
            </a:r>
          </a:p>
        </p:txBody>
      </p:sp>
      <p:sp>
        <p:nvSpPr>
          <p:cNvPr id="2" name="Rectángulo 1">
            <a:extLst>
              <a:ext uri="{FF2B5EF4-FFF2-40B4-BE49-F238E27FC236}">
                <a16:creationId xmlns:a16="http://schemas.microsoft.com/office/drawing/2014/main" id="{B29D78CB-D7EE-46A7-9670-853A2A98C759}"/>
              </a:ext>
            </a:extLst>
          </p:cNvPr>
          <p:cNvSpPr/>
          <p:nvPr/>
        </p:nvSpPr>
        <p:spPr>
          <a:xfrm>
            <a:off x="-148590" y="1051560"/>
            <a:ext cx="248031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A1A19"/>
                </a:solidFill>
                <a:latin typeface="Segoe UI" panose="020B0502040204020203" pitchFamily="34" charset="0"/>
                <a:cs typeface="Segoe UI" panose="020B0502040204020203" pitchFamily="34" charset="0"/>
              </a:rPr>
              <a:t>Power Query Editor</a:t>
            </a:r>
          </a:p>
        </p:txBody>
      </p:sp>
      <p:sp>
        <p:nvSpPr>
          <p:cNvPr id="16" name="CuadroTexto 15">
            <a:extLst>
              <a:ext uri="{FF2B5EF4-FFF2-40B4-BE49-F238E27FC236}">
                <a16:creationId xmlns:a16="http://schemas.microsoft.com/office/drawing/2014/main" id="{738FA3E6-F987-4223-8FB5-D149D52D3AC8}"/>
              </a:ext>
            </a:extLst>
          </p:cNvPr>
          <p:cNvSpPr txBox="1"/>
          <p:nvPr/>
        </p:nvSpPr>
        <p:spPr>
          <a:xfrm>
            <a:off x="0" y="1607523"/>
            <a:ext cx="8983980" cy="646331"/>
          </a:xfrm>
          <a:prstGeom prst="rect">
            <a:avLst/>
          </a:prstGeom>
          <a:noFill/>
        </p:spPr>
        <p:txBody>
          <a:bodyPr wrap="square">
            <a:spAutoFit/>
          </a:bodyPr>
          <a:lstStyle/>
          <a:p>
            <a:r>
              <a:rPr lang="es-ES" dirty="0">
                <a:solidFill>
                  <a:srgbClr val="161616"/>
                </a:solidFill>
                <a:latin typeface="Segoe UI" panose="020B0502040204020203" pitchFamily="34" charset="0"/>
              </a:rPr>
              <a:t>En </a:t>
            </a:r>
            <a:r>
              <a:rPr lang="es-ES" dirty="0" err="1">
                <a:solidFill>
                  <a:srgbClr val="161616"/>
                </a:solidFill>
                <a:latin typeface="Segoe UI" panose="020B0502040204020203" pitchFamily="34" charset="0"/>
              </a:rPr>
              <a:t>Power</a:t>
            </a:r>
            <a:r>
              <a:rPr lang="es-ES" dirty="0">
                <a:solidFill>
                  <a:srgbClr val="161616"/>
                </a:solidFill>
                <a:latin typeface="Segoe UI" panose="020B0502040204020203" pitchFamily="34" charset="0"/>
              </a:rPr>
              <a:t> </a:t>
            </a:r>
            <a:r>
              <a:rPr lang="es-ES" dirty="0" err="1">
                <a:solidFill>
                  <a:srgbClr val="161616"/>
                </a:solidFill>
                <a:latin typeface="Segoe UI" panose="020B0502040204020203" pitchFamily="34" charset="0"/>
              </a:rPr>
              <a:t>Query</a:t>
            </a:r>
            <a:r>
              <a:rPr lang="es-ES" dirty="0">
                <a:solidFill>
                  <a:srgbClr val="161616"/>
                </a:solidFill>
                <a:latin typeface="Segoe UI" panose="020B0502040204020203" pitchFamily="34" charset="0"/>
              </a:rPr>
              <a:t> editor no se tiene la función de deshacer, sin embargo podemos eliminar el paso creado para ejecutarlo de nuevo</a:t>
            </a:r>
            <a:endParaRPr lang="en-US" dirty="0"/>
          </a:p>
        </p:txBody>
      </p:sp>
      <p:pic>
        <p:nvPicPr>
          <p:cNvPr id="6" name="Imagen 5">
            <a:extLst>
              <a:ext uri="{FF2B5EF4-FFF2-40B4-BE49-F238E27FC236}">
                <a16:creationId xmlns:a16="http://schemas.microsoft.com/office/drawing/2014/main" id="{2AE2070C-7587-47A2-917D-EE1757B5B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6697" y="3187862"/>
            <a:ext cx="4010585" cy="2219635"/>
          </a:xfrm>
          <a:prstGeom prst="rect">
            <a:avLst/>
          </a:prstGeom>
        </p:spPr>
      </p:pic>
    </p:spTree>
    <p:extLst>
      <p:ext uri="{BB962C8B-B14F-4D97-AF65-F5344CB8AC3E}">
        <p14:creationId xmlns:p14="http://schemas.microsoft.com/office/powerpoint/2010/main" val="1423650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Deshacer cambios</a:t>
            </a:r>
          </a:p>
        </p:txBody>
      </p:sp>
      <p:sp>
        <p:nvSpPr>
          <p:cNvPr id="2" name="Rectángulo 1">
            <a:extLst>
              <a:ext uri="{FF2B5EF4-FFF2-40B4-BE49-F238E27FC236}">
                <a16:creationId xmlns:a16="http://schemas.microsoft.com/office/drawing/2014/main" id="{B29D78CB-D7EE-46A7-9670-853A2A98C759}"/>
              </a:ext>
            </a:extLst>
          </p:cNvPr>
          <p:cNvSpPr/>
          <p:nvPr/>
        </p:nvSpPr>
        <p:spPr>
          <a:xfrm>
            <a:off x="-148590" y="1051560"/>
            <a:ext cx="248031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A1A19"/>
                </a:solidFill>
                <a:latin typeface="Segoe UI" panose="020B0502040204020203" pitchFamily="34" charset="0"/>
                <a:cs typeface="Segoe UI" panose="020B0502040204020203" pitchFamily="34" charset="0"/>
              </a:rPr>
              <a:t>Power Query Editor</a:t>
            </a:r>
          </a:p>
        </p:txBody>
      </p:sp>
      <p:sp>
        <p:nvSpPr>
          <p:cNvPr id="16" name="CuadroTexto 15">
            <a:extLst>
              <a:ext uri="{FF2B5EF4-FFF2-40B4-BE49-F238E27FC236}">
                <a16:creationId xmlns:a16="http://schemas.microsoft.com/office/drawing/2014/main" id="{738FA3E6-F987-4223-8FB5-D149D52D3AC8}"/>
              </a:ext>
            </a:extLst>
          </p:cNvPr>
          <p:cNvSpPr txBox="1"/>
          <p:nvPr/>
        </p:nvSpPr>
        <p:spPr>
          <a:xfrm>
            <a:off x="0" y="1607523"/>
            <a:ext cx="8983980" cy="646331"/>
          </a:xfrm>
          <a:prstGeom prst="rect">
            <a:avLst/>
          </a:prstGeom>
          <a:noFill/>
        </p:spPr>
        <p:txBody>
          <a:bodyPr wrap="square">
            <a:spAutoFit/>
          </a:bodyPr>
          <a:lstStyle/>
          <a:p>
            <a:r>
              <a:rPr lang="es-ES" dirty="0">
                <a:solidFill>
                  <a:srgbClr val="161616"/>
                </a:solidFill>
                <a:latin typeface="Segoe UI" panose="020B0502040204020203" pitchFamily="34" charset="0"/>
              </a:rPr>
              <a:t>En </a:t>
            </a:r>
            <a:r>
              <a:rPr lang="es-ES" dirty="0" err="1">
                <a:solidFill>
                  <a:srgbClr val="161616"/>
                </a:solidFill>
                <a:latin typeface="Segoe UI" panose="020B0502040204020203" pitchFamily="34" charset="0"/>
              </a:rPr>
              <a:t>Power</a:t>
            </a:r>
            <a:r>
              <a:rPr lang="es-ES" dirty="0">
                <a:solidFill>
                  <a:srgbClr val="161616"/>
                </a:solidFill>
                <a:latin typeface="Segoe UI" panose="020B0502040204020203" pitchFamily="34" charset="0"/>
              </a:rPr>
              <a:t> </a:t>
            </a:r>
            <a:r>
              <a:rPr lang="es-ES" dirty="0" err="1">
                <a:solidFill>
                  <a:srgbClr val="161616"/>
                </a:solidFill>
                <a:latin typeface="Segoe UI" panose="020B0502040204020203" pitchFamily="34" charset="0"/>
              </a:rPr>
              <a:t>Query</a:t>
            </a:r>
            <a:r>
              <a:rPr lang="es-ES" dirty="0">
                <a:solidFill>
                  <a:srgbClr val="161616"/>
                </a:solidFill>
                <a:latin typeface="Segoe UI" panose="020B0502040204020203" pitchFamily="34" charset="0"/>
              </a:rPr>
              <a:t> editor no se tiene la función de deshacer, sin embargo podemos eliminar el paso creado para ejecutarlo de nuevo</a:t>
            </a:r>
            <a:endParaRPr lang="en-US" dirty="0"/>
          </a:p>
        </p:txBody>
      </p:sp>
      <p:pic>
        <p:nvPicPr>
          <p:cNvPr id="6" name="Imagen 5">
            <a:extLst>
              <a:ext uri="{FF2B5EF4-FFF2-40B4-BE49-F238E27FC236}">
                <a16:creationId xmlns:a16="http://schemas.microsoft.com/office/drawing/2014/main" id="{2AE2070C-7587-47A2-917D-EE1757B5B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6697" y="3187862"/>
            <a:ext cx="4010585" cy="2219635"/>
          </a:xfrm>
          <a:prstGeom prst="rect">
            <a:avLst/>
          </a:prstGeom>
        </p:spPr>
      </p:pic>
    </p:spTree>
    <p:extLst>
      <p:ext uri="{BB962C8B-B14F-4D97-AF65-F5344CB8AC3E}">
        <p14:creationId xmlns:p14="http://schemas.microsoft.com/office/powerpoint/2010/main" val="137860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s-MX" sz="4800" dirty="0" err="1">
                <a:solidFill>
                  <a:schemeClr val="bg1">
                    <a:lumMod val="95000"/>
                  </a:schemeClr>
                </a:solidFill>
                <a:latin typeface="Segoe UI" panose="020B0502040204020203" pitchFamily="34" charset="0"/>
                <a:cs typeface="Segoe UI" panose="020B0502040204020203" pitchFamily="34" charset="0"/>
              </a:rPr>
              <a:t>Transformacion</a:t>
            </a:r>
            <a:r>
              <a:rPr lang="es-MX" sz="4800" dirty="0">
                <a:solidFill>
                  <a:schemeClr val="bg1">
                    <a:lumMod val="95000"/>
                  </a:schemeClr>
                </a:solidFill>
                <a:latin typeface="Segoe UI" panose="020B0502040204020203" pitchFamily="34" charset="0"/>
                <a:cs typeface="Segoe UI" panose="020B0502040204020203" pitchFamily="34" charset="0"/>
              </a:rPr>
              <a:t> de datos</a:t>
            </a:r>
          </a:p>
        </p:txBody>
      </p:sp>
      <p:sp>
        <p:nvSpPr>
          <p:cNvPr id="2" name="Rectángulo 1">
            <a:extLst>
              <a:ext uri="{FF2B5EF4-FFF2-40B4-BE49-F238E27FC236}">
                <a16:creationId xmlns:a16="http://schemas.microsoft.com/office/drawing/2014/main" id="{B29D78CB-D7EE-46A7-9670-853A2A98C759}"/>
              </a:ext>
            </a:extLst>
          </p:cNvPr>
          <p:cNvSpPr/>
          <p:nvPr/>
        </p:nvSpPr>
        <p:spPr>
          <a:xfrm>
            <a:off x="-71124" y="1051560"/>
            <a:ext cx="248031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A1A19"/>
                </a:solidFill>
                <a:latin typeface="Segoe UI" panose="020B0502040204020203" pitchFamily="34" charset="0"/>
                <a:cs typeface="Segoe UI" panose="020B0502040204020203" pitchFamily="34" charset="0"/>
              </a:rPr>
              <a:t>Power Query Editor</a:t>
            </a:r>
          </a:p>
        </p:txBody>
      </p:sp>
      <p:sp>
        <p:nvSpPr>
          <p:cNvPr id="16" name="CuadroTexto 15">
            <a:extLst>
              <a:ext uri="{FF2B5EF4-FFF2-40B4-BE49-F238E27FC236}">
                <a16:creationId xmlns:a16="http://schemas.microsoft.com/office/drawing/2014/main" id="{738FA3E6-F987-4223-8FB5-D149D52D3AC8}"/>
              </a:ext>
            </a:extLst>
          </p:cNvPr>
          <p:cNvSpPr txBox="1"/>
          <p:nvPr/>
        </p:nvSpPr>
        <p:spPr>
          <a:xfrm>
            <a:off x="0" y="1607523"/>
            <a:ext cx="8983980" cy="923330"/>
          </a:xfrm>
          <a:prstGeom prst="rect">
            <a:avLst/>
          </a:prstGeom>
          <a:noFill/>
        </p:spPr>
        <p:txBody>
          <a:bodyPr wrap="square">
            <a:spAutoFit/>
          </a:bodyPr>
          <a:lstStyle/>
          <a:p>
            <a:r>
              <a:rPr lang="es-ES" dirty="0">
                <a:solidFill>
                  <a:srgbClr val="161616"/>
                </a:solidFill>
                <a:latin typeface="Segoe UI" panose="020B0502040204020203" pitchFamily="34" charset="0"/>
              </a:rPr>
              <a:t>Las transformaciones de los datos se mostrarán en la lista Pasos aplicados . Por ejemplo, si cambia el nombre de la primera columna, se mostrará en la lista Pasos aplicados como Columnas con nombre cambiado.</a:t>
            </a:r>
            <a:endParaRPr lang="en-US" dirty="0"/>
          </a:p>
        </p:txBody>
      </p:sp>
      <p:pic>
        <p:nvPicPr>
          <p:cNvPr id="4" name="Imagen 3">
            <a:extLst>
              <a:ext uri="{FF2B5EF4-FFF2-40B4-BE49-F238E27FC236}">
                <a16:creationId xmlns:a16="http://schemas.microsoft.com/office/drawing/2014/main" id="{3149B62B-F643-419A-AF84-84B36A0F0B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37" y="3086816"/>
            <a:ext cx="9272273" cy="3108244"/>
          </a:xfrm>
          <a:prstGeom prst="rect">
            <a:avLst/>
          </a:prstGeom>
        </p:spPr>
      </p:pic>
    </p:spTree>
    <p:extLst>
      <p:ext uri="{BB962C8B-B14F-4D97-AF65-F5344CB8AC3E}">
        <p14:creationId xmlns:p14="http://schemas.microsoft.com/office/powerpoint/2010/main" val="4055819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s-MX" sz="4800" dirty="0" err="1">
                <a:solidFill>
                  <a:schemeClr val="bg1">
                    <a:lumMod val="95000"/>
                  </a:schemeClr>
                </a:solidFill>
                <a:latin typeface="Segoe UI" panose="020B0502040204020203" pitchFamily="34" charset="0"/>
                <a:cs typeface="Segoe UI" panose="020B0502040204020203" pitchFamily="34" charset="0"/>
              </a:rPr>
              <a:t>Power</a:t>
            </a:r>
            <a:r>
              <a:rPr lang="es-MX" sz="4800" dirty="0">
                <a:solidFill>
                  <a:schemeClr val="bg1">
                    <a:lumMod val="95000"/>
                  </a:schemeClr>
                </a:solidFill>
                <a:latin typeface="Segoe UI" panose="020B0502040204020203" pitchFamily="34" charset="0"/>
                <a:cs typeface="Segoe UI" panose="020B0502040204020203" pitchFamily="34" charset="0"/>
              </a:rPr>
              <a:t> </a:t>
            </a:r>
            <a:r>
              <a:rPr lang="es-MX" sz="4800" dirty="0" err="1">
                <a:solidFill>
                  <a:schemeClr val="bg1">
                    <a:lumMod val="95000"/>
                  </a:schemeClr>
                </a:solidFill>
                <a:latin typeface="Segoe UI" panose="020B0502040204020203" pitchFamily="34" charset="0"/>
                <a:cs typeface="Segoe UI" panose="020B0502040204020203" pitchFamily="34" charset="0"/>
              </a:rPr>
              <a:t>Query</a:t>
            </a:r>
            <a:r>
              <a:rPr lang="es-MX" sz="4800" dirty="0">
                <a:solidFill>
                  <a:schemeClr val="bg1">
                    <a:lumMod val="95000"/>
                  </a:schemeClr>
                </a:solidFill>
                <a:latin typeface="Segoe UI" panose="020B0502040204020203" pitchFamily="34" charset="0"/>
                <a:cs typeface="Segoe UI" panose="020B0502040204020203" pitchFamily="34" charset="0"/>
              </a:rPr>
              <a:t> M</a:t>
            </a:r>
          </a:p>
        </p:txBody>
      </p:sp>
      <p:sp>
        <p:nvSpPr>
          <p:cNvPr id="2" name="Rectángulo 1">
            <a:extLst>
              <a:ext uri="{FF2B5EF4-FFF2-40B4-BE49-F238E27FC236}">
                <a16:creationId xmlns:a16="http://schemas.microsoft.com/office/drawing/2014/main" id="{B29D78CB-D7EE-46A7-9670-853A2A98C759}"/>
              </a:ext>
            </a:extLst>
          </p:cNvPr>
          <p:cNvSpPr/>
          <p:nvPr/>
        </p:nvSpPr>
        <p:spPr>
          <a:xfrm>
            <a:off x="-148590" y="1051560"/>
            <a:ext cx="248031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A1A19"/>
                </a:solidFill>
                <a:latin typeface="Segoe UI" panose="020B0502040204020203" pitchFamily="34" charset="0"/>
                <a:cs typeface="Segoe UI" panose="020B0502040204020203" pitchFamily="34" charset="0"/>
              </a:rPr>
              <a:t>Power Query Editor</a:t>
            </a:r>
          </a:p>
        </p:txBody>
      </p:sp>
      <p:sp>
        <p:nvSpPr>
          <p:cNvPr id="16" name="CuadroTexto 15">
            <a:extLst>
              <a:ext uri="{FF2B5EF4-FFF2-40B4-BE49-F238E27FC236}">
                <a16:creationId xmlns:a16="http://schemas.microsoft.com/office/drawing/2014/main" id="{738FA3E6-F987-4223-8FB5-D149D52D3AC8}"/>
              </a:ext>
            </a:extLst>
          </p:cNvPr>
          <p:cNvSpPr txBox="1"/>
          <p:nvPr/>
        </p:nvSpPr>
        <p:spPr>
          <a:xfrm>
            <a:off x="57150" y="1573233"/>
            <a:ext cx="8983980" cy="2031325"/>
          </a:xfrm>
          <a:prstGeom prst="rect">
            <a:avLst/>
          </a:prstGeom>
          <a:noFill/>
        </p:spPr>
        <p:txBody>
          <a:bodyPr wrap="square">
            <a:spAutoFit/>
          </a:bodyPr>
          <a:lstStyle/>
          <a:p>
            <a:r>
              <a:rPr lang="es-ES" dirty="0">
                <a:solidFill>
                  <a:srgbClr val="161616"/>
                </a:solidFill>
                <a:latin typeface="Segoe UI" panose="020B0502040204020203" pitchFamily="34" charset="0"/>
              </a:rPr>
              <a:t>Cualquier consulta, ya sea creada por </a:t>
            </a:r>
            <a:r>
              <a:rPr lang="es-ES" dirty="0" err="1">
                <a:solidFill>
                  <a:srgbClr val="161616"/>
                </a:solidFill>
                <a:latin typeface="Segoe UI" panose="020B0502040204020203" pitchFamily="34" charset="0"/>
              </a:rPr>
              <a:t>Power</a:t>
            </a:r>
            <a:r>
              <a:rPr lang="es-ES" dirty="0">
                <a:solidFill>
                  <a:srgbClr val="161616"/>
                </a:solidFill>
                <a:latin typeface="Segoe UI" panose="020B0502040204020203" pitchFamily="34" charset="0"/>
              </a:rPr>
              <a:t> </a:t>
            </a:r>
            <a:r>
              <a:rPr lang="es-ES" dirty="0" err="1">
                <a:solidFill>
                  <a:srgbClr val="161616"/>
                </a:solidFill>
                <a:latin typeface="Segoe UI" panose="020B0502040204020203" pitchFamily="34" charset="0"/>
              </a:rPr>
              <a:t>Query</a:t>
            </a:r>
            <a:r>
              <a:rPr lang="es-ES" dirty="0">
                <a:solidFill>
                  <a:srgbClr val="161616"/>
                </a:solidFill>
                <a:latin typeface="Segoe UI" panose="020B0502040204020203" pitchFamily="34" charset="0"/>
              </a:rPr>
              <a:t>, escrita manualmente por usted en el editor avanzado o escrita mediante un documento en blanco, consta de funciones y sintaxis </a:t>
            </a:r>
            <a:r>
              <a:rPr lang="es-ES" b="1" dirty="0">
                <a:solidFill>
                  <a:srgbClr val="161616"/>
                </a:solidFill>
                <a:latin typeface="Segoe UI" panose="020B0502040204020203" pitchFamily="34" charset="0"/>
              </a:rPr>
              <a:t>del lenguaje de fórmulas M de </a:t>
            </a:r>
            <a:r>
              <a:rPr lang="es-ES" b="1" dirty="0" err="1">
                <a:solidFill>
                  <a:srgbClr val="161616"/>
                </a:solidFill>
                <a:latin typeface="Segoe UI" panose="020B0502040204020203" pitchFamily="34" charset="0"/>
              </a:rPr>
              <a:t>Power</a:t>
            </a:r>
            <a:r>
              <a:rPr lang="es-ES" b="1" dirty="0">
                <a:solidFill>
                  <a:srgbClr val="161616"/>
                </a:solidFill>
                <a:latin typeface="Segoe UI" panose="020B0502040204020203" pitchFamily="34" charset="0"/>
              </a:rPr>
              <a:t> </a:t>
            </a:r>
            <a:r>
              <a:rPr lang="es-ES" b="1" dirty="0" err="1">
                <a:solidFill>
                  <a:srgbClr val="161616"/>
                </a:solidFill>
                <a:latin typeface="Segoe UI" panose="020B0502040204020203" pitchFamily="34" charset="0"/>
              </a:rPr>
              <a:t>Query</a:t>
            </a:r>
            <a:r>
              <a:rPr lang="es-ES" b="1" dirty="0">
                <a:solidFill>
                  <a:srgbClr val="161616"/>
                </a:solidFill>
                <a:latin typeface="Segoe UI" panose="020B0502040204020203" pitchFamily="34" charset="0"/>
              </a:rPr>
              <a:t>. </a:t>
            </a:r>
          </a:p>
          <a:p>
            <a:endParaRPr lang="es-ES" b="1" dirty="0">
              <a:solidFill>
                <a:srgbClr val="161616"/>
              </a:solidFill>
              <a:latin typeface="Segoe UI" panose="020B0502040204020203" pitchFamily="34" charset="0"/>
            </a:endParaRPr>
          </a:p>
          <a:p>
            <a:r>
              <a:rPr lang="es-ES" dirty="0">
                <a:solidFill>
                  <a:srgbClr val="161616"/>
                </a:solidFill>
                <a:latin typeface="Segoe UI" panose="020B0502040204020203" pitchFamily="34" charset="0"/>
              </a:rPr>
              <a:t>Esta consulta se interpreta y evalúa por el motor de </a:t>
            </a:r>
            <a:r>
              <a:rPr lang="es-ES" dirty="0" err="1">
                <a:solidFill>
                  <a:srgbClr val="161616"/>
                </a:solidFill>
                <a:latin typeface="Segoe UI" panose="020B0502040204020203" pitchFamily="34" charset="0"/>
              </a:rPr>
              <a:t>Power</a:t>
            </a:r>
            <a:r>
              <a:rPr lang="es-ES" dirty="0">
                <a:solidFill>
                  <a:srgbClr val="161616"/>
                </a:solidFill>
                <a:latin typeface="Segoe UI" panose="020B0502040204020203" pitchFamily="34" charset="0"/>
              </a:rPr>
              <a:t> </a:t>
            </a:r>
            <a:r>
              <a:rPr lang="es-ES" dirty="0" err="1">
                <a:solidFill>
                  <a:srgbClr val="161616"/>
                </a:solidFill>
                <a:latin typeface="Segoe UI" panose="020B0502040204020203" pitchFamily="34" charset="0"/>
              </a:rPr>
              <a:t>Query</a:t>
            </a:r>
            <a:r>
              <a:rPr lang="es-ES" dirty="0">
                <a:solidFill>
                  <a:srgbClr val="161616"/>
                </a:solidFill>
                <a:latin typeface="Segoe UI" panose="020B0502040204020203" pitchFamily="34" charset="0"/>
              </a:rPr>
              <a:t> para generar sus resultados. El script M actúa como conjunto de instrucciones necesarias para evaluar la consulta.</a:t>
            </a:r>
            <a:endParaRPr lang="en-US" dirty="0"/>
          </a:p>
        </p:txBody>
      </p:sp>
      <p:pic>
        <p:nvPicPr>
          <p:cNvPr id="4" name="Imagen 3">
            <a:extLst>
              <a:ext uri="{FF2B5EF4-FFF2-40B4-BE49-F238E27FC236}">
                <a16:creationId xmlns:a16="http://schemas.microsoft.com/office/drawing/2014/main" id="{3FECD8D6-C5E8-4D5C-8895-CDC4FBC024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17" y="3593128"/>
            <a:ext cx="8704046" cy="3030119"/>
          </a:xfrm>
          <a:prstGeom prst="rect">
            <a:avLst/>
          </a:prstGeom>
        </p:spPr>
      </p:pic>
    </p:spTree>
    <p:extLst>
      <p:ext uri="{BB962C8B-B14F-4D97-AF65-F5344CB8AC3E}">
        <p14:creationId xmlns:p14="http://schemas.microsoft.com/office/powerpoint/2010/main" val="3477900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s-MX" sz="4800" dirty="0" err="1">
                <a:solidFill>
                  <a:schemeClr val="bg1">
                    <a:lumMod val="95000"/>
                  </a:schemeClr>
                </a:solidFill>
                <a:latin typeface="Segoe UI" panose="020B0502040204020203" pitchFamily="34" charset="0"/>
                <a:cs typeface="Segoe UI" panose="020B0502040204020203" pitchFamily="34" charset="0"/>
              </a:rPr>
              <a:t>Power</a:t>
            </a:r>
            <a:r>
              <a:rPr lang="es-MX" sz="4800" dirty="0">
                <a:solidFill>
                  <a:schemeClr val="bg1">
                    <a:lumMod val="95000"/>
                  </a:schemeClr>
                </a:solidFill>
                <a:latin typeface="Segoe UI" panose="020B0502040204020203" pitchFamily="34" charset="0"/>
                <a:cs typeface="Segoe UI" panose="020B0502040204020203" pitchFamily="34" charset="0"/>
              </a:rPr>
              <a:t> </a:t>
            </a:r>
            <a:r>
              <a:rPr lang="es-MX" sz="4800" dirty="0" err="1">
                <a:solidFill>
                  <a:schemeClr val="bg1">
                    <a:lumMod val="95000"/>
                  </a:schemeClr>
                </a:solidFill>
                <a:latin typeface="Segoe UI" panose="020B0502040204020203" pitchFamily="34" charset="0"/>
                <a:cs typeface="Segoe UI" panose="020B0502040204020203" pitchFamily="34" charset="0"/>
              </a:rPr>
              <a:t>Query</a:t>
            </a:r>
            <a:r>
              <a:rPr lang="es-MX" sz="4800" dirty="0">
                <a:solidFill>
                  <a:schemeClr val="bg1">
                    <a:lumMod val="95000"/>
                  </a:schemeClr>
                </a:solidFill>
                <a:latin typeface="Segoe UI" panose="020B0502040204020203" pitchFamily="34" charset="0"/>
                <a:cs typeface="Segoe UI" panose="020B0502040204020203" pitchFamily="34" charset="0"/>
              </a:rPr>
              <a:t> M</a:t>
            </a:r>
          </a:p>
        </p:txBody>
      </p:sp>
      <p:sp>
        <p:nvSpPr>
          <p:cNvPr id="2" name="Rectángulo 1">
            <a:extLst>
              <a:ext uri="{FF2B5EF4-FFF2-40B4-BE49-F238E27FC236}">
                <a16:creationId xmlns:a16="http://schemas.microsoft.com/office/drawing/2014/main" id="{B29D78CB-D7EE-46A7-9670-853A2A98C759}"/>
              </a:ext>
            </a:extLst>
          </p:cNvPr>
          <p:cNvSpPr/>
          <p:nvPr/>
        </p:nvSpPr>
        <p:spPr>
          <a:xfrm>
            <a:off x="-148590" y="1051560"/>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A1A19"/>
                </a:solidFill>
                <a:latin typeface="Segoe UI" panose="020B0502040204020203" pitchFamily="34" charset="0"/>
                <a:cs typeface="Segoe UI" panose="020B0502040204020203" pitchFamily="34" charset="0"/>
              </a:rPr>
              <a:t>Power Query Editor</a:t>
            </a:r>
          </a:p>
        </p:txBody>
      </p:sp>
      <p:sp>
        <p:nvSpPr>
          <p:cNvPr id="16" name="CuadroTexto 15">
            <a:extLst>
              <a:ext uri="{FF2B5EF4-FFF2-40B4-BE49-F238E27FC236}">
                <a16:creationId xmlns:a16="http://schemas.microsoft.com/office/drawing/2014/main" id="{738FA3E6-F987-4223-8FB5-D149D52D3AC8}"/>
              </a:ext>
            </a:extLst>
          </p:cNvPr>
          <p:cNvSpPr txBox="1"/>
          <p:nvPr/>
        </p:nvSpPr>
        <p:spPr>
          <a:xfrm>
            <a:off x="57150" y="1561803"/>
            <a:ext cx="8983980" cy="2031325"/>
          </a:xfrm>
          <a:prstGeom prst="rect">
            <a:avLst/>
          </a:prstGeom>
          <a:noFill/>
        </p:spPr>
        <p:txBody>
          <a:bodyPr wrap="square">
            <a:spAutoFit/>
          </a:bodyPr>
          <a:lstStyle/>
          <a:p>
            <a:r>
              <a:rPr lang="es-ES" dirty="0">
                <a:solidFill>
                  <a:srgbClr val="161616"/>
                </a:solidFill>
                <a:latin typeface="Segoe UI" panose="020B0502040204020203" pitchFamily="34" charset="0"/>
              </a:rPr>
              <a:t>Cualquier consulta, ya sea creada por </a:t>
            </a:r>
            <a:r>
              <a:rPr lang="es-ES" dirty="0" err="1">
                <a:solidFill>
                  <a:srgbClr val="161616"/>
                </a:solidFill>
                <a:latin typeface="Segoe UI" panose="020B0502040204020203" pitchFamily="34" charset="0"/>
              </a:rPr>
              <a:t>Power</a:t>
            </a:r>
            <a:r>
              <a:rPr lang="es-ES" dirty="0">
                <a:solidFill>
                  <a:srgbClr val="161616"/>
                </a:solidFill>
                <a:latin typeface="Segoe UI" panose="020B0502040204020203" pitchFamily="34" charset="0"/>
              </a:rPr>
              <a:t> </a:t>
            </a:r>
            <a:r>
              <a:rPr lang="es-ES" dirty="0" err="1">
                <a:solidFill>
                  <a:srgbClr val="161616"/>
                </a:solidFill>
                <a:latin typeface="Segoe UI" panose="020B0502040204020203" pitchFamily="34" charset="0"/>
              </a:rPr>
              <a:t>Query</a:t>
            </a:r>
            <a:r>
              <a:rPr lang="es-ES" dirty="0">
                <a:solidFill>
                  <a:srgbClr val="161616"/>
                </a:solidFill>
                <a:latin typeface="Segoe UI" panose="020B0502040204020203" pitchFamily="34" charset="0"/>
              </a:rPr>
              <a:t>, escrita manualmente por usted en el editor avanzado o escrita mediante un documento en blanco, consta de funciones y sintaxis </a:t>
            </a:r>
            <a:r>
              <a:rPr lang="es-ES" b="1" dirty="0">
                <a:solidFill>
                  <a:srgbClr val="161616"/>
                </a:solidFill>
                <a:latin typeface="Segoe UI" panose="020B0502040204020203" pitchFamily="34" charset="0"/>
              </a:rPr>
              <a:t>del lenguaje de fórmulas M </a:t>
            </a:r>
            <a:r>
              <a:rPr lang="es-ES" dirty="0">
                <a:solidFill>
                  <a:srgbClr val="161616"/>
                </a:solidFill>
                <a:latin typeface="Segoe UI" panose="020B0502040204020203" pitchFamily="34" charset="0"/>
              </a:rPr>
              <a:t>de</a:t>
            </a:r>
            <a:r>
              <a:rPr lang="es-ES" b="1" dirty="0">
                <a:solidFill>
                  <a:srgbClr val="161616"/>
                </a:solidFill>
                <a:latin typeface="Segoe UI" panose="020B0502040204020203" pitchFamily="34" charset="0"/>
              </a:rPr>
              <a:t> </a:t>
            </a:r>
            <a:r>
              <a:rPr lang="es-ES" b="1" dirty="0" err="1">
                <a:solidFill>
                  <a:srgbClr val="161616"/>
                </a:solidFill>
                <a:latin typeface="Segoe UI" panose="020B0502040204020203" pitchFamily="34" charset="0"/>
              </a:rPr>
              <a:t>Power</a:t>
            </a:r>
            <a:r>
              <a:rPr lang="es-ES" b="1" dirty="0">
                <a:solidFill>
                  <a:srgbClr val="161616"/>
                </a:solidFill>
                <a:latin typeface="Segoe UI" panose="020B0502040204020203" pitchFamily="34" charset="0"/>
              </a:rPr>
              <a:t> </a:t>
            </a:r>
            <a:r>
              <a:rPr lang="es-ES" b="1" dirty="0" err="1">
                <a:solidFill>
                  <a:srgbClr val="161616"/>
                </a:solidFill>
                <a:latin typeface="Segoe UI" panose="020B0502040204020203" pitchFamily="34" charset="0"/>
              </a:rPr>
              <a:t>Query</a:t>
            </a:r>
            <a:r>
              <a:rPr lang="es-ES" b="1" dirty="0">
                <a:solidFill>
                  <a:srgbClr val="161616"/>
                </a:solidFill>
                <a:latin typeface="Segoe UI" panose="020B0502040204020203" pitchFamily="34" charset="0"/>
              </a:rPr>
              <a:t>. </a:t>
            </a:r>
          </a:p>
          <a:p>
            <a:endParaRPr lang="es-ES" b="1" dirty="0">
              <a:solidFill>
                <a:srgbClr val="161616"/>
              </a:solidFill>
              <a:latin typeface="Segoe UI" panose="020B0502040204020203" pitchFamily="34" charset="0"/>
            </a:endParaRPr>
          </a:p>
          <a:p>
            <a:r>
              <a:rPr lang="es-ES" dirty="0">
                <a:solidFill>
                  <a:srgbClr val="161616"/>
                </a:solidFill>
                <a:latin typeface="Segoe UI" panose="020B0502040204020203" pitchFamily="34" charset="0"/>
              </a:rPr>
              <a:t>Esta consulta se interpreta y evalúa por el motor de </a:t>
            </a:r>
            <a:r>
              <a:rPr lang="es-ES" dirty="0" err="1">
                <a:solidFill>
                  <a:srgbClr val="161616"/>
                </a:solidFill>
                <a:latin typeface="Segoe UI" panose="020B0502040204020203" pitchFamily="34" charset="0"/>
              </a:rPr>
              <a:t>Power</a:t>
            </a:r>
            <a:r>
              <a:rPr lang="es-ES" dirty="0">
                <a:solidFill>
                  <a:srgbClr val="161616"/>
                </a:solidFill>
                <a:latin typeface="Segoe UI" panose="020B0502040204020203" pitchFamily="34" charset="0"/>
              </a:rPr>
              <a:t> </a:t>
            </a:r>
            <a:r>
              <a:rPr lang="es-ES" dirty="0" err="1">
                <a:solidFill>
                  <a:srgbClr val="161616"/>
                </a:solidFill>
                <a:latin typeface="Segoe UI" panose="020B0502040204020203" pitchFamily="34" charset="0"/>
              </a:rPr>
              <a:t>Query</a:t>
            </a:r>
            <a:r>
              <a:rPr lang="es-ES" dirty="0">
                <a:solidFill>
                  <a:srgbClr val="161616"/>
                </a:solidFill>
                <a:latin typeface="Segoe UI" panose="020B0502040204020203" pitchFamily="34" charset="0"/>
              </a:rPr>
              <a:t> para generar sus resultados. El script M actúa como conjunto de instrucciones necesarias para evaluar la consulta.</a:t>
            </a:r>
            <a:endParaRPr lang="en-US" dirty="0"/>
          </a:p>
        </p:txBody>
      </p:sp>
      <p:pic>
        <p:nvPicPr>
          <p:cNvPr id="4" name="Imagen 3">
            <a:extLst>
              <a:ext uri="{FF2B5EF4-FFF2-40B4-BE49-F238E27FC236}">
                <a16:creationId xmlns:a16="http://schemas.microsoft.com/office/drawing/2014/main" id="{3FECD8D6-C5E8-4D5C-8895-CDC4FBC024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17" y="3593128"/>
            <a:ext cx="8704046" cy="3030119"/>
          </a:xfrm>
          <a:prstGeom prst="rect">
            <a:avLst/>
          </a:prstGeom>
        </p:spPr>
      </p:pic>
      <p:pic>
        <p:nvPicPr>
          <p:cNvPr id="5" name="Imagen 4">
            <a:extLst>
              <a:ext uri="{FF2B5EF4-FFF2-40B4-BE49-F238E27FC236}">
                <a16:creationId xmlns:a16="http://schemas.microsoft.com/office/drawing/2014/main" id="{840BD724-D644-4951-8DEE-AAD5813887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 y="3970902"/>
            <a:ext cx="9144000" cy="2286000"/>
          </a:xfrm>
          <a:prstGeom prst="rect">
            <a:avLst/>
          </a:prstGeom>
        </p:spPr>
      </p:pic>
    </p:spTree>
    <p:extLst>
      <p:ext uri="{BB962C8B-B14F-4D97-AF65-F5344CB8AC3E}">
        <p14:creationId xmlns:p14="http://schemas.microsoft.com/office/powerpoint/2010/main" val="3481953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xit" presetSubtype="0" fill="hold" nodeType="withEffect">
                                  <p:stCondLst>
                                    <p:cond delay="0"/>
                                  </p:stCondLst>
                                  <p:childTnLst>
                                    <p:animEffect transition="out" filter="fade">
                                      <p:cBhvr>
                                        <p:cTn id="9" dur="250"/>
                                        <p:tgtEl>
                                          <p:spTgt spid="4"/>
                                        </p:tgtEl>
                                      </p:cBhvr>
                                    </p:animEffect>
                                    <p:set>
                                      <p:cBhvr>
                                        <p:cTn id="10" dur="1" fill="hold">
                                          <p:stCondLst>
                                            <p:cond delay="24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7476A73-110C-4B2A-9A3B-0C5D2B3AAA16}"/>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64C6D87A-055B-4826-896D-4BEECE0C362E}"/>
              </a:ext>
            </a:extLst>
          </p:cNvPr>
          <p:cNvSpPr>
            <a:spLocks noGrp="1"/>
          </p:cNvSpPr>
          <p:nvPr>
            <p:ph type="title"/>
          </p:nvPr>
        </p:nvSpPr>
        <p:spPr>
          <a:xfrm>
            <a:off x="0" y="60961"/>
            <a:ext cx="9144000" cy="990599"/>
          </a:xfrm>
        </p:spPr>
        <p:txBody>
          <a:bodyPr>
            <a:normAutofit/>
          </a:bodyPr>
          <a:lstStyle/>
          <a:p>
            <a:pPr algn="ctr"/>
            <a:r>
              <a:rPr lang="es-MX" sz="4800" dirty="0" err="1">
                <a:solidFill>
                  <a:schemeClr val="bg1">
                    <a:lumMod val="95000"/>
                  </a:schemeClr>
                </a:solidFill>
                <a:latin typeface="Segoe UI" panose="020B0502040204020203" pitchFamily="34" charset="0"/>
                <a:cs typeface="Segoe UI" panose="020B0502040204020203" pitchFamily="34" charset="0"/>
              </a:rPr>
              <a:t>Power</a:t>
            </a:r>
            <a:r>
              <a:rPr lang="es-MX" sz="4800" dirty="0">
                <a:solidFill>
                  <a:schemeClr val="bg1">
                    <a:lumMod val="95000"/>
                  </a:schemeClr>
                </a:solidFill>
                <a:latin typeface="Segoe UI" panose="020B0502040204020203" pitchFamily="34" charset="0"/>
                <a:cs typeface="Segoe UI" panose="020B0502040204020203" pitchFamily="34" charset="0"/>
              </a:rPr>
              <a:t> </a:t>
            </a:r>
            <a:r>
              <a:rPr lang="es-MX" sz="4800" dirty="0" err="1">
                <a:solidFill>
                  <a:schemeClr val="bg1">
                    <a:lumMod val="95000"/>
                  </a:schemeClr>
                </a:solidFill>
                <a:latin typeface="Segoe UI" panose="020B0502040204020203" pitchFamily="34" charset="0"/>
                <a:cs typeface="Segoe UI" panose="020B0502040204020203" pitchFamily="34" charset="0"/>
              </a:rPr>
              <a:t>Query</a:t>
            </a:r>
            <a:r>
              <a:rPr lang="es-MX" sz="4800" dirty="0">
                <a:solidFill>
                  <a:schemeClr val="bg1">
                    <a:lumMod val="95000"/>
                  </a:schemeClr>
                </a:solidFill>
                <a:latin typeface="Segoe UI" panose="020B0502040204020203" pitchFamily="34" charset="0"/>
                <a:cs typeface="Segoe UI" panose="020B0502040204020203" pitchFamily="34" charset="0"/>
              </a:rPr>
              <a:t> M</a:t>
            </a:r>
          </a:p>
        </p:txBody>
      </p:sp>
      <p:sp>
        <p:nvSpPr>
          <p:cNvPr id="2" name="Rectángulo 1">
            <a:extLst>
              <a:ext uri="{FF2B5EF4-FFF2-40B4-BE49-F238E27FC236}">
                <a16:creationId xmlns:a16="http://schemas.microsoft.com/office/drawing/2014/main" id="{B29D78CB-D7EE-46A7-9670-853A2A98C759}"/>
              </a:ext>
            </a:extLst>
          </p:cNvPr>
          <p:cNvSpPr/>
          <p:nvPr/>
        </p:nvSpPr>
        <p:spPr>
          <a:xfrm>
            <a:off x="-148590" y="1051560"/>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A1A19"/>
                </a:solidFill>
                <a:latin typeface="Segoe UI" panose="020B0502040204020203" pitchFamily="34" charset="0"/>
                <a:cs typeface="Segoe UI" panose="020B0502040204020203" pitchFamily="34" charset="0"/>
              </a:rPr>
              <a:t>Power Query Editor</a:t>
            </a:r>
          </a:p>
        </p:txBody>
      </p:sp>
      <p:pic>
        <p:nvPicPr>
          <p:cNvPr id="10" name="Imagen 9">
            <a:extLst>
              <a:ext uri="{FF2B5EF4-FFF2-40B4-BE49-F238E27FC236}">
                <a16:creationId xmlns:a16="http://schemas.microsoft.com/office/drawing/2014/main" id="{BBCD7C19-80AE-4CE9-B1AE-9A20A3ED1C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307" y="2491740"/>
            <a:ext cx="4117844" cy="3499842"/>
          </a:xfrm>
          <a:prstGeom prst="rect">
            <a:avLst/>
          </a:prstGeom>
        </p:spPr>
      </p:pic>
      <p:sp>
        <p:nvSpPr>
          <p:cNvPr id="12" name="CuadroTexto 11">
            <a:extLst>
              <a:ext uri="{FF2B5EF4-FFF2-40B4-BE49-F238E27FC236}">
                <a16:creationId xmlns:a16="http://schemas.microsoft.com/office/drawing/2014/main" id="{5E4C5584-CA1F-436E-8C5E-175448F5FF9E}"/>
              </a:ext>
            </a:extLst>
          </p:cNvPr>
          <p:cNvSpPr txBox="1"/>
          <p:nvPr/>
        </p:nvSpPr>
        <p:spPr>
          <a:xfrm>
            <a:off x="261134" y="1846302"/>
            <a:ext cx="3806190" cy="369332"/>
          </a:xfrm>
          <a:prstGeom prst="rect">
            <a:avLst/>
          </a:prstGeom>
          <a:noFill/>
        </p:spPr>
        <p:txBody>
          <a:bodyPr wrap="square">
            <a:spAutoFit/>
          </a:bodyPr>
          <a:lstStyle/>
          <a:p>
            <a:pPr algn="ctr"/>
            <a:r>
              <a:rPr lang="es-ES" dirty="0">
                <a:solidFill>
                  <a:srgbClr val="161616"/>
                </a:solidFill>
                <a:latin typeface="Segoe UI" panose="020B0502040204020203" pitchFamily="34" charset="0"/>
              </a:rPr>
              <a:t>Ordenar y Filtrar</a:t>
            </a:r>
            <a:endParaRPr lang="en-US" dirty="0"/>
          </a:p>
        </p:txBody>
      </p:sp>
      <p:pic>
        <p:nvPicPr>
          <p:cNvPr id="13" name="Imagen 12">
            <a:extLst>
              <a:ext uri="{FF2B5EF4-FFF2-40B4-BE49-F238E27FC236}">
                <a16:creationId xmlns:a16="http://schemas.microsoft.com/office/drawing/2014/main" id="{F4E2C2E6-7656-40CF-B63C-4A15373D8F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4718" y="2815831"/>
            <a:ext cx="3410426" cy="2372056"/>
          </a:xfrm>
          <a:prstGeom prst="rect">
            <a:avLst/>
          </a:prstGeom>
        </p:spPr>
      </p:pic>
      <p:sp>
        <p:nvSpPr>
          <p:cNvPr id="15" name="CuadroTexto 14">
            <a:extLst>
              <a:ext uri="{FF2B5EF4-FFF2-40B4-BE49-F238E27FC236}">
                <a16:creationId xmlns:a16="http://schemas.microsoft.com/office/drawing/2014/main" id="{04C58E75-CC8C-4038-85DF-B6FF2C13C512}"/>
              </a:ext>
            </a:extLst>
          </p:cNvPr>
          <p:cNvSpPr txBox="1"/>
          <p:nvPr/>
        </p:nvSpPr>
        <p:spPr>
          <a:xfrm>
            <a:off x="4786836" y="1976807"/>
            <a:ext cx="3806190" cy="369332"/>
          </a:xfrm>
          <a:prstGeom prst="rect">
            <a:avLst/>
          </a:prstGeom>
          <a:noFill/>
        </p:spPr>
        <p:txBody>
          <a:bodyPr wrap="square">
            <a:spAutoFit/>
          </a:bodyPr>
          <a:lstStyle/>
          <a:p>
            <a:pPr algn="ctr"/>
            <a:r>
              <a:rPr lang="es-ES" dirty="0">
                <a:solidFill>
                  <a:srgbClr val="161616"/>
                </a:solidFill>
                <a:latin typeface="Segoe UI" panose="020B0502040204020203" pitchFamily="34" charset="0"/>
              </a:rPr>
              <a:t>Agregar o quita columnas</a:t>
            </a:r>
            <a:endParaRPr lang="en-US" dirty="0"/>
          </a:p>
        </p:txBody>
      </p:sp>
      <p:pic>
        <p:nvPicPr>
          <p:cNvPr id="17" name="Imagen 16">
            <a:extLst>
              <a:ext uri="{FF2B5EF4-FFF2-40B4-BE49-F238E27FC236}">
                <a16:creationId xmlns:a16="http://schemas.microsoft.com/office/drawing/2014/main" id="{34E677F6-F35D-44ED-9A9D-6E3CEAF476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4469" y="3507628"/>
            <a:ext cx="6535062" cy="2429214"/>
          </a:xfrm>
          <a:prstGeom prst="rect">
            <a:avLst/>
          </a:prstGeom>
        </p:spPr>
      </p:pic>
      <p:sp>
        <p:nvSpPr>
          <p:cNvPr id="18" name="CuadroTexto 17">
            <a:extLst>
              <a:ext uri="{FF2B5EF4-FFF2-40B4-BE49-F238E27FC236}">
                <a16:creationId xmlns:a16="http://schemas.microsoft.com/office/drawing/2014/main" id="{C5EED4F2-8C81-4B37-92E2-9DC3DA984E16}"/>
              </a:ext>
            </a:extLst>
          </p:cNvPr>
          <p:cNvSpPr txBox="1"/>
          <p:nvPr/>
        </p:nvSpPr>
        <p:spPr>
          <a:xfrm>
            <a:off x="3332859" y="2903450"/>
            <a:ext cx="2478283" cy="369332"/>
          </a:xfrm>
          <a:prstGeom prst="rect">
            <a:avLst/>
          </a:prstGeom>
          <a:noFill/>
        </p:spPr>
        <p:txBody>
          <a:bodyPr wrap="square">
            <a:spAutoFit/>
          </a:bodyPr>
          <a:lstStyle/>
          <a:p>
            <a:pPr algn="ctr"/>
            <a:r>
              <a:rPr lang="es-ES" dirty="0">
                <a:solidFill>
                  <a:srgbClr val="161616"/>
                </a:solidFill>
                <a:latin typeface="Segoe UI" panose="020B0502040204020203" pitchFamily="34" charset="0"/>
              </a:rPr>
              <a:t>Eliminar duplicados</a:t>
            </a:r>
            <a:endParaRPr lang="en-US" dirty="0"/>
          </a:p>
        </p:txBody>
      </p:sp>
    </p:spTree>
    <p:extLst>
      <p:ext uri="{BB962C8B-B14F-4D97-AF65-F5344CB8AC3E}">
        <p14:creationId xmlns:p14="http://schemas.microsoft.com/office/powerpoint/2010/main" val="191318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10"/>
                                        </p:tgtEl>
                                      </p:cBhvr>
                                    </p:animEffect>
                                    <p:set>
                                      <p:cBhvr>
                                        <p:cTn id="23" dur="1" fill="hold">
                                          <p:stCondLst>
                                            <p:cond delay="499"/>
                                          </p:stCondLst>
                                        </p:cTn>
                                        <p:tgtEl>
                                          <p:spTgt spid="10"/>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500"/>
                                        <p:tgtEl>
                                          <p:spTgt spid="12"/>
                                        </p:tgtEl>
                                      </p:cBhvr>
                                    </p:animEffect>
                                    <p:set>
                                      <p:cBhvr>
                                        <p:cTn id="26" dur="1" fill="hold">
                                          <p:stCondLst>
                                            <p:cond delay="499"/>
                                          </p:stCondLst>
                                        </p:cTn>
                                        <p:tgtEl>
                                          <p:spTgt spid="12"/>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13"/>
                                        </p:tgtEl>
                                      </p:cBhvr>
                                    </p:animEffect>
                                    <p:set>
                                      <p:cBhvr>
                                        <p:cTn id="29" dur="1" fill="hold">
                                          <p:stCondLst>
                                            <p:cond delay="499"/>
                                          </p:stCondLst>
                                        </p:cTn>
                                        <p:tgtEl>
                                          <p:spTgt spid="13"/>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5" grpId="0"/>
      <p:bldP spid="15" grpId="1"/>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190B9-78E0-1716-A10F-8915A1370E9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6DBAE05-D3F1-855B-81AF-82B37AEA4142}"/>
              </a:ext>
            </a:extLst>
          </p:cNvPr>
          <p:cNvSpPr/>
          <p:nvPr/>
        </p:nvSpPr>
        <p:spPr>
          <a:xfrm>
            <a:off x="0" y="0"/>
            <a:ext cx="9144000" cy="105156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ítulo 1">
            <a:extLst>
              <a:ext uri="{FF2B5EF4-FFF2-40B4-BE49-F238E27FC236}">
                <a16:creationId xmlns:a16="http://schemas.microsoft.com/office/drawing/2014/main" id="{E8D2A651-D894-30B8-AD09-24A7BA79AA31}"/>
              </a:ext>
            </a:extLst>
          </p:cNvPr>
          <p:cNvSpPr>
            <a:spLocks noGrp="1"/>
          </p:cNvSpPr>
          <p:nvPr>
            <p:ph type="title"/>
          </p:nvPr>
        </p:nvSpPr>
        <p:spPr>
          <a:xfrm>
            <a:off x="0" y="60961"/>
            <a:ext cx="9144000" cy="990599"/>
          </a:xfrm>
        </p:spPr>
        <p:txBody>
          <a:bodyPr>
            <a:normAutofit/>
          </a:bodyPr>
          <a:lstStyle/>
          <a:p>
            <a:pPr algn="ctr"/>
            <a:r>
              <a:rPr lang="es-MX" sz="4800" dirty="0">
                <a:solidFill>
                  <a:schemeClr val="bg1">
                    <a:lumMod val="95000"/>
                  </a:schemeClr>
                </a:solidFill>
                <a:latin typeface="Segoe UI" panose="020B0502040204020203" pitchFamily="34" charset="0"/>
                <a:cs typeface="Segoe UI" panose="020B0502040204020203" pitchFamily="34" charset="0"/>
              </a:rPr>
              <a:t>Practica 1</a:t>
            </a:r>
          </a:p>
        </p:txBody>
      </p:sp>
      <p:sp>
        <p:nvSpPr>
          <p:cNvPr id="2" name="Rectángulo 1">
            <a:extLst>
              <a:ext uri="{FF2B5EF4-FFF2-40B4-BE49-F238E27FC236}">
                <a16:creationId xmlns:a16="http://schemas.microsoft.com/office/drawing/2014/main" id="{B5CF393A-6C70-1A52-3DC4-810BB86A3DC5}"/>
              </a:ext>
            </a:extLst>
          </p:cNvPr>
          <p:cNvSpPr/>
          <p:nvPr/>
        </p:nvSpPr>
        <p:spPr>
          <a:xfrm>
            <a:off x="0" y="1017906"/>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1A1A19"/>
                </a:solidFill>
                <a:latin typeface="Segoe UI" panose="020B0502040204020203" pitchFamily="34" charset="0"/>
                <a:cs typeface="Segoe UI" panose="020B0502040204020203" pitchFamily="34" charset="0"/>
              </a:rPr>
              <a:t>Reporte</a:t>
            </a:r>
            <a:r>
              <a:rPr lang="en-US" dirty="0">
                <a:solidFill>
                  <a:srgbClr val="1A1A19"/>
                </a:solidFill>
                <a:latin typeface="Segoe UI" panose="020B0502040204020203" pitchFamily="34" charset="0"/>
                <a:cs typeface="Segoe UI" panose="020B0502040204020203" pitchFamily="34" charset="0"/>
              </a:rPr>
              <a:t> Liga MX</a:t>
            </a:r>
          </a:p>
        </p:txBody>
      </p:sp>
      <p:pic>
        <p:nvPicPr>
          <p:cNvPr id="4" name="Picture 3">
            <a:extLst>
              <a:ext uri="{FF2B5EF4-FFF2-40B4-BE49-F238E27FC236}">
                <a16:creationId xmlns:a16="http://schemas.microsoft.com/office/drawing/2014/main" id="{2FF1547F-8DA9-B641-9FDF-7EEA2914184B}"/>
              </a:ext>
            </a:extLst>
          </p:cNvPr>
          <p:cNvPicPr>
            <a:picLocks noChangeAspect="1"/>
          </p:cNvPicPr>
          <p:nvPr/>
        </p:nvPicPr>
        <p:blipFill>
          <a:blip r:embed="rId2"/>
          <a:stretch>
            <a:fillRect/>
          </a:stretch>
        </p:blipFill>
        <p:spPr>
          <a:xfrm>
            <a:off x="666916" y="1761492"/>
            <a:ext cx="7810168" cy="4333812"/>
          </a:xfrm>
          <a:prstGeom prst="rect">
            <a:avLst/>
          </a:prstGeom>
        </p:spPr>
      </p:pic>
    </p:spTree>
    <p:extLst>
      <p:ext uri="{BB962C8B-B14F-4D97-AF65-F5344CB8AC3E}">
        <p14:creationId xmlns:p14="http://schemas.microsoft.com/office/powerpoint/2010/main" val="2612547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7712-0557-690F-93D9-C0C50414C80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8A17D97-B687-DA8F-3DA5-47037EA0745F}"/>
              </a:ext>
            </a:extLst>
          </p:cNvPr>
          <p:cNvSpPr/>
          <p:nvPr/>
        </p:nvSpPr>
        <p:spPr>
          <a:xfrm>
            <a:off x="0" y="0"/>
            <a:ext cx="9144000" cy="38862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a:extLst>
              <a:ext uri="{FF2B5EF4-FFF2-40B4-BE49-F238E27FC236}">
                <a16:creationId xmlns:a16="http://schemas.microsoft.com/office/drawing/2014/main" id="{3E0A5081-1A12-B700-3E68-820EF0B4AEB4}"/>
              </a:ext>
            </a:extLst>
          </p:cNvPr>
          <p:cNvSpPr/>
          <p:nvPr/>
        </p:nvSpPr>
        <p:spPr>
          <a:xfrm>
            <a:off x="0" y="39161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1</a:t>
            </a:r>
            <a:endParaRPr lang="en-US" dirty="0"/>
          </a:p>
        </p:txBody>
      </p:sp>
      <p:sp>
        <p:nvSpPr>
          <p:cNvPr id="3" name="CuadroTexto 17">
            <a:extLst>
              <a:ext uri="{FF2B5EF4-FFF2-40B4-BE49-F238E27FC236}">
                <a16:creationId xmlns:a16="http://schemas.microsoft.com/office/drawing/2014/main" id="{0FFC50AA-1AA8-D446-B674-5476F0E58D23}"/>
              </a:ext>
            </a:extLst>
          </p:cNvPr>
          <p:cNvSpPr txBox="1"/>
          <p:nvPr/>
        </p:nvSpPr>
        <p:spPr>
          <a:xfrm>
            <a:off x="301164" y="753626"/>
            <a:ext cx="3001993" cy="646331"/>
          </a:xfrm>
          <a:prstGeom prst="rect">
            <a:avLst/>
          </a:prstGeom>
          <a:noFill/>
        </p:spPr>
        <p:txBody>
          <a:bodyPr wrap="square">
            <a:spAutoFit/>
          </a:bodyPr>
          <a:lstStyle/>
          <a:p>
            <a:pPr algn="ctr"/>
            <a:r>
              <a:rPr lang="es-MX" dirty="0"/>
              <a:t>Buscar la aplicación de </a:t>
            </a:r>
            <a:r>
              <a:rPr lang="es-MX" dirty="0" err="1"/>
              <a:t>Power</a:t>
            </a:r>
            <a:r>
              <a:rPr lang="es-MX" dirty="0"/>
              <a:t> Bi </a:t>
            </a:r>
            <a:r>
              <a:rPr lang="es-MX" dirty="0" err="1"/>
              <a:t>dektop</a:t>
            </a:r>
            <a:r>
              <a:rPr lang="es-MX" dirty="0"/>
              <a:t> y abrirla</a:t>
            </a:r>
            <a:endParaRPr lang="en-US" dirty="0"/>
          </a:p>
        </p:txBody>
      </p:sp>
      <p:pic>
        <p:nvPicPr>
          <p:cNvPr id="6" name="Picture 5">
            <a:extLst>
              <a:ext uri="{FF2B5EF4-FFF2-40B4-BE49-F238E27FC236}">
                <a16:creationId xmlns:a16="http://schemas.microsoft.com/office/drawing/2014/main" id="{DD50EBCE-C937-D890-5971-189BC4D7DA33}"/>
              </a:ext>
            </a:extLst>
          </p:cNvPr>
          <p:cNvPicPr>
            <a:picLocks noChangeAspect="1"/>
          </p:cNvPicPr>
          <p:nvPr/>
        </p:nvPicPr>
        <p:blipFill>
          <a:blip r:embed="rId2"/>
          <a:stretch>
            <a:fillRect/>
          </a:stretch>
        </p:blipFill>
        <p:spPr>
          <a:xfrm>
            <a:off x="551775" y="1491307"/>
            <a:ext cx="2171903" cy="525334"/>
          </a:xfrm>
          <a:prstGeom prst="rect">
            <a:avLst/>
          </a:prstGeom>
        </p:spPr>
      </p:pic>
      <p:pic>
        <p:nvPicPr>
          <p:cNvPr id="10" name="Picture 9">
            <a:extLst>
              <a:ext uri="{FF2B5EF4-FFF2-40B4-BE49-F238E27FC236}">
                <a16:creationId xmlns:a16="http://schemas.microsoft.com/office/drawing/2014/main" id="{C09F04F0-F8EF-5F9E-C53A-268032D23A78}"/>
              </a:ext>
            </a:extLst>
          </p:cNvPr>
          <p:cNvPicPr>
            <a:picLocks noChangeAspect="1"/>
          </p:cNvPicPr>
          <p:nvPr/>
        </p:nvPicPr>
        <p:blipFill>
          <a:blip r:embed="rId3"/>
          <a:srcRect r="51286"/>
          <a:stretch/>
        </p:blipFill>
        <p:spPr>
          <a:xfrm>
            <a:off x="551775" y="2215057"/>
            <a:ext cx="2274981" cy="1006374"/>
          </a:xfrm>
          <a:prstGeom prst="rect">
            <a:avLst/>
          </a:prstGeom>
        </p:spPr>
      </p:pic>
      <p:pic>
        <p:nvPicPr>
          <p:cNvPr id="13" name="Picture 12">
            <a:extLst>
              <a:ext uri="{FF2B5EF4-FFF2-40B4-BE49-F238E27FC236}">
                <a16:creationId xmlns:a16="http://schemas.microsoft.com/office/drawing/2014/main" id="{C8BFF636-11AA-6939-9733-F47DEAC5B9D4}"/>
              </a:ext>
            </a:extLst>
          </p:cNvPr>
          <p:cNvPicPr>
            <a:picLocks noChangeAspect="1"/>
          </p:cNvPicPr>
          <p:nvPr/>
        </p:nvPicPr>
        <p:blipFill>
          <a:blip r:embed="rId4"/>
          <a:srcRect r="27794"/>
          <a:stretch/>
        </p:blipFill>
        <p:spPr>
          <a:xfrm>
            <a:off x="464227" y="4738618"/>
            <a:ext cx="2638793" cy="1732347"/>
          </a:xfrm>
          <a:prstGeom prst="rect">
            <a:avLst/>
          </a:prstGeom>
        </p:spPr>
      </p:pic>
      <p:sp>
        <p:nvSpPr>
          <p:cNvPr id="14" name="CuadroTexto 17">
            <a:extLst>
              <a:ext uri="{FF2B5EF4-FFF2-40B4-BE49-F238E27FC236}">
                <a16:creationId xmlns:a16="http://schemas.microsoft.com/office/drawing/2014/main" id="{E3859690-DC31-891B-667B-C25C4B27130E}"/>
              </a:ext>
            </a:extLst>
          </p:cNvPr>
          <p:cNvSpPr txBox="1"/>
          <p:nvPr/>
        </p:nvSpPr>
        <p:spPr>
          <a:xfrm>
            <a:off x="447062" y="4218251"/>
            <a:ext cx="3001993" cy="369332"/>
          </a:xfrm>
          <a:prstGeom prst="rect">
            <a:avLst/>
          </a:prstGeom>
          <a:noFill/>
        </p:spPr>
        <p:txBody>
          <a:bodyPr wrap="square">
            <a:spAutoFit/>
          </a:bodyPr>
          <a:lstStyle/>
          <a:p>
            <a:r>
              <a:rPr lang="es-MX" dirty="0"/>
              <a:t>Crear un reporte en blanco</a:t>
            </a:r>
            <a:endParaRPr lang="en-US" dirty="0"/>
          </a:p>
        </p:txBody>
      </p:sp>
      <p:sp>
        <p:nvSpPr>
          <p:cNvPr id="16" name="Oval 15">
            <a:extLst>
              <a:ext uri="{FF2B5EF4-FFF2-40B4-BE49-F238E27FC236}">
                <a16:creationId xmlns:a16="http://schemas.microsoft.com/office/drawing/2014/main" id="{F1562CCD-8CA3-AD46-0F02-525F7449BE88}"/>
              </a:ext>
            </a:extLst>
          </p:cNvPr>
          <p:cNvSpPr/>
          <p:nvPr/>
        </p:nvSpPr>
        <p:spPr>
          <a:xfrm>
            <a:off x="1145047" y="5076637"/>
            <a:ext cx="544219" cy="52467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ángulo 1">
            <a:extLst>
              <a:ext uri="{FF2B5EF4-FFF2-40B4-BE49-F238E27FC236}">
                <a16:creationId xmlns:a16="http://schemas.microsoft.com/office/drawing/2014/main" id="{C760F2D8-299A-ABEF-FF87-D610F78597D5}"/>
              </a:ext>
            </a:extLst>
          </p:cNvPr>
          <p:cNvSpPr/>
          <p:nvPr/>
        </p:nvSpPr>
        <p:spPr>
          <a:xfrm>
            <a:off x="0" y="3743581"/>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2</a:t>
            </a:r>
            <a:endParaRPr lang="en-US" dirty="0"/>
          </a:p>
        </p:txBody>
      </p:sp>
      <p:pic>
        <p:nvPicPr>
          <p:cNvPr id="20" name="Picture 19">
            <a:extLst>
              <a:ext uri="{FF2B5EF4-FFF2-40B4-BE49-F238E27FC236}">
                <a16:creationId xmlns:a16="http://schemas.microsoft.com/office/drawing/2014/main" id="{0E96AEBB-0CF5-BCE4-B0C7-EFEE710DFA12}"/>
              </a:ext>
            </a:extLst>
          </p:cNvPr>
          <p:cNvPicPr>
            <a:picLocks noChangeAspect="1"/>
          </p:cNvPicPr>
          <p:nvPr/>
        </p:nvPicPr>
        <p:blipFill>
          <a:blip r:embed="rId5"/>
          <a:stretch>
            <a:fillRect/>
          </a:stretch>
        </p:blipFill>
        <p:spPr>
          <a:xfrm>
            <a:off x="4989537" y="1833702"/>
            <a:ext cx="4094079" cy="1472186"/>
          </a:xfrm>
          <a:prstGeom prst="rect">
            <a:avLst/>
          </a:prstGeom>
        </p:spPr>
      </p:pic>
      <p:sp>
        <p:nvSpPr>
          <p:cNvPr id="21" name="Rectángulo 1">
            <a:extLst>
              <a:ext uri="{FF2B5EF4-FFF2-40B4-BE49-F238E27FC236}">
                <a16:creationId xmlns:a16="http://schemas.microsoft.com/office/drawing/2014/main" id="{08F62AFC-58A1-515E-1C39-5821D396439B}"/>
              </a:ext>
            </a:extLst>
          </p:cNvPr>
          <p:cNvSpPr/>
          <p:nvPr/>
        </p:nvSpPr>
        <p:spPr>
          <a:xfrm>
            <a:off x="6617972" y="39161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3</a:t>
            </a:r>
            <a:endParaRPr lang="en-US" dirty="0"/>
          </a:p>
        </p:txBody>
      </p:sp>
      <p:sp>
        <p:nvSpPr>
          <p:cNvPr id="22" name="CuadroTexto 17">
            <a:extLst>
              <a:ext uri="{FF2B5EF4-FFF2-40B4-BE49-F238E27FC236}">
                <a16:creationId xmlns:a16="http://schemas.microsoft.com/office/drawing/2014/main" id="{CE115622-11CC-1F27-C9BE-A49457B74030}"/>
              </a:ext>
            </a:extLst>
          </p:cNvPr>
          <p:cNvSpPr txBox="1"/>
          <p:nvPr/>
        </p:nvSpPr>
        <p:spPr>
          <a:xfrm>
            <a:off x="4753155" y="747604"/>
            <a:ext cx="4330461" cy="646331"/>
          </a:xfrm>
          <a:prstGeom prst="rect">
            <a:avLst/>
          </a:prstGeom>
          <a:noFill/>
        </p:spPr>
        <p:txBody>
          <a:bodyPr wrap="square">
            <a:spAutoFit/>
          </a:bodyPr>
          <a:lstStyle/>
          <a:p>
            <a:pPr algn="ctr"/>
            <a:r>
              <a:rPr lang="es-MX" dirty="0"/>
              <a:t>Abrir en el navegador una pagina con los datos de la tabla de posiciones de la liga </a:t>
            </a:r>
            <a:r>
              <a:rPr lang="es-MX" dirty="0" err="1"/>
              <a:t>mx</a:t>
            </a:r>
            <a:endParaRPr lang="en-US" dirty="0"/>
          </a:p>
        </p:txBody>
      </p:sp>
      <p:sp>
        <p:nvSpPr>
          <p:cNvPr id="23" name="CuadroTexto 17">
            <a:extLst>
              <a:ext uri="{FF2B5EF4-FFF2-40B4-BE49-F238E27FC236}">
                <a16:creationId xmlns:a16="http://schemas.microsoft.com/office/drawing/2014/main" id="{9DCE8560-D001-0938-8EB6-A0FDB3A255EC}"/>
              </a:ext>
            </a:extLst>
          </p:cNvPr>
          <p:cNvSpPr txBox="1"/>
          <p:nvPr/>
        </p:nvSpPr>
        <p:spPr>
          <a:xfrm>
            <a:off x="4477202" y="1352807"/>
            <a:ext cx="4511616" cy="276999"/>
          </a:xfrm>
          <a:prstGeom prst="rect">
            <a:avLst/>
          </a:prstGeom>
          <a:noFill/>
        </p:spPr>
        <p:txBody>
          <a:bodyPr wrap="square">
            <a:spAutoFit/>
          </a:bodyPr>
          <a:lstStyle/>
          <a:p>
            <a:pPr algn="ctr"/>
            <a:r>
              <a:rPr lang="en-US" sz="1200" dirty="0"/>
              <a:t>Link </a:t>
            </a:r>
            <a:r>
              <a:rPr lang="en-US" sz="1200" dirty="0" err="1"/>
              <a:t>sugerido</a:t>
            </a:r>
            <a:r>
              <a:rPr lang="en-US" sz="1200" dirty="0"/>
              <a:t>: https://www.foxsports.com/soccer/liga-mx/standings</a:t>
            </a:r>
          </a:p>
        </p:txBody>
      </p:sp>
      <p:sp>
        <p:nvSpPr>
          <p:cNvPr id="24" name="Rectángulo 1">
            <a:extLst>
              <a:ext uri="{FF2B5EF4-FFF2-40B4-BE49-F238E27FC236}">
                <a16:creationId xmlns:a16="http://schemas.microsoft.com/office/drawing/2014/main" id="{D885DC5A-C7E6-4F82-DB75-F72B17338118}"/>
              </a:ext>
            </a:extLst>
          </p:cNvPr>
          <p:cNvSpPr/>
          <p:nvPr/>
        </p:nvSpPr>
        <p:spPr>
          <a:xfrm>
            <a:off x="6617970" y="3743581"/>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4</a:t>
            </a:r>
            <a:endParaRPr lang="en-US" dirty="0"/>
          </a:p>
        </p:txBody>
      </p:sp>
      <p:pic>
        <p:nvPicPr>
          <p:cNvPr id="26" name="Picture 25">
            <a:extLst>
              <a:ext uri="{FF2B5EF4-FFF2-40B4-BE49-F238E27FC236}">
                <a16:creationId xmlns:a16="http://schemas.microsoft.com/office/drawing/2014/main" id="{3B412F72-E2B4-0070-6393-ED6938326837}"/>
              </a:ext>
            </a:extLst>
          </p:cNvPr>
          <p:cNvPicPr>
            <a:picLocks noChangeAspect="1"/>
          </p:cNvPicPr>
          <p:nvPr/>
        </p:nvPicPr>
        <p:blipFill>
          <a:blip r:embed="rId6"/>
          <a:stretch>
            <a:fillRect/>
          </a:stretch>
        </p:blipFill>
        <p:spPr>
          <a:xfrm>
            <a:off x="6848387" y="4299978"/>
            <a:ext cx="2062094" cy="2205657"/>
          </a:xfrm>
          <a:prstGeom prst="rect">
            <a:avLst/>
          </a:prstGeom>
        </p:spPr>
      </p:pic>
      <p:sp>
        <p:nvSpPr>
          <p:cNvPr id="27" name="Oval 26">
            <a:extLst>
              <a:ext uri="{FF2B5EF4-FFF2-40B4-BE49-F238E27FC236}">
                <a16:creationId xmlns:a16="http://schemas.microsoft.com/office/drawing/2014/main" id="{4E473312-BABB-0F60-2D9D-1DC61FD7C121}"/>
              </a:ext>
            </a:extLst>
          </p:cNvPr>
          <p:cNvSpPr/>
          <p:nvPr/>
        </p:nvSpPr>
        <p:spPr>
          <a:xfrm>
            <a:off x="7257580" y="5934289"/>
            <a:ext cx="1187683" cy="14449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60D5D15-4415-A992-C8BB-BC1E54121838}"/>
              </a:ext>
            </a:extLst>
          </p:cNvPr>
          <p:cNvSpPr/>
          <p:nvPr/>
        </p:nvSpPr>
        <p:spPr>
          <a:xfrm>
            <a:off x="7312614" y="4421260"/>
            <a:ext cx="451160" cy="4639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B0ED8F7-5D03-5E80-81E5-83FC0DA67757}"/>
              </a:ext>
            </a:extLst>
          </p:cNvPr>
          <p:cNvSpPr/>
          <p:nvPr/>
        </p:nvSpPr>
        <p:spPr>
          <a:xfrm>
            <a:off x="7160561" y="4791343"/>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1</a:t>
            </a:r>
          </a:p>
        </p:txBody>
      </p:sp>
      <p:sp>
        <p:nvSpPr>
          <p:cNvPr id="30" name="Rectangle 29">
            <a:extLst>
              <a:ext uri="{FF2B5EF4-FFF2-40B4-BE49-F238E27FC236}">
                <a16:creationId xmlns:a16="http://schemas.microsoft.com/office/drawing/2014/main" id="{6FDD154F-77BD-6A2D-BFF9-9E18B6D0F3CE}"/>
              </a:ext>
            </a:extLst>
          </p:cNvPr>
          <p:cNvSpPr/>
          <p:nvPr/>
        </p:nvSpPr>
        <p:spPr>
          <a:xfrm>
            <a:off x="7036576" y="6030601"/>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2</a:t>
            </a:r>
          </a:p>
        </p:txBody>
      </p:sp>
      <p:sp>
        <p:nvSpPr>
          <p:cNvPr id="31" name="CuadroTexto 17">
            <a:extLst>
              <a:ext uri="{FF2B5EF4-FFF2-40B4-BE49-F238E27FC236}">
                <a16:creationId xmlns:a16="http://schemas.microsoft.com/office/drawing/2014/main" id="{157793B8-A359-82FA-1C85-8DEEB0D978D7}"/>
              </a:ext>
            </a:extLst>
          </p:cNvPr>
          <p:cNvSpPr txBox="1"/>
          <p:nvPr/>
        </p:nvSpPr>
        <p:spPr>
          <a:xfrm>
            <a:off x="4455264" y="4255520"/>
            <a:ext cx="2161010" cy="923330"/>
          </a:xfrm>
          <a:prstGeom prst="rect">
            <a:avLst/>
          </a:prstGeom>
          <a:noFill/>
        </p:spPr>
        <p:txBody>
          <a:bodyPr wrap="square">
            <a:spAutoFit/>
          </a:bodyPr>
          <a:lstStyle/>
          <a:p>
            <a:pPr algn="ctr"/>
            <a:r>
              <a:rPr lang="es-MX" dirty="0"/>
              <a:t>1- Usar el botón “</a:t>
            </a:r>
            <a:r>
              <a:rPr lang="es-MX" dirty="0" err="1"/>
              <a:t>Get</a:t>
            </a:r>
            <a:r>
              <a:rPr lang="es-MX" dirty="0"/>
              <a:t> data” para acceder a los conectores</a:t>
            </a:r>
            <a:endParaRPr lang="en-US" dirty="0"/>
          </a:p>
        </p:txBody>
      </p:sp>
      <p:sp>
        <p:nvSpPr>
          <p:cNvPr id="32" name="CuadroTexto 17">
            <a:extLst>
              <a:ext uri="{FF2B5EF4-FFF2-40B4-BE49-F238E27FC236}">
                <a16:creationId xmlns:a16="http://schemas.microsoft.com/office/drawing/2014/main" id="{546E0CC0-EBB1-4847-9457-C1DAF9223E98}"/>
              </a:ext>
            </a:extLst>
          </p:cNvPr>
          <p:cNvSpPr txBox="1"/>
          <p:nvPr/>
        </p:nvSpPr>
        <p:spPr>
          <a:xfrm>
            <a:off x="4572000" y="5729123"/>
            <a:ext cx="2161010" cy="646331"/>
          </a:xfrm>
          <a:prstGeom prst="rect">
            <a:avLst/>
          </a:prstGeom>
          <a:noFill/>
        </p:spPr>
        <p:txBody>
          <a:bodyPr wrap="square">
            <a:spAutoFit/>
          </a:bodyPr>
          <a:lstStyle/>
          <a:p>
            <a:pPr algn="ctr"/>
            <a:r>
              <a:rPr lang="es-MX" dirty="0"/>
              <a:t>2- Buscar el conector “Web”</a:t>
            </a:r>
            <a:endParaRPr lang="en-US" dirty="0"/>
          </a:p>
        </p:txBody>
      </p:sp>
      <p:sp>
        <p:nvSpPr>
          <p:cNvPr id="4" name="CuadroTexto 17">
            <a:extLst>
              <a:ext uri="{FF2B5EF4-FFF2-40B4-BE49-F238E27FC236}">
                <a16:creationId xmlns:a16="http://schemas.microsoft.com/office/drawing/2014/main" id="{669E7094-6207-BD3C-CEF4-57EA1558D83C}"/>
              </a:ext>
            </a:extLst>
          </p:cNvPr>
          <p:cNvSpPr txBox="1"/>
          <p:nvPr/>
        </p:nvSpPr>
        <p:spPr>
          <a:xfrm>
            <a:off x="4026877" y="1566660"/>
            <a:ext cx="5056739" cy="276999"/>
          </a:xfrm>
          <a:prstGeom prst="rect">
            <a:avLst/>
          </a:prstGeom>
          <a:noFill/>
        </p:spPr>
        <p:txBody>
          <a:bodyPr wrap="square">
            <a:spAutoFit/>
          </a:bodyPr>
          <a:lstStyle/>
          <a:p>
            <a:pPr algn="ctr"/>
            <a:r>
              <a:rPr lang="en-US" sz="1200" dirty="0"/>
              <a:t>Link </a:t>
            </a:r>
            <a:r>
              <a:rPr lang="en-US" sz="1200" dirty="0" err="1"/>
              <a:t>sugerido</a:t>
            </a:r>
            <a:r>
              <a:rPr lang="en-US" sz="1200" dirty="0"/>
              <a:t>: https://www.foxsports.com/soccer/fifa-world-cup/standings</a:t>
            </a:r>
          </a:p>
        </p:txBody>
      </p:sp>
    </p:spTree>
    <p:extLst>
      <p:ext uri="{BB962C8B-B14F-4D97-AF65-F5344CB8AC3E}">
        <p14:creationId xmlns:p14="http://schemas.microsoft.com/office/powerpoint/2010/main" val="1541743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22" grpId="0"/>
      <p:bldP spid="23" grpId="0"/>
      <p:bldP spid="31" grpId="0"/>
      <p:bldP spid="32"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CC8BB-51E6-F232-3292-50237D17DCF7}"/>
            </a:ext>
          </a:extLst>
        </p:cNvPr>
        <p:cNvGrpSpPr/>
        <p:nvPr/>
      </p:nvGrpSpPr>
      <p:grpSpPr>
        <a:xfrm>
          <a:off x="0" y="0"/>
          <a:ext cx="0" cy="0"/>
          <a:chOff x="0" y="0"/>
          <a:chExt cx="0" cy="0"/>
        </a:xfrm>
      </p:grpSpPr>
      <p:pic>
        <p:nvPicPr>
          <p:cNvPr id="41" name="Picture 40">
            <a:extLst>
              <a:ext uri="{FF2B5EF4-FFF2-40B4-BE49-F238E27FC236}">
                <a16:creationId xmlns:a16="http://schemas.microsoft.com/office/drawing/2014/main" id="{C37F0A54-83F9-1C91-42D1-F911F802579D}"/>
              </a:ext>
            </a:extLst>
          </p:cNvPr>
          <p:cNvPicPr>
            <a:picLocks noChangeAspect="1"/>
          </p:cNvPicPr>
          <p:nvPr/>
        </p:nvPicPr>
        <p:blipFill>
          <a:blip r:embed="rId2"/>
          <a:srcRect l="52207"/>
          <a:stretch/>
        </p:blipFill>
        <p:spPr>
          <a:xfrm>
            <a:off x="6254149" y="4074260"/>
            <a:ext cx="2667469" cy="2575283"/>
          </a:xfrm>
          <a:prstGeom prst="rect">
            <a:avLst/>
          </a:prstGeom>
        </p:spPr>
      </p:pic>
      <p:sp>
        <p:nvSpPr>
          <p:cNvPr id="8" name="Rectángulo 7">
            <a:extLst>
              <a:ext uri="{FF2B5EF4-FFF2-40B4-BE49-F238E27FC236}">
                <a16:creationId xmlns:a16="http://schemas.microsoft.com/office/drawing/2014/main" id="{761B13C6-1D2D-30A3-92D8-0C2BA8B518F1}"/>
              </a:ext>
            </a:extLst>
          </p:cNvPr>
          <p:cNvSpPr/>
          <p:nvPr/>
        </p:nvSpPr>
        <p:spPr>
          <a:xfrm>
            <a:off x="0" y="0"/>
            <a:ext cx="9144000" cy="38862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a:extLst>
              <a:ext uri="{FF2B5EF4-FFF2-40B4-BE49-F238E27FC236}">
                <a16:creationId xmlns:a16="http://schemas.microsoft.com/office/drawing/2014/main" id="{4440F369-6D8A-FA19-842F-D42035660C9E}"/>
              </a:ext>
            </a:extLst>
          </p:cNvPr>
          <p:cNvSpPr/>
          <p:nvPr/>
        </p:nvSpPr>
        <p:spPr>
          <a:xfrm>
            <a:off x="0" y="39161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5</a:t>
            </a:r>
            <a:endParaRPr lang="en-US" dirty="0"/>
          </a:p>
        </p:txBody>
      </p:sp>
      <p:sp>
        <p:nvSpPr>
          <p:cNvPr id="3" name="CuadroTexto 17">
            <a:extLst>
              <a:ext uri="{FF2B5EF4-FFF2-40B4-BE49-F238E27FC236}">
                <a16:creationId xmlns:a16="http://schemas.microsoft.com/office/drawing/2014/main" id="{36022038-F879-9B79-B959-9AF0796A77C6}"/>
              </a:ext>
            </a:extLst>
          </p:cNvPr>
          <p:cNvSpPr txBox="1"/>
          <p:nvPr/>
        </p:nvSpPr>
        <p:spPr>
          <a:xfrm>
            <a:off x="-2047" y="832617"/>
            <a:ext cx="3726610" cy="923330"/>
          </a:xfrm>
          <a:prstGeom prst="rect">
            <a:avLst/>
          </a:prstGeom>
          <a:noFill/>
        </p:spPr>
        <p:txBody>
          <a:bodyPr wrap="square">
            <a:spAutoFit/>
          </a:bodyPr>
          <a:lstStyle/>
          <a:p>
            <a:pPr algn="ctr"/>
            <a:r>
              <a:rPr lang="es-MX" dirty="0"/>
              <a:t>El paso anterior abrirá una ventana, deberemos pegar el link de la pagina y </a:t>
            </a:r>
            <a:r>
              <a:rPr lang="es-MX" dirty="0" err="1"/>
              <a:t>click</a:t>
            </a:r>
            <a:r>
              <a:rPr lang="es-MX" dirty="0"/>
              <a:t> en el botón “Ok”</a:t>
            </a:r>
            <a:endParaRPr lang="en-US" dirty="0"/>
          </a:p>
        </p:txBody>
      </p:sp>
      <p:sp>
        <p:nvSpPr>
          <p:cNvPr id="14" name="CuadroTexto 17">
            <a:extLst>
              <a:ext uri="{FF2B5EF4-FFF2-40B4-BE49-F238E27FC236}">
                <a16:creationId xmlns:a16="http://schemas.microsoft.com/office/drawing/2014/main" id="{7C245DEF-4BD3-CE6E-254A-1EEFBB3E60F8}"/>
              </a:ext>
            </a:extLst>
          </p:cNvPr>
          <p:cNvSpPr txBox="1"/>
          <p:nvPr/>
        </p:nvSpPr>
        <p:spPr>
          <a:xfrm>
            <a:off x="-27927" y="3558915"/>
            <a:ext cx="3938904" cy="830997"/>
          </a:xfrm>
          <a:prstGeom prst="rect">
            <a:avLst/>
          </a:prstGeom>
          <a:noFill/>
        </p:spPr>
        <p:txBody>
          <a:bodyPr wrap="square">
            <a:spAutoFit/>
          </a:bodyPr>
          <a:lstStyle/>
          <a:p>
            <a:r>
              <a:rPr lang="es-MX" sz="1600" dirty="0"/>
              <a:t>Una vez que hayamos conectado a la pagina </a:t>
            </a:r>
            <a:r>
              <a:rPr lang="es-MX" sz="1600" dirty="0" err="1"/>
              <a:t>Power</a:t>
            </a:r>
            <a:r>
              <a:rPr lang="es-MX" sz="1600" dirty="0"/>
              <a:t> Bi nos mostrara una vista preliminar, seleccionar la tabla con los datos requeridos</a:t>
            </a:r>
            <a:endParaRPr lang="en-US" sz="1600" dirty="0"/>
          </a:p>
        </p:txBody>
      </p:sp>
      <p:sp>
        <p:nvSpPr>
          <p:cNvPr id="17" name="Rectángulo 1">
            <a:extLst>
              <a:ext uri="{FF2B5EF4-FFF2-40B4-BE49-F238E27FC236}">
                <a16:creationId xmlns:a16="http://schemas.microsoft.com/office/drawing/2014/main" id="{67CE78A1-4DA8-6C37-2CD4-7E96B412E4D9}"/>
              </a:ext>
            </a:extLst>
          </p:cNvPr>
          <p:cNvSpPr/>
          <p:nvPr/>
        </p:nvSpPr>
        <p:spPr>
          <a:xfrm>
            <a:off x="-2047" y="3128233"/>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6</a:t>
            </a:r>
            <a:endParaRPr lang="en-US" dirty="0"/>
          </a:p>
        </p:txBody>
      </p:sp>
      <p:sp>
        <p:nvSpPr>
          <p:cNvPr id="21" name="Rectángulo 1">
            <a:extLst>
              <a:ext uri="{FF2B5EF4-FFF2-40B4-BE49-F238E27FC236}">
                <a16:creationId xmlns:a16="http://schemas.microsoft.com/office/drawing/2014/main" id="{C2D2F614-9231-D080-04EF-7F27AA9A9207}"/>
              </a:ext>
            </a:extLst>
          </p:cNvPr>
          <p:cNvSpPr/>
          <p:nvPr/>
        </p:nvSpPr>
        <p:spPr>
          <a:xfrm>
            <a:off x="6617972" y="39161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7</a:t>
            </a:r>
            <a:endParaRPr lang="en-US" dirty="0"/>
          </a:p>
        </p:txBody>
      </p:sp>
      <p:sp>
        <p:nvSpPr>
          <p:cNvPr id="22" name="CuadroTexto 17">
            <a:extLst>
              <a:ext uri="{FF2B5EF4-FFF2-40B4-BE49-F238E27FC236}">
                <a16:creationId xmlns:a16="http://schemas.microsoft.com/office/drawing/2014/main" id="{E22A90CD-67FE-DE84-D3D2-F793B819F879}"/>
              </a:ext>
            </a:extLst>
          </p:cNvPr>
          <p:cNvSpPr txBox="1"/>
          <p:nvPr/>
        </p:nvSpPr>
        <p:spPr>
          <a:xfrm>
            <a:off x="4572001" y="747604"/>
            <a:ext cx="4511616" cy="523220"/>
          </a:xfrm>
          <a:prstGeom prst="rect">
            <a:avLst/>
          </a:prstGeom>
          <a:noFill/>
        </p:spPr>
        <p:txBody>
          <a:bodyPr wrap="square">
            <a:spAutoFit/>
          </a:bodyPr>
          <a:lstStyle/>
          <a:p>
            <a:pPr algn="ctr"/>
            <a:r>
              <a:rPr lang="es-MX" sz="1400" dirty="0"/>
              <a:t>Una vez cargados los datos, asegurar que el tipo de dato sea el correcto en cada columna</a:t>
            </a:r>
            <a:endParaRPr lang="en-US" sz="1400" dirty="0"/>
          </a:p>
        </p:txBody>
      </p:sp>
      <p:sp>
        <p:nvSpPr>
          <p:cNvPr id="24" name="Rectángulo 1">
            <a:extLst>
              <a:ext uri="{FF2B5EF4-FFF2-40B4-BE49-F238E27FC236}">
                <a16:creationId xmlns:a16="http://schemas.microsoft.com/office/drawing/2014/main" id="{AE240350-84CC-46E6-CF48-840EDE83BF8D}"/>
              </a:ext>
            </a:extLst>
          </p:cNvPr>
          <p:cNvSpPr/>
          <p:nvPr/>
        </p:nvSpPr>
        <p:spPr>
          <a:xfrm>
            <a:off x="6617972" y="364057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8</a:t>
            </a:r>
            <a:endParaRPr lang="en-US" dirty="0"/>
          </a:p>
        </p:txBody>
      </p:sp>
      <p:sp>
        <p:nvSpPr>
          <p:cNvPr id="27" name="Oval 26">
            <a:extLst>
              <a:ext uri="{FF2B5EF4-FFF2-40B4-BE49-F238E27FC236}">
                <a16:creationId xmlns:a16="http://schemas.microsoft.com/office/drawing/2014/main" id="{EEE2C870-1F77-E679-86F7-1A27EC0CABF6}"/>
              </a:ext>
            </a:extLst>
          </p:cNvPr>
          <p:cNvSpPr/>
          <p:nvPr/>
        </p:nvSpPr>
        <p:spPr>
          <a:xfrm>
            <a:off x="6810143" y="5529508"/>
            <a:ext cx="677586" cy="16544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F3D40E2-1AEA-E823-0E91-7EA368FFE0D0}"/>
              </a:ext>
            </a:extLst>
          </p:cNvPr>
          <p:cNvSpPr/>
          <p:nvPr/>
        </p:nvSpPr>
        <p:spPr>
          <a:xfrm>
            <a:off x="8843547" y="5587176"/>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2</a:t>
            </a:r>
          </a:p>
        </p:txBody>
      </p:sp>
      <p:pic>
        <p:nvPicPr>
          <p:cNvPr id="7" name="Picture 6">
            <a:extLst>
              <a:ext uri="{FF2B5EF4-FFF2-40B4-BE49-F238E27FC236}">
                <a16:creationId xmlns:a16="http://schemas.microsoft.com/office/drawing/2014/main" id="{3DDC085B-E96F-FEF5-3A7C-9AAD60BBC7C8}"/>
              </a:ext>
            </a:extLst>
          </p:cNvPr>
          <p:cNvPicPr>
            <a:picLocks noChangeAspect="1"/>
          </p:cNvPicPr>
          <p:nvPr/>
        </p:nvPicPr>
        <p:blipFill>
          <a:blip r:embed="rId3"/>
          <a:stretch>
            <a:fillRect/>
          </a:stretch>
        </p:blipFill>
        <p:spPr>
          <a:xfrm>
            <a:off x="0" y="1816967"/>
            <a:ext cx="3640347" cy="1210684"/>
          </a:xfrm>
          <a:prstGeom prst="rect">
            <a:avLst/>
          </a:prstGeom>
        </p:spPr>
      </p:pic>
      <p:pic>
        <p:nvPicPr>
          <p:cNvPr id="11" name="Picture 10">
            <a:extLst>
              <a:ext uri="{FF2B5EF4-FFF2-40B4-BE49-F238E27FC236}">
                <a16:creationId xmlns:a16="http://schemas.microsoft.com/office/drawing/2014/main" id="{EDBF9DE4-9FEA-C35A-8D79-061D6472A64B}"/>
              </a:ext>
            </a:extLst>
          </p:cNvPr>
          <p:cNvPicPr>
            <a:picLocks noChangeAspect="1"/>
          </p:cNvPicPr>
          <p:nvPr/>
        </p:nvPicPr>
        <p:blipFill>
          <a:blip r:embed="rId4"/>
          <a:stretch>
            <a:fillRect/>
          </a:stretch>
        </p:blipFill>
        <p:spPr>
          <a:xfrm>
            <a:off x="278326" y="4534623"/>
            <a:ext cx="2923380" cy="2306922"/>
          </a:xfrm>
          <a:prstGeom prst="rect">
            <a:avLst/>
          </a:prstGeom>
        </p:spPr>
      </p:pic>
      <p:sp>
        <p:nvSpPr>
          <p:cNvPr id="12" name="Oval 11">
            <a:extLst>
              <a:ext uri="{FF2B5EF4-FFF2-40B4-BE49-F238E27FC236}">
                <a16:creationId xmlns:a16="http://schemas.microsoft.com/office/drawing/2014/main" id="{EA0E7A88-E3E8-46EE-AC73-98F7F0293FE5}"/>
              </a:ext>
            </a:extLst>
          </p:cNvPr>
          <p:cNvSpPr/>
          <p:nvPr/>
        </p:nvSpPr>
        <p:spPr>
          <a:xfrm>
            <a:off x="249682" y="4912699"/>
            <a:ext cx="844414" cy="22229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C383631-AE7A-0B4E-E234-468D153B8783}"/>
              </a:ext>
            </a:extLst>
          </p:cNvPr>
          <p:cNvSpPr/>
          <p:nvPr/>
        </p:nvSpPr>
        <p:spPr>
          <a:xfrm>
            <a:off x="2481437" y="6619247"/>
            <a:ext cx="508958" cy="22229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F1E34F-3880-CE53-E64A-E765D26E483A}"/>
              </a:ext>
            </a:extLst>
          </p:cNvPr>
          <p:cNvSpPr/>
          <p:nvPr/>
        </p:nvSpPr>
        <p:spPr>
          <a:xfrm>
            <a:off x="792013" y="4475797"/>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1</a:t>
            </a:r>
          </a:p>
        </p:txBody>
      </p:sp>
      <p:sp>
        <p:nvSpPr>
          <p:cNvPr id="19" name="Rectangle 18">
            <a:extLst>
              <a:ext uri="{FF2B5EF4-FFF2-40B4-BE49-F238E27FC236}">
                <a16:creationId xmlns:a16="http://schemas.microsoft.com/office/drawing/2014/main" id="{AB47C871-5A5C-E6A2-FEC5-A84E1034E2CC}"/>
              </a:ext>
            </a:extLst>
          </p:cNvPr>
          <p:cNvSpPr/>
          <p:nvPr/>
        </p:nvSpPr>
        <p:spPr>
          <a:xfrm>
            <a:off x="2817682" y="6207176"/>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2</a:t>
            </a:r>
          </a:p>
        </p:txBody>
      </p:sp>
      <p:pic>
        <p:nvPicPr>
          <p:cNvPr id="35" name="Picture 34">
            <a:extLst>
              <a:ext uri="{FF2B5EF4-FFF2-40B4-BE49-F238E27FC236}">
                <a16:creationId xmlns:a16="http://schemas.microsoft.com/office/drawing/2014/main" id="{34EAF79C-8CDA-BD9E-0A6E-B8704EF93A00}"/>
              </a:ext>
            </a:extLst>
          </p:cNvPr>
          <p:cNvPicPr>
            <a:picLocks noChangeAspect="1"/>
          </p:cNvPicPr>
          <p:nvPr/>
        </p:nvPicPr>
        <p:blipFill>
          <a:blip r:embed="rId5"/>
          <a:stretch>
            <a:fillRect/>
          </a:stretch>
        </p:blipFill>
        <p:spPr>
          <a:xfrm>
            <a:off x="4945789" y="1310555"/>
            <a:ext cx="3999806" cy="2233712"/>
          </a:xfrm>
          <a:prstGeom prst="rect">
            <a:avLst/>
          </a:prstGeom>
        </p:spPr>
      </p:pic>
      <p:sp>
        <p:nvSpPr>
          <p:cNvPr id="36" name="Oval 35">
            <a:extLst>
              <a:ext uri="{FF2B5EF4-FFF2-40B4-BE49-F238E27FC236}">
                <a16:creationId xmlns:a16="http://schemas.microsoft.com/office/drawing/2014/main" id="{0B9E3D5A-D67F-01AA-FB36-238E1F038B6D}"/>
              </a:ext>
            </a:extLst>
          </p:cNvPr>
          <p:cNvSpPr/>
          <p:nvPr/>
        </p:nvSpPr>
        <p:spPr>
          <a:xfrm>
            <a:off x="6009100" y="1906438"/>
            <a:ext cx="245049" cy="20782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BC5FECF5-AE0E-F11D-D09A-4105D47AA451}"/>
              </a:ext>
            </a:extLst>
          </p:cNvPr>
          <p:cNvSpPr/>
          <p:nvPr/>
        </p:nvSpPr>
        <p:spPr>
          <a:xfrm>
            <a:off x="7880985" y="1979197"/>
            <a:ext cx="1187683" cy="1449803"/>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C5893AC-7889-87FC-D840-B47DFD23CD38}"/>
              </a:ext>
            </a:extLst>
          </p:cNvPr>
          <p:cNvSpPr/>
          <p:nvPr/>
        </p:nvSpPr>
        <p:spPr>
          <a:xfrm>
            <a:off x="5627299" y="1978342"/>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1</a:t>
            </a:r>
          </a:p>
        </p:txBody>
      </p:sp>
      <p:sp>
        <p:nvSpPr>
          <p:cNvPr id="39" name="Rectangle 38">
            <a:extLst>
              <a:ext uri="{FF2B5EF4-FFF2-40B4-BE49-F238E27FC236}">
                <a16:creationId xmlns:a16="http://schemas.microsoft.com/office/drawing/2014/main" id="{8CD82A5D-EF88-72F0-F063-796EFC3DDF87}"/>
              </a:ext>
            </a:extLst>
          </p:cNvPr>
          <p:cNvSpPr/>
          <p:nvPr/>
        </p:nvSpPr>
        <p:spPr>
          <a:xfrm>
            <a:off x="8543949" y="1477080"/>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2</a:t>
            </a:r>
          </a:p>
        </p:txBody>
      </p:sp>
      <p:sp>
        <p:nvSpPr>
          <p:cNvPr id="42" name="Oval 41">
            <a:extLst>
              <a:ext uri="{FF2B5EF4-FFF2-40B4-BE49-F238E27FC236}">
                <a16:creationId xmlns:a16="http://schemas.microsoft.com/office/drawing/2014/main" id="{EFC08DB8-709D-AEDB-6EC3-AFBB0F1C8068}"/>
              </a:ext>
            </a:extLst>
          </p:cNvPr>
          <p:cNvSpPr/>
          <p:nvPr/>
        </p:nvSpPr>
        <p:spPr>
          <a:xfrm>
            <a:off x="7997825" y="5529508"/>
            <a:ext cx="556385" cy="16544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uadroTexto 17">
            <a:extLst>
              <a:ext uri="{FF2B5EF4-FFF2-40B4-BE49-F238E27FC236}">
                <a16:creationId xmlns:a16="http://schemas.microsoft.com/office/drawing/2014/main" id="{D6936F6E-2D1A-D319-391E-088690B64AE6}"/>
              </a:ext>
            </a:extLst>
          </p:cNvPr>
          <p:cNvSpPr txBox="1"/>
          <p:nvPr/>
        </p:nvSpPr>
        <p:spPr>
          <a:xfrm>
            <a:off x="4827149" y="4232201"/>
            <a:ext cx="1423993" cy="2031325"/>
          </a:xfrm>
          <a:prstGeom prst="rect">
            <a:avLst/>
          </a:prstGeom>
          <a:noFill/>
        </p:spPr>
        <p:txBody>
          <a:bodyPr wrap="square">
            <a:spAutoFit/>
          </a:bodyPr>
          <a:lstStyle/>
          <a:p>
            <a:pPr algn="ctr"/>
            <a:r>
              <a:rPr lang="es-MX" sz="1400" dirty="0"/>
              <a:t>Dividir la columna W-D-L por delimitador para tener la cantidad de partidos W (ganados), D (empatados), L (Perdidos)</a:t>
            </a:r>
            <a:endParaRPr lang="en-US" sz="1400" dirty="0"/>
          </a:p>
        </p:txBody>
      </p:sp>
    </p:spTree>
    <p:extLst>
      <p:ext uri="{BB962C8B-B14F-4D97-AF65-F5344CB8AC3E}">
        <p14:creationId xmlns:p14="http://schemas.microsoft.com/office/powerpoint/2010/main" val="2683688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22" grpId="0"/>
      <p:bldP spid="4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A5EEA-994F-FC95-D157-8811F40E98A9}"/>
            </a:ext>
          </a:extLst>
        </p:cNvPr>
        <p:cNvGrpSpPr/>
        <p:nvPr/>
      </p:nvGrpSpPr>
      <p:grpSpPr>
        <a:xfrm>
          <a:off x="0" y="0"/>
          <a:ext cx="0" cy="0"/>
          <a:chOff x="0" y="0"/>
          <a:chExt cx="0" cy="0"/>
        </a:xfrm>
      </p:grpSpPr>
      <p:pic>
        <p:nvPicPr>
          <p:cNvPr id="41" name="Picture 40">
            <a:extLst>
              <a:ext uri="{FF2B5EF4-FFF2-40B4-BE49-F238E27FC236}">
                <a16:creationId xmlns:a16="http://schemas.microsoft.com/office/drawing/2014/main" id="{5AD40613-2560-D227-B50F-AFEA6F3E2C5C}"/>
              </a:ext>
            </a:extLst>
          </p:cNvPr>
          <p:cNvPicPr>
            <a:picLocks noChangeAspect="1"/>
          </p:cNvPicPr>
          <p:nvPr/>
        </p:nvPicPr>
        <p:blipFill>
          <a:blip r:embed="rId2"/>
          <a:srcRect l="52207"/>
          <a:stretch/>
        </p:blipFill>
        <p:spPr>
          <a:xfrm>
            <a:off x="4766870" y="3510953"/>
            <a:ext cx="2667469" cy="2575283"/>
          </a:xfrm>
          <a:prstGeom prst="rect">
            <a:avLst/>
          </a:prstGeom>
        </p:spPr>
      </p:pic>
      <p:sp>
        <p:nvSpPr>
          <p:cNvPr id="8" name="Rectángulo 7">
            <a:extLst>
              <a:ext uri="{FF2B5EF4-FFF2-40B4-BE49-F238E27FC236}">
                <a16:creationId xmlns:a16="http://schemas.microsoft.com/office/drawing/2014/main" id="{24FA3F6B-368D-0B89-F1D4-5513622EFFCE}"/>
              </a:ext>
            </a:extLst>
          </p:cNvPr>
          <p:cNvSpPr/>
          <p:nvPr/>
        </p:nvSpPr>
        <p:spPr>
          <a:xfrm>
            <a:off x="0" y="0"/>
            <a:ext cx="9144000" cy="38862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a:extLst>
              <a:ext uri="{FF2B5EF4-FFF2-40B4-BE49-F238E27FC236}">
                <a16:creationId xmlns:a16="http://schemas.microsoft.com/office/drawing/2014/main" id="{DF758484-342B-903B-F414-517D2272B4C9}"/>
              </a:ext>
            </a:extLst>
          </p:cNvPr>
          <p:cNvSpPr/>
          <p:nvPr/>
        </p:nvSpPr>
        <p:spPr>
          <a:xfrm>
            <a:off x="0" y="39161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5</a:t>
            </a:r>
            <a:endParaRPr lang="en-US" dirty="0"/>
          </a:p>
        </p:txBody>
      </p:sp>
      <p:sp>
        <p:nvSpPr>
          <p:cNvPr id="3" name="CuadroTexto 17">
            <a:extLst>
              <a:ext uri="{FF2B5EF4-FFF2-40B4-BE49-F238E27FC236}">
                <a16:creationId xmlns:a16="http://schemas.microsoft.com/office/drawing/2014/main" id="{DC353A84-F0EF-80EB-BDBB-59F24CAB2A30}"/>
              </a:ext>
            </a:extLst>
          </p:cNvPr>
          <p:cNvSpPr txBox="1"/>
          <p:nvPr/>
        </p:nvSpPr>
        <p:spPr>
          <a:xfrm>
            <a:off x="-2047" y="832617"/>
            <a:ext cx="3726610" cy="923330"/>
          </a:xfrm>
          <a:prstGeom prst="rect">
            <a:avLst/>
          </a:prstGeom>
          <a:noFill/>
        </p:spPr>
        <p:txBody>
          <a:bodyPr wrap="square">
            <a:spAutoFit/>
          </a:bodyPr>
          <a:lstStyle/>
          <a:p>
            <a:pPr algn="ctr"/>
            <a:r>
              <a:rPr lang="es-MX" dirty="0"/>
              <a:t>El paso anterior abrirá una ventana, deberemos pegar el link de la pagina y </a:t>
            </a:r>
            <a:r>
              <a:rPr lang="es-MX" dirty="0" err="1"/>
              <a:t>click</a:t>
            </a:r>
            <a:r>
              <a:rPr lang="es-MX" dirty="0"/>
              <a:t> en el botón “Ok”</a:t>
            </a:r>
            <a:endParaRPr lang="en-US" dirty="0"/>
          </a:p>
        </p:txBody>
      </p:sp>
      <p:sp>
        <p:nvSpPr>
          <p:cNvPr id="14" name="CuadroTexto 17">
            <a:extLst>
              <a:ext uri="{FF2B5EF4-FFF2-40B4-BE49-F238E27FC236}">
                <a16:creationId xmlns:a16="http://schemas.microsoft.com/office/drawing/2014/main" id="{2CAB57DD-19A6-A2CB-9BB0-66432A0C0D8A}"/>
              </a:ext>
            </a:extLst>
          </p:cNvPr>
          <p:cNvSpPr txBox="1"/>
          <p:nvPr/>
        </p:nvSpPr>
        <p:spPr>
          <a:xfrm>
            <a:off x="-27927" y="3558915"/>
            <a:ext cx="2845609" cy="830997"/>
          </a:xfrm>
          <a:prstGeom prst="rect">
            <a:avLst/>
          </a:prstGeom>
          <a:noFill/>
        </p:spPr>
        <p:txBody>
          <a:bodyPr wrap="square">
            <a:spAutoFit/>
          </a:bodyPr>
          <a:lstStyle/>
          <a:p>
            <a:r>
              <a:rPr lang="es-MX" sz="1200" dirty="0"/>
              <a:t>Una vez que hayamos conectado a la pagina </a:t>
            </a:r>
            <a:r>
              <a:rPr lang="es-MX" sz="1200" dirty="0" err="1"/>
              <a:t>Power</a:t>
            </a:r>
            <a:r>
              <a:rPr lang="es-MX" sz="1200" dirty="0"/>
              <a:t> Bi nos mostrara una vista preliminar, seleccionar la tabla con los datos requeridos</a:t>
            </a:r>
            <a:endParaRPr lang="en-US" sz="1200" dirty="0"/>
          </a:p>
        </p:txBody>
      </p:sp>
      <p:sp>
        <p:nvSpPr>
          <p:cNvPr id="17" name="Rectángulo 1">
            <a:extLst>
              <a:ext uri="{FF2B5EF4-FFF2-40B4-BE49-F238E27FC236}">
                <a16:creationId xmlns:a16="http://schemas.microsoft.com/office/drawing/2014/main" id="{24FF1090-5251-349A-CF21-1B14DAE34422}"/>
              </a:ext>
            </a:extLst>
          </p:cNvPr>
          <p:cNvSpPr/>
          <p:nvPr/>
        </p:nvSpPr>
        <p:spPr>
          <a:xfrm>
            <a:off x="-2047" y="3128233"/>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6</a:t>
            </a:r>
            <a:endParaRPr lang="en-US" dirty="0"/>
          </a:p>
        </p:txBody>
      </p:sp>
      <p:sp>
        <p:nvSpPr>
          <p:cNvPr id="21" name="Rectángulo 1">
            <a:extLst>
              <a:ext uri="{FF2B5EF4-FFF2-40B4-BE49-F238E27FC236}">
                <a16:creationId xmlns:a16="http://schemas.microsoft.com/office/drawing/2014/main" id="{1D4731E8-2CE6-B431-CE5B-4EDC1158F777}"/>
              </a:ext>
            </a:extLst>
          </p:cNvPr>
          <p:cNvSpPr/>
          <p:nvPr/>
        </p:nvSpPr>
        <p:spPr>
          <a:xfrm>
            <a:off x="6617972" y="39161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7</a:t>
            </a:r>
            <a:endParaRPr lang="en-US" dirty="0"/>
          </a:p>
        </p:txBody>
      </p:sp>
      <p:sp>
        <p:nvSpPr>
          <p:cNvPr id="22" name="CuadroTexto 17">
            <a:extLst>
              <a:ext uri="{FF2B5EF4-FFF2-40B4-BE49-F238E27FC236}">
                <a16:creationId xmlns:a16="http://schemas.microsoft.com/office/drawing/2014/main" id="{529C7095-6776-E508-1427-093ED167BE26}"/>
              </a:ext>
            </a:extLst>
          </p:cNvPr>
          <p:cNvSpPr txBox="1"/>
          <p:nvPr/>
        </p:nvSpPr>
        <p:spPr>
          <a:xfrm>
            <a:off x="4572001" y="747604"/>
            <a:ext cx="4511616" cy="523220"/>
          </a:xfrm>
          <a:prstGeom prst="rect">
            <a:avLst/>
          </a:prstGeom>
          <a:noFill/>
        </p:spPr>
        <p:txBody>
          <a:bodyPr wrap="square">
            <a:spAutoFit/>
          </a:bodyPr>
          <a:lstStyle/>
          <a:p>
            <a:pPr algn="ctr"/>
            <a:r>
              <a:rPr lang="es-MX" sz="1400" dirty="0"/>
              <a:t>Una vez cargados los datos, asegurar que el tipo de dato sea el correcto en cada columna</a:t>
            </a:r>
            <a:endParaRPr lang="en-US" sz="1400" dirty="0"/>
          </a:p>
        </p:txBody>
      </p:sp>
      <p:sp>
        <p:nvSpPr>
          <p:cNvPr id="24" name="Rectángulo 1">
            <a:extLst>
              <a:ext uri="{FF2B5EF4-FFF2-40B4-BE49-F238E27FC236}">
                <a16:creationId xmlns:a16="http://schemas.microsoft.com/office/drawing/2014/main" id="{4D99265F-1652-E3AB-D044-5AC9E4670939}"/>
              </a:ext>
            </a:extLst>
          </p:cNvPr>
          <p:cNvSpPr/>
          <p:nvPr/>
        </p:nvSpPr>
        <p:spPr>
          <a:xfrm>
            <a:off x="6617970" y="3234690"/>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8</a:t>
            </a:r>
            <a:endParaRPr lang="en-US" dirty="0"/>
          </a:p>
        </p:txBody>
      </p:sp>
      <p:sp>
        <p:nvSpPr>
          <p:cNvPr id="27" name="Oval 26">
            <a:extLst>
              <a:ext uri="{FF2B5EF4-FFF2-40B4-BE49-F238E27FC236}">
                <a16:creationId xmlns:a16="http://schemas.microsoft.com/office/drawing/2014/main" id="{DA40D144-5706-C065-258C-CCDAF7FC1B1C}"/>
              </a:ext>
            </a:extLst>
          </p:cNvPr>
          <p:cNvSpPr/>
          <p:nvPr/>
        </p:nvSpPr>
        <p:spPr>
          <a:xfrm>
            <a:off x="5267183" y="4983287"/>
            <a:ext cx="677586" cy="16544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8F289F1-CDDE-53D5-923F-0172AC19FB2F}"/>
              </a:ext>
            </a:extLst>
          </p:cNvPr>
          <p:cNvPicPr>
            <a:picLocks noChangeAspect="1"/>
          </p:cNvPicPr>
          <p:nvPr/>
        </p:nvPicPr>
        <p:blipFill>
          <a:blip r:embed="rId3"/>
          <a:stretch>
            <a:fillRect/>
          </a:stretch>
        </p:blipFill>
        <p:spPr>
          <a:xfrm>
            <a:off x="0" y="1816967"/>
            <a:ext cx="3640347" cy="1210684"/>
          </a:xfrm>
          <a:prstGeom prst="rect">
            <a:avLst/>
          </a:prstGeom>
        </p:spPr>
      </p:pic>
      <p:pic>
        <p:nvPicPr>
          <p:cNvPr id="11" name="Picture 10">
            <a:extLst>
              <a:ext uri="{FF2B5EF4-FFF2-40B4-BE49-F238E27FC236}">
                <a16:creationId xmlns:a16="http://schemas.microsoft.com/office/drawing/2014/main" id="{C55EC634-5523-2AF9-7F5A-9B3DC5181104}"/>
              </a:ext>
            </a:extLst>
          </p:cNvPr>
          <p:cNvPicPr>
            <a:picLocks noChangeAspect="1"/>
          </p:cNvPicPr>
          <p:nvPr/>
        </p:nvPicPr>
        <p:blipFill>
          <a:blip r:embed="rId4"/>
          <a:stretch>
            <a:fillRect/>
          </a:stretch>
        </p:blipFill>
        <p:spPr>
          <a:xfrm>
            <a:off x="278326" y="4534623"/>
            <a:ext cx="2923380" cy="2306922"/>
          </a:xfrm>
          <a:prstGeom prst="rect">
            <a:avLst/>
          </a:prstGeom>
        </p:spPr>
      </p:pic>
      <p:sp>
        <p:nvSpPr>
          <p:cNvPr id="12" name="Oval 11">
            <a:extLst>
              <a:ext uri="{FF2B5EF4-FFF2-40B4-BE49-F238E27FC236}">
                <a16:creationId xmlns:a16="http://schemas.microsoft.com/office/drawing/2014/main" id="{11C16639-B061-F81C-E938-A21EDDC7E13D}"/>
              </a:ext>
            </a:extLst>
          </p:cNvPr>
          <p:cNvSpPr/>
          <p:nvPr/>
        </p:nvSpPr>
        <p:spPr>
          <a:xfrm>
            <a:off x="249682" y="4912699"/>
            <a:ext cx="844414" cy="22229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14ACFF9-2E35-92FF-DD50-F03BDB0F83D7}"/>
              </a:ext>
            </a:extLst>
          </p:cNvPr>
          <p:cNvSpPr/>
          <p:nvPr/>
        </p:nvSpPr>
        <p:spPr>
          <a:xfrm>
            <a:off x="2481437" y="6619247"/>
            <a:ext cx="508958" cy="22229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5C19487-F69B-8976-790E-594041D11222}"/>
              </a:ext>
            </a:extLst>
          </p:cNvPr>
          <p:cNvSpPr/>
          <p:nvPr/>
        </p:nvSpPr>
        <p:spPr>
          <a:xfrm>
            <a:off x="792013" y="4475797"/>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1</a:t>
            </a:r>
          </a:p>
        </p:txBody>
      </p:sp>
      <p:sp>
        <p:nvSpPr>
          <p:cNvPr id="19" name="Rectangle 18">
            <a:extLst>
              <a:ext uri="{FF2B5EF4-FFF2-40B4-BE49-F238E27FC236}">
                <a16:creationId xmlns:a16="http://schemas.microsoft.com/office/drawing/2014/main" id="{9E193B89-7E9B-0B37-109D-213E79AEAA00}"/>
              </a:ext>
            </a:extLst>
          </p:cNvPr>
          <p:cNvSpPr/>
          <p:nvPr/>
        </p:nvSpPr>
        <p:spPr>
          <a:xfrm>
            <a:off x="2817682" y="6207176"/>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2</a:t>
            </a:r>
          </a:p>
        </p:txBody>
      </p:sp>
      <p:pic>
        <p:nvPicPr>
          <p:cNvPr id="35" name="Picture 34">
            <a:extLst>
              <a:ext uri="{FF2B5EF4-FFF2-40B4-BE49-F238E27FC236}">
                <a16:creationId xmlns:a16="http://schemas.microsoft.com/office/drawing/2014/main" id="{BC79DD60-9DDD-6A20-75F9-D1ABF8B11C10}"/>
              </a:ext>
            </a:extLst>
          </p:cNvPr>
          <p:cNvPicPr>
            <a:picLocks noChangeAspect="1"/>
          </p:cNvPicPr>
          <p:nvPr/>
        </p:nvPicPr>
        <p:blipFill>
          <a:blip r:embed="rId5"/>
          <a:stretch>
            <a:fillRect/>
          </a:stretch>
        </p:blipFill>
        <p:spPr>
          <a:xfrm>
            <a:off x="5077064" y="1197200"/>
            <a:ext cx="3361449" cy="1877218"/>
          </a:xfrm>
          <a:prstGeom prst="rect">
            <a:avLst/>
          </a:prstGeom>
        </p:spPr>
      </p:pic>
      <p:sp>
        <p:nvSpPr>
          <p:cNvPr id="36" name="Oval 35">
            <a:extLst>
              <a:ext uri="{FF2B5EF4-FFF2-40B4-BE49-F238E27FC236}">
                <a16:creationId xmlns:a16="http://schemas.microsoft.com/office/drawing/2014/main" id="{1D12C9DA-C34D-2FE8-0FE2-F32E7F240B68}"/>
              </a:ext>
            </a:extLst>
          </p:cNvPr>
          <p:cNvSpPr/>
          <p:nvPr/>
        </p:nvSpPr>
        <p:spPr>
          <a:xfrm>
            <a:off x="5855556" y="1687436"/>
            <a:ext cx="245049" cy="20782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26E7B52-E176-F0A3-F0CE-CB7E6954967C}"/>
              </a:ext>
            </a:extLst>
          </p:cNvPr>
          <p:cNvSpPr/>
          <p:nvPr/>
        </p:nvSpPr>
        <p:spPr>
          <a:xfrm>
            <a:off x="7633960" y="1521998"/>
            <a:ext cx="759342" cy="1449803"/>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3B76F18-7EF4-08C2-8A58-E1731B84D962}"/>
              </a:ext>
            </a:extLst>
          </p:cNvPr>
          <p:cNvSpPr/>
          <p:nvPr/>
        </p:nvSpPr>
        <p:spPr>
          <a:xfrm>
            <a:off x="5267183" y="1599515"/>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1</a:t>
            </a:r>
          </a:p>
        </p:txBody>
      </p:sp>
      <p:sp>
        <p:nvSpPr>
          <p:cNvPr id="39" name="Rectangle 38">
            <a:extLst>
              <a:ext uri="{FF2B5EF4-FFF2-40B4-BE49-F238E27FC236}">
                <a16:creationId xmlns:a16="http://schemas.microsoft.com/office/drawing/2014/main" id="{41096E0E-BBF0-78AA-46C3-00C28DAC4384}"/>
              </a:ext>
            </a:extLst>
          </p:cNvPr>
          <p:cNvSpPr/>
          <p:nvPr/>
        </p:nvSpPr>
        <p:spPr>
          <a:xfrm>
            <a:off x="8543949" y="1320648"/>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2</a:t>
            </a:r>
          </a:p>
        </p:txBody>
      </p:sp>
      <p:sp>
        <p:nvSpPr>
          <p:cNvPr id="42" name="Oval 41">
            <a:extLst>
              <a:ext uri="{FF2B5EF4-FFF2-40B4-BE49-F238E27FC236}">
                <a16:creationId xmlns:a16="http://schemas.microsoft.com/office/drawing/2014/main" id="{A2A4DE24-BB84-8D8D-1EB2-E6932AE347F2}"/>
              </a:ext>
            </a:extLst>
          </p:cNvPr>
          <p:cNvSpPr/>
          <p:nvPr/>
        </p:nvSpPr>
        <p:spPr>
          <a:xfrm>
            <a:off x="6450476" y="4969548"/>
            <a:ext cx="556385" cy="16544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uadroTexto 17">
            <a:extLst>
              <a:ext uri="{FF2B5EF4-FFF2-40B4-BE49-F238E27FC236}">
                <a16:creationId xmlns:a16="http://schemas.microsoft.com/office/drawing/2014/main" id="{A059AB80-3316-EBF3-F7E5-D72951CCE031}"/>
              </a:ext>
            </a:extLst>
          </p:cNvPr>
          <p:cNvSpPr txBox="1"/>
          <p:nvPr/>
        </p:nvSpPr>
        <p:spPr>
          <a:xfrm>
            <a:off x="3640347" y="3468289"/>
            <a:ext cx="1216911" cy="1754326"/>
          </a:xfrm>
          <a:prstGeom prst="rect">
            <a:avLst/>
          </a:prstGeom>
          <a:noFill/>
        </p:spPr>
        <p:txBody>
          <a:bodyPr wrap="square">
            <a:spAutoFit/>
          </a:bodyPr>
          <a:lstStyle/>
          <a:p>
            <a:pPr algn="ctr"/>
            <a:r>
              <a:rPr lang="es-MX" sz="1200" dirty="0"/>
              <a:t>Dividir la columna W-D-L por delimitador para tener la cantidad de partidos W (ganados), D (empatados), L (Perdidos)</a:t>
            </a:r>
            <a:endParaRPr lang="en-US" sz="1200" dirty="0"/>
          </a:p>
        </p:txBody>
      </p:sp>
      <p:pic>
        <p:nvPicPr>
          <p:cNvPr id="5" name="Picture 4">
            <a:extLst>
              <a:ext uri="{FF2B5EF4-FFF2-40B4-BE49-F238E27FC236}">
                <a16:creationId xmlns:a16="http://schemas.microsoft.com/office/drawing/2014/main" id="{B84FF033-1C05-FA56-3FF2-7C9D96824579}"/>
              </a:ext>
            </a:extLst>
          </p:cNvPr>
          <p:cNvPicPr>
            <a:picLocks noChangeAspect="1"/>
          </p:cNvPicPr>
          <p:nvPr/>
        </p:nvPicPr>
        <p:blipFill>
          <a:blip r:embed="rId6"/>
          <a:srcRect b="36846"/>
          <a:stretch/>
        </p:blipFill>
        <p:spPr>
          <a:xfrm>
            <a:off x="6393886" y="5537352"/>
            <a:ext cx="2694143" cy="1150569"/>
          </a:xfrm>
          <a:prstGeom prst="rect">
            <a:avLst/>
          </a:prstGeom>
        </p:spPr>
      </p:pic>
      <p:sp>
        <p:nvSpPr>
          <p:cNvPr id="10" name="Arrow: Bent 9">
            <a:extLst>
              <a:ext uri="{FF2B5EF4-FFF2-40B4-BE49-F238E27FC236}">
                <a16:creationId xmlns:a16="http://schemas.microsoft.com/office/drawing/2014/main" id="{94D2E4C9-609C-FD56-184A-5E20A9177578}"/>
              </a:ext>
            </a:extLst>
          </p:cNvPr>
          <p:cNvSpPr/>
          <p:nvPr/>
        </p:nvSpPr>
        <p:spPr>
          <a:xfrm rot="5400000">
            <a:off x="7663655" y="4837845"/>
            <a:ext cx="465826" cy="729232"/>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45CFDE12-2A9A-6B09-666E-4E358D731A2C}"/>
              </a:ext>
            </a:extLst>
          </p:cNvPr>
          <p:cNvSpPr/>
          <p:nvPr/>
        </p:nvSpPr>
        <p:spPr>
          <a:xfrm>
            <a:off x="4985866" y="4608235"/>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1</a:t>
            </a:r>
          </a:p>
        </p:txBody>
      </p:sp>
      <p:sp>
        <p:nvSpPr>
          <p:cNvPr id="16" name="Rectangle 15">
            <a:extLst>
              <a:ext uri="{FF2B5EF4-FFF2-40B4-BE49-F238E27FC236}">
                <a16:creationId xmlns:a16="http://schemas.microsoft.com/office/drawing/2014/main" id="{EDF52DFA-6DE9-F443-8E1B-80F203BD45AC}"/>
              </a:ext>
            </a:extLst>
          </p:cNvPr>
          <p:cNvSpPr/>
          <p:nvPr/>
        </p:nvSpPr>
        <p:spPr>
          <a:xfrm>
            <a:off x="6473360" y="4490912"/>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2</a:t>
            </a:r>
          </a:p>
        </p:txBody>
      </p:sp>
      <p:sp>
        <p:nvSpPr>
          <p:cNvPr id="20" name="Rectangle 19">
            <a:extLst>
              <a:ext uri="{FF2B5EF4-FFF2-40B4-BE49-F238E27FC236}">
                <a16:creationId xmlns:a16="http://schemas.microsoft.com/office/drawing/2014/main" id="{3F9D7D07-A6F4-55D0-D30A-C2AB45E83B61}"/>
              </a:ext>
            </a:extLst>
          </p:cNvPr>
          <p:cNvSpPr/>
          <p:nvPr/>
        </p:nvSpPr>
        <p:spPr>
          <a:xfrm>
            <a:off x="8500478" y="5023848"/>
            <a:ext cx="367408" cy="523220"/>
          </a:xfrm>
          <a:prstGeom prst="rect">
            <a:avLst/>
          </a:prstGeom>
          <a:noFill/>
        </p:spPr>
        <p:txBody>
          <a:bodyPr wrap="none" lIns="91440" tIns="45720" rIns="91440" bIns="45720">
            <a:spAutoFit/>
          </a:bodyPr>
          <a:lstStyle/>
          <a:p>
            <a:pPr algn="ctr"/>
            <a:r>
              <a:rPr lang="en-US" sz="2800" dirty="0">
                <a:ln w="0"/>
                <a:solidFill>
                  <a:schemeClr val="accent1"/>
                </a:solidFill>
                <a:effectLst>
                  <a:outerShdw blurRad="38100" dist="25400" dir="5400000" algn="ctr" rotWithShape="0">
                    <a:srgbClr val="6E747A">
                      <a:alpha val="43000"/>
                    </a:srgbClr>
                  </a:outerShdw>
                </a:effectLst>
              </a:rPr>
              <a:t>3</a:t>
            </a:r>
            <a:endParaRPr lang="en-US" sz="28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229345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22" grpId="0"/>
      <p:bldP spid="4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BD3B3-F06B-3D25-EE10-7F21EFCA590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8068388-5BFD-B1A6-3D4E-B0F972635FA3}"/>
              </a:ext>
            </a:extLst>
          </p:cNvPr>
          <p:cNvSpPr/>
          <p:nvPr/>
        </p:nvSpPr>
        <p:spPr>
          <a:xfrm>
            <a:off x="0" y="0"/>
            <a:ext cx="9144000" cy="38862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a:extLst>
              <a:ext uri="{FF2B5EF4-FFF2-40B4-BE49-F238E27FC236}">
                <a16:creationId xmlns:a16="http://schemas.microsoft.com/office/drawing/2014/main" id="{73707C7E-37CB-B0C8-B060-8737A2791E96}"/>
              </a:ext>
            </a:extLst>
          </p:cNvPr>
          <p:cNvSpPr/>
          <p:nvPr/>
        </p:nvSpPr>
        <p:spPr>
          <a:xfrm>
            <a:off x="0" y="39161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9</a:t>
            </a:r>
            <a:endParaRPr lang="en-US" dirty="0"/>
          </a:p>
        </p:txBody>
      </p:sp>
      <p:sp>
        <p:nvSpPr>
          <p:cNvPr id="3" name="CuadroTexto 17">
            <a:extLst>
              <a:ext uri="{FF2B5EF4-FFF2-40B4-BE49-F238E27FC236}">
                <a16:creationId xmlns:a16="http://schemas.microsoft.com/office/drawing/2014/main" id="{2A88352D-1DE6-06DC-74F6-EB63C3553A92}"/>
              </a:ext>
            </a:extLst>
          </p:cNvPr>
          <p:cNvSpPr txBox="1"/>
          <p:nvPr/>
        </p:nvSpPr>
        <p:spPr>
          <a:xfrm>
            <a:off x="-2047" y="832617"/>
            <a:ext cx="3187137" cy="738664"/>
          </a:xfrm>
          <a:prstGeom prst="rect">
            <a:avLst/>
          </a:prstGeom>
          <a:noFill/>
        </p:spPr>
        <p:txBody>
          <a:bodyPr wrap="square">
            <a:spAutoFit/>
          </a:bodyPr>
          <a:lstStyle/>
          <a:p>
            <a:pPr algn="ctr"/>
            <a:r>
              <a:rPr lang="es-MX" sz="1400" dirty="0"/>
              <a:t>Renombrar las columnas resultantes del Split [Columna1] ganadas, [Columna2] Empatados, [Columna3] Perdidos</a:t>
            </a:r>
            <a:endParaRPr lang="en-US" sz="1400" dirty="0"/>
          </a:p>
        </p:txBody>
      </p:sp>
      <p:sp>
        <p:nvSpPr>
          <p:cNvPr id="14" name="CuadroTexto 17">
            <a:extLst>
              <a:ext uri="{FF2B5EF4-FFF2-40B4-BE49-F238E27FC236}">
                <a16:creationId xmlns:a16="http://schemas.microsoft.com/office/drawing/2014/main" id="{238FE543-C31E-D43F-5719-18C83804BE19}"/>
              </a:ext>
            </a:extLst>
          </p:cNvPr>
          <p:cNvSpPr txBox="1"/>
          <p:nvPr/>
        </p:nvSpPr>
        <p:spPr>
          <a:xfrm>
            <a:off x="-27927" y="3558915"/>
            <a:ext cx="2845609" cy="830997"/>
          </a:xfrm>
          <a:prstGeom prst="rect">
            <a:avLst/>
          </a:prstGeom>
          <a:noFill/>
        </p:spPr>
        <p:txBody>
          <a:bodyPr wrap="square">
            <a:spAutoFit/>
          </a:bodyPr>
          <a:lstStyle/>
          <a:p>
            <a:r>
              <a:rPr lang="es-MX" sz="1200" dirty="0"/>
              <a:t>Para obtener los puntos ganadas por cada equipo primero generar una nueva columna para multiplicar la columna [Ganados] x 3</a:t>
            </a:r>
            <a:endParaRPr lang="en-US" sz="1200" dirty="0"/>
          </a:p>
        </p:txBody>
      </p:sp>
      <p:sp>
        <p:nvSpPr>
          <p:cNvPr id="17" name="Rectángulo 1">
            <a:extLst>
              <a:ext uri="{FF2B5EF4-FFF2-40B4-BE49-F238E27FC236}">
                <a16:creationId xmlns:a16="http://schemas.microsoft.com/office/drawing/2014/main" id="{7CF80ADE-DEFA-41F5-6970-CDE00AFD7F15}"/>
              </a:ext>
            </a:extLst>
          </p:cNvPr>
          <p:cNvSpPr/>
          <p:nvPr/>
        </p:nvSpPr>
        <p:spPr>
          <a:xfrm>
            <a:off x="-2047" y="3128233"/>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10</a:t>
            </a:r>
            <a:endParaRPr lang="en-US" dirty="0"/>
          </a:p>
        </p:txBody>
      </p:sp>
      <p:sp>
        <p:nvSpPr>
          <p:cNvPr id="21" name="Rectángulo 1">
            <a:extLst>
              <a:ext uri="{FF2B5EF4-FFF2-40B4-BE49-F238E27FC236}">
                <a16:creationId xmlns:a16="http://schemas.microsoft.com/office/drawing/2014/main" id="{50459A6E-1BB8-A2C7-9948-79C5C037B927}"/>
              </a:ext>
            </a:extLst>
          </p:cNvPr>
          <p:cNvSpPr/>
          <p:nvPr/>
        </p:nvSpPr>
        <p:spPr>
          <a:xfrm>
            <a:off x="6617972" y="39161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11</a:t>
            </a:r>
            <a:endParaRPr lang="en-US" dirty="0"/>
          </a:p>
        </p:txBody>
      </p:sp>
      <p:sp>
        <p:nvSpPr>
          <p:cNvPr id="22" name="CuadroTexto 17">
            <a:extLst>
              <a:ext uri="{FF2B5EF4-FFF2-40B4-BE49-F238E27FC236}">
                <a16:creationId xmlns:a16="http://schemas.microsoft.com/office/drawing/2014/main" id="{C9A588ED-E45A-E631-21D5-FB8EA5AEA231}"/>
              </a:ext>
            </a:extLst>
          </p:cNvPr>
          <p:cNvSpPr txBox="1"/>
          <p:nvPr/>
        </p:nvSpPr>
        <p:spPr>
          <a:xfrm>
            <a:off x="4717810" y="3788426"/>
            <a:ext cx="4259673" cy="954107"/>
          </a:xfrm>
          <a:prstGeom prst="rect">
            <a:avLst/>
          </a:prstGeom>
          <a:noFill/>
        </p:spPr>
        <p:txBody>
          <a:bodyPr wrap="square">
            <a:spAutoFit/>
          </a:bodyPr>
          <a:lstStyle/>
          <a:p>
            <a:pPr algn="ctr"/>
            <a:r>
              <a:rPr lang="en-US" sz="1400" dirty="0"/>
              <a:t>El paso anterior solo </a:t>
            </a:r>
            <a:r>
              <a:rPr lang="en-US" sz="1400" dirty="0" err="1"/>
              <a:t>nos</a:t>
            </a:r>
            <a:r>
              <a:rPr lang="en-US" sz="1400" dirty="0"/>
              <a:t> da los puntos de los </a:t>
            </a:r>
            <a:r>
              <a:rPr lang="en-US" sz="1400" dirty="0" err="1"/>
              <a:t>partidos</a:t>
            </a:r>
            <a:r>
              <a:rPr lang="en-US" sz="1400" dirty="0"/>
              <a:t> </a:t>
            </a:r>
            <a:r>
              <a:rPr lang="en-US" sz="1400" dirty="0" err="1"/>
              <a:t>ganados</a:t>
            </a:r>
            <a:r>
              <a:rPr lang="en-US" sz="1400" dirty="0"/>
              <a:t>, para </a:t>
            </a:r>
            <a:r>
              <a:rPr lang="en-US" sz="1400" dirty="0" err="1"/>
              <a:t>obtener</a:t>
            </a:r>
            <a:r>
              <a:rPr lang="en-US" sz="1400" dirty="0"/>
              <a:t> los puntos totals </a:t>
            </a:r>
            <a:r>
              <a:rPr lang="en-US" sz="1400" dirty="0" err="1"/>
              <a:t>deberemos</a:t>
            </a:r>
            <a:r>
              <a:rPr lang="en-US" sz="1400" dirty="0"/>
              <a:t> </a:t>
            </a:r>
            <a:r>
              <a:rPr lang="en-US" sz="1400" dirty="0" err="1"/>
              <a:t>sumar</a:t>
            </a:r>
            <a:r>
              <a:rPr lang="en-US" sz="1400" dirty="0"/>
              <a:t> los puntos de la </a:t>
            </a:r>
            <a:r>
              <a:rPr lang="en-US" sz="1400" dirty="0" err="1"/>
              <a:t>columna</a:t>
            </a:r>
            <a:r>
              <a:rPr lang="en-US" sz="1400" dirty="0"/>
              <a:t> [</a:t>
            </a:r>
            <a:r>
              <a:rPr lang="en-US" sz="1400" dirty="0" err="1"/>
              <a:t>Empatados</a:t>
            </a:r>
            <a:r>
              <a:rPr lang="en-US" sz="1400" dirty="0"/>
              <a:t>] + [</a:t>
            </a:r>
            <a:r>
              <a:rPr lang="en-US" sz="1400" dirty="0" err="1"/>
              <a:t>Multiplicacion</a:t>
            </a:r>
            <a:r>
              <a:rPr lang="en-US" sz="1400" dirty="0"/>
              <a:t>]</a:t>
            </a:r>
          </a:p>
        </p:txBody>
      </p:sp>
      <p:sp>
        <p:nvSpPr>
          <p:cNvPr id="24" name="Rectángulo 1">
            <a:extLst>
              <a:ext uri="{FF2B5EF4-FFF2-40B4-BE49-F238E27FC236}">
                <a16:creationId xmlns:a16="http://schemas.microsoft.com/office/drawing/2014/main" id="{EBE5C891-C645-1DC6-5AF8-FACB203673AD}"/>
              </a:ext>
            </a:extLst>
          </p:cNvPr>
          <p:cNvSpPr/>
          <p:nvPr/>
        </p:nvSpPr>
        <p:spPr>
          <a:xfrm>
            <a:off x="6617970" y="3234690"/>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12</a:t>
            </a:r>
            <a:endParaRPr lang="en-US" dirty="0"/>
          </a:p>
        </p:txBody>
      </p:sp>
      <p:pic>
        <p:nvPicPr>
          <p:cNvPr id="6" name="Picture 5">
            <a:extLst>
              <a:ext uri="{FF2B5EF4-FFF2-40B4-BE49-F238E27FC236}">
                <a16:creationId xmlns:a16="http://schemas.microsoft.com/office/drawing/2014/main" id="{74CC85B8-46F1-3E38-8125-40A62739756D}"/>
              </a:ext>
            </a:extLst>
          </p:cNvPr>
          <p:cNvPicPr>
            <a:picLocks noChangeAspect="1"/>
          </p:cNvPicPr>
          <p:nvPr/>
        </p:nvPicPr>
        <p:blipFill>
          <a:blip r:embed="rId2"/>
          <a:stretch>
            <a:fillRect/>
          </a:stretch>
        </p:blipFill>
        <p:spPr>
          <a:xfrm>
            <a:off x="140164" y="1705223"/>
            <a:ext cx="3069208" cy="790648"/>
          </a:xfrm>
          <a:prstGeom prst="rect">
            <a:avLst/>
          </a:prstGeom>
        </p:spPr>
      </p:pic>
      <p:pic>
        <p:nvPicPr>
          <p:cNvPr id="23" name="Picture 22">
            <a:extLst>
              <a:ext uri="{FF2B5EF4-FFF2-40B4-BE49-F238E27FC236}">
                <a16:creationId xmlns:a16="http://schemas.microsoft.com/office/drawing/2014/main" id="{EE0B5965-51F5-07E3-6916-96D8856AB79F}"/>
              </a:ext>
            </a:extLst>
          </p:cNvPr>
          <p:cNvPicPr>
            <a:picLocks noChangeAspect="1"/>
          </p:cNvPicPr>
          <p:nvPr/>
        </p:nvPicPr>
        <p:blipFill>
          <a:blip r:embed="rId3"/>
          <a:srcRect l="9887"/>
          <a:stretch/>
        </p:blipFill>
        <p:spPr>
          <a:xfrm>
            <a:off x="88133" y="4703191"/>
            <a:ext cx="4149221" cy="1726677"/>
          </a:xfrm>
          <a:prstGeom prst="rect">
            <a:avLst/>
          </a:prstGeom>
        </p:spPr>
      </p:pic>
      <p:sp>
        <p:nvSpPr>
          <p:cNvPr id="25" name="Oval 24">
            <a:extLst>
              <a:ext uri="{FF2B5EF4-FFF2-40B4-BE49-F238E27FC236}">
                <a16:creationId xmlns:a16="http://schemas.microsoft.com/office/drawing/2014/main" id="{6474A207-DA30-938F-0BF9-B871A5AB1963}"/>
              </a:ext>
            </a:extLst>
          </p:cNvPr>
          <p:cNvSpPr/>
          <p:nvPr/>
        </p:nvSpPr>
        <p:spPr>
          <a:xfrm>
            <a:off x="383309" y="4637221"/>
            <a:ext cx="844414" cy="22229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1019E0D-AF44-58BE-FB7B-4AA59064EB1B}"/>
              </a:ext>
            </a:extLst>
          </p:cNvPr>
          <p:cNvSpPr/>
          <p:nvPr/>
        </p:nvSpPr>
        <p:spPr>
          <a:xfrm>
            <a:off x="1127066" y="4336299"/>
            <a:ext cx="367408" cy="523220"/>
          </a:xfrm>
          <a:prstGeom prst="rect">
            <a:avLst/>
          </a:prstGeom>
          <a:noFill/>
        </p:spPr>
        <p:txBody>
          <a:bodyPr wrap="none" lIns="91440" tIns="45720" rIns="91440" bIns="45720">
            <a:spAutoFit/>
          </a:bodyPr>
          <a:lstStyle/>
          <a:p>
            <a:pPr algn="ctr"/>
            <a:r>
              <a:rPr lang="en-US" sz="2800" dirty="0">
                <a:ln w="0"/>
                <a:solidFill>
                  <a:schemeClr val="accent1"/>
                </a:solidFill>
                <a:effectLst>
                  <a:outerShdw blurRad="38100" dist="25400" dir="5400000" algn="ctr" rotWithShape="0">
                    <a:srgbClr val="6E747A">
                      <a:alpha val="43000"/>
                    </a:srgbClr>
                  </a:outerShdw>
                </a:effectLst>
              </a:rPr>
              <a:t>2</a:t>
            </a:r>
            <a:endParaRPr 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28" name="Oval 27">
            <a:extLst>
              <a:ext uri="{FF2B5EF4-FFF2-40B4-BE49-F238E27FC236}">
                <a16:creationId xmlns:a16="http://schemas.microsoft.com/office/drawing/2014/main" id="{62CCCFBE-6110-DF16-3E40-9E102E35EC6A}"/>
              </a:ext>
            </a:extLst>
          </p:cNvPr>
          <p:cNvSpPr/>
          <p:nvPr/>
        </p:nvSpPr>
        <p:spPr>
          <a:xfrm>
            <a:off x="2416328" y="4806363"/>
            <a:ext cx="394661" cy="39457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B46E824-A0CA-3BE6-441C-8D5A94159EB3}"/>
              </a:ext>
            </a:extLst>
          </p:cNvPr>
          <p:cNvSpPr/>
          <p:nvPr/>
        </p:nvSpPr>
        <p:spPr>
          <a:xfrm>
            <a:off x="2702883" y="4396288"/>
            <a:ext cx="367408" cy="523220"/>
          </a:xfrm>
          <a:prstGeom prst="rect">
            <a:avLst/>
          </a:prstGeom>
          <a:noFill/>
        </p:spPr>
        <p:txBody>
          <a:bodyPr wrap="none" lIns="91440" tIns="45720" rIns="91440" bIns="45720">
            <a:spAutoFit/>
          </a:bodyPr>
          <a:lstStyle/>
          <a:p>
            <a:pPr algn="ctr"/>
            <a:r>
              <a:rPr lang="en-US" sz="2800" dirty="0">
                <a:ln w="0"/>
                <a:solidFill>
                  <a:schemeClr val="accent1"/>
                </a:solidFill>
                <a:effectLst>
                  <a:outerShdw blurRad="38100" dist="25400" dir="5400000" algn="ctr" rotWithShape="0">
                    <a:srgbClr val="6E747A">
                      <a:alpha val="43000"/>
                    </a:srgbClr>
                  </a:outerShdw>
                </a:effectLst>
              </a:rPr>
              <a:t>3</a:t>
            </a:r>
            <a:endParaRPr 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30" name="Oval 29">
            <a:extLst>
              <a:ext uri="{FF2B5EF4-FFF2-40B4-BE49-F238E27FC236}">
                <a16:creationId xmlns:a16="http://schemas.microsoft.com/office/drawing/2014/main" id="{CBABCD48-D068-652F-CDCC-01F3CFC224B4}"/>
              </a:ext>
            </a:extLst>
          </p:cNvPr>
          <p:cNvSpPr/>
          <p:nvPr/>
        </p:nvSpPr>
        <p:spPr>
          <a:xfrm>
            <a:off x="1966575" y="5304105"/>
            <a:ext cx="821973" cy="12104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1477183C-681F-BB62-E850-0BC56FA361D3}"/>
              </a:ext>
            </a:extLst>
          </p:cNvPr>
          <p:cNvSpPr/>
          <p:nvPr/>
        </p:nvSpPr>
        <p:spPr>
          <a:xfrm>
            <a:off x="3154662" y="5431703"/>
            <a:ext cx="996514" cy="108875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76332A0-650D-6997-E999-8817BE850E35}"/>
              </a:ext>
            </a:extLst>
          </p:cNvPr>
          <p:cNvSpPr/>
          <p:nvPr/>
        </p:nvSpPr>
        <p:spPr>
          <a:xfrm>
            <a:off x="3117157" y="5014518"/>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1</a:t>
            </a:r>
          </a:p>
        </p:txBody>
      </p:sp>
      <p:sp>
        <p:nvSpPr>
          <p:cNvPr id="34" name="Rectangle 33">
            <a:extLst>
              <a:ext uri="{FF2B5EF4-FFF2-40B4-BE49-F238E27FC236}">
                <a16:creationId xmlns:a16="http://schemas.microsoft.com/office/drawing/2014/main" id="{8A1205D0-BCC9-27E4-9116-E05079B657B5}"/>
              </a:ext>
            </a:extLst>
          </p:cNvPr>
          <p:cNvSpPr/>
          <p:nvPr/>
        </p:nvSpPr>
        <p:spPr>
          <a:xfrm>
            <a:off x="1629787" y="5103019"/>
            <a:ext cx="367408" cy="523220"/>
          </a:xfrm>
          <a:prstGeom prst="rect">
            <a:avLst/>
          </a:prstGeom>
          <a:noFill/>
        </p:spPr>
        <p:txBody>
          <a:bodyPr wrap="none" lIns="91440" tIns="45720" rIns="91440" bIns="45720">
            <a:spAutoFit/>
          </a:bodyPr>
          <a:lstStyle/>
          <a:p>
            <a:pPr algn="ctr"/>
            <a:r>
              <a:rPr lang="en-US" sz="2800" dirty="0">
                <a:ln w="0"/>
                <a:solidFill>
                  <a:schemeClr val="accent1"/>
                </a:solidFill>
                <a:effectLst>
                  <a:outerShdw blurRad="38100" dist="25400" dir="5400000" algn="ctr" rotWithShape="0">
                    <a:srgbClr val="6E747A">
                      <a:alpha val="43000"/>
                    </a:srgbClr>
                  </a:outerShdw>
                </a:effectLst>
              </a:rPr>
              <a:t>4</a:t>
            </a:r>
            <a:endParaRPr lang="en-US" sz="2800" b="0" cap="none" spc="0" dirty="0">
              <a:ln w="0"/>
              <a:solidFill>
                <a:schemeClr val="accent1"/>
              </a:solidFill>
              <a:effectLst>
                <a:outerShdw blurRad="38100" dist="25400" dir="5400000" algn="ctr" rotWithShape="0">
                  <a:srgbClr val="6E747A">
                    <a:alpha val="43000"/>
                  </a:srgbClr>
                </a:outerShdw>
              </a:effectLst>
            </a:endParaRPr>
          </a:p>
        </p:txBody>
      </p:sp>
      <p:pic>
        <p:nvPicPr>
          <p:cNvPr id="44" name="Picture 43">
            <a:extLst>
              <a:ext uri="{FF2B5EF4-FFF2-40B4-BE49-F238E27FC236}">
                <a16:creationId xmlns:a16="http://schemas.microsoft.com/office/drawing/2014/main" id="{72A4D621-A584-5114-AB54-6AFC48E9C64A}"/>
              </a:ext>
            </a:extLst>
          </p:cNvPr>
          <p:cNvPicPr>
            <a:picLocks noChangeAspect="1"/>
          </p:cNvPicPr>
          <p:nvPr/>
        </p:nvPicPr>
        <p:blipFill>
          <a:blip r:embed="rId4"/>
          <a:srcRect l="3867"/>
          <a:stretch/>
        </p:blipFill>
        <p:spPr>
          <a:xfrm>
            <a:off x="4269327" y="1446724"/>
            <a:ext cx="4803314" cy="1700712"/>
          </a:xfrm>
          <a:prstGeom prst="rect">
            <a:avLst/>
          </a:prstGeom>
        </p:spPr>
      </p:pic>
      <p:sp>
        <p:nvSpPr>
          <p:cNvPr id="46" name="Rectangle 45">
            <a:extLst>
              <a:ext uri="{FF2B5EF4-FFF2-40B4-BE49-F238E27FC236}">
                <a16:creationId xmlns:a16="http://schemas.microsoft.com/office/drawing/2014/main" id="{5E6D8ED6-AB0C-F522-E65F-F8D64DB70422}"/>
              </a:ext>
            </a:extLst>
          </p:cNvPr>
          <p:cNvSpPr/>
          <p:nvPr/>
        </p:nvSpPr>
        <p:spPr>
          <a:xfrm>
            <a:off x="4047768" y="1031663"/>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1</a:t>
            </a:r>
          </a:p>
        </p:txBody>
      </p:sp>
      <p:sp>
        <p:nvSpPr>
          <p:cNvPr id="47" name="Oval 46">
            <a:extLst>
              <a:ext uri="{FF2B5EF4-FFF2-40B4-BE49-F238E27FC236}">
                <a16:creationId xmlns:a16="http://schemas.microsoft.com/office/drawing/2014/main" id="{8F0FDF1D-0809-3E25-C585-45CC83A83E1B}"/>
              </a:ext>
            </a:extLst>
          </p:cNvPr>
          <p:cNvSpPr/>
          <p:nvPr/>
        </p:nvSpPr>
        <p:spPr>
          <a:xfrm>
            <a:off x="4149954" y="1477462"/>
            <a:ext cx="821973" cy="12104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CD380F8-9C50-5849-394B-F72BC4340734}"/>
              </a:ext>
            </a:extLst>
          </p:cNvPr>
          <p:cNvSpPr/>
          <p:nvPr/>
        </p:nvSpPr>
        <p:spPr>
          <a:xfrm>
            <a:off x="8082055" y="1336900"/>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2</a:t>
            </a:r>
          </a:p>
        </p:txBody>
      </p:sp>
      <p:sp>
        <p:nvSpPr>
          <p:cNvPr id="49" name="Oval 48">
            <a:extLst>
              <a:ext uri="{FF2B5EF4-FFF2-40B4-BE49-F238E27FC236}">
                <a16:creationId xmlns:a16="http://schemas.microsoft.com/office/drawing/2014/main" id="{0558322F-592E-E4EB-2CFF-65C6E65B6512}"/>
              </a:ext>
            </a:extLst>
          </p:cNvPr>
          <p:cNvSpPr/>
          <p:nvPr/>
        </p:nvSpPr>
        <p:spPr>
          <a:xfrm>
            <a:off x="7714646" y="1554883"/>
            <a:ext cx="367409" cy="303383"/>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B3FF1E9-568B-4CE9-7F6B-B3D7CC508770}"/>
              </a:ext>
            </a:extLst>
          </p:cNvPr>
          <p:cNvSpPr/>
          <p:nvPr/>
        </p:nvSpPr>
        <p:spPr>
          <a:xfrm>
            <a:off x="7347237" y="1966425"/>
            <a:ext cx="367409" cy="18932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F2391DB-266E-4800-5EC8-FD91F1172B04}"/>
              </a:ext>
            </a:extLst>
          </p:cNvPr>
          <p:cNvSpPr/>
          <p:nvPr/>
        </p:nvSpPr>
        <p:spPr>
          <a:xfrm>
            <a:off x="7022100" y="1745854"/>
            <a:ext cx="367408" cy="523220"/>
          </a:xfrm>
          <a:prstGeom prst="rect">
            <a:avLst/>
          </a:prstGeom>
          <a:noFill/>
        </p:spPr>
        <p:txBody>
          <a:bodyPr wrap="none" lIns="91440" tIns="45720" rIns="91440" bIns="45720">
            <a:spAutoFit/>
          </a:bodyPr>
          <a:lstStyle/>
          <a:p>
            <a:pPr algn="ctr"/>
            <a:r>
              <a:rPr lang="en-US" sz="2800" dirty="0">
                <a:ln w="0"/>
                <a:solidFill>
                  <a:schemeClr val="accent1"/>
                </a:solidFill>
                <a:effectLst>
                  <a:outerShdw blurRad="38100" dist="25400" dir="5400000" algn="ctr" rotWithShape="0">
                    <a:srgbClr val="6E747A">
                      <a:alpha val="43000"/>
                    </a:srgbClr>
                  </a:outerShdw>
                </a:effectLst>
              </a:rPr>
              <a:t>3</a:t>
            </a:r>
            <a:endParaRPr 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52" name="CuadroTexto 17">
            <a:extLst>
              <a:ext uri="{FF2B5EF4-FFF2-40B4-BE49-F238E27FC236}">
                <a16:creationId xmlns:a16="http://schemas.microsoft.com/office/drawing/2014/main" id="{A829FE11-5E8D-9F05-6A69-12EFF7DB8623}"/>
              </a:ext>
            </a:extLst>
          </p:cNvPr>
          <p:cNvSpPr txBox="1"/>
          <p:nvPr/>
        </p:nvSpPr>
        <p:spPr>
          <a:xfrm>
            <a:off x="4565962" y="4792857"/>
            <a:ext cx="4378797" cy="461665"/>
          </a:xfrm>
          <a:prstGeom prst="rect">
            <a:avLst/>
          </a:prstGeom>
          <a:noFill/>
        </p:spPr>
        <p:txBody>
          <a:bodyPr wrap="square">
            <a:spAutoFit/>
          </a:bodyPr>
          <a:lstStyle/>
          <a:p>
            <a:pPr algn="ctr"/>
            <a:r>
              <a:rPr lang="en-US" sz="1200" dirty="0">
                <a:solidFill>
                  <a:srgbClr val="003E8C"/>
                </a:solidFill>
              </a:rPr>
              <a:t>Nota: para </a:t>
            </a:r>
            <a:r>
              <a:rPr lang="en-US" sz="1200" dirty="0" err="1">
                <a:solidFill>
                  <a:srgbClr val="003E8C"/>
                </a:solidFill>
              </a:rPr>
              <a:t>seleccionar</a:t>
            </a:r>
            <a:r>
              <a:rPr lang="en-US" sz="1200" dirty="0">
                <a:solidFill>
                  <a:srgbClr val="003E8C"/>
                </a:solidFill>
              </a:rPr>
              <a:t> </a:t>
            </a:r>
            <a:r>
              <a:rPr lang="en-US" sz="1200" dirty="0" err="1">
                <a:solidFill>
                  <a:srgbClr val="003E8C"/>
                </a:solidFill>
              </a:rPr>
              <a:t>varias</a:t>
            </a:r>
            <a:r>
              <a:rPr lang="en-US" sz="1200" dirty="0">
                <a:solidFill>
                  <a:srgbClr val="003E8C"/>
                </a:solidFill>
              </a:rPr>
              <a:t> </a:t>
            </a:r>
            <a:r>
              <a:rPr lang="en-US" sz="1200" dirty="0" err="1">
                <a:solidFill>
                  <a:srgbClr val="003E8C"/>
                </a:solidFill>
              </a:rPr>
              <a:t>columnas</a:t>
            </a:r>
            <a:r>
              <a:rPr lang="en-US" sz="1200" dirty="0">
                <a:solidFill>
                  <a:srgbClr val="003E8C"/>
                </a:solidFill>
              </a:rPr>
              <a:t> usar la </a:t>
            </a:r>
            <a:r>
              <a:rPr lang="en-US" sz="1200" dirty="0" err="1">
                <a:solidFill>
                  <a:srgbClr val="003E8C"/>
                </a:solidFill>
              </a:rPr>
              <a:t>tecla</a:t>
            </a:r>
            <a:r>
              <a:rPr lang="en-US" sz="1200" dirty="0">
                <a:solidFill>
                  <a:srgbClr val="003E8C"/>
                </a:solidFill>
              </a:rPr>
              <a:t> “Ctrl” y click a los </a:t>
            </a:r>
            <a:r>
              <a:rPr lang="en-US" sz="1200" dirty="0" err="1">
                <a:solidFill>
                  <a:srgbClr val="003E8C"/>
                </a:solidFill>
              </a:rPr>
              <a:t>encabezados</a:t>
            </a:r>
            <a:r>
              <a:rPr lang="en-US" sz="1200" dirty="0">
                <a:solidFill>
                  <a:srgbClr val="003E8C"/>
                </a:solidFill>
              </a:rPr>
              <a:t> de las </a:t>
            </a:r>
            <a:r>
              <a:rPr lang="en-US" sz="1200" dirty="0" err="1">
                <a:solidFill>
                  <a:srgbClr val="003E8C"/>
                </a:solidFill>
              </a:rPr>
              <a:t>columnas</a:t>
            </a:r>
            <a:r>
              <a:rPr lang="en-US" sz="1200" dirty="0">
                <a:solidFill>
                  <a:srgbClr val="003E8C"/>
                </a:solidFill>
              </a:rPr>
              <a:t> que </a:t>
            </a:r>
            <a:r>
              <a:rPr lang="en-US" sz="1200" dirty="0" err="1">
                <a:solidFill>
                  <a:srgbClr val="003E8C"/>
                </a:solidFill>
              </a:rPr>
              <a:t>queramos</a:t>
            </a:r>
            <a:r>
              <a:rPr lang="en-US" sz="1200" dirty="0">
                <a:solidFill>
                  <a:srgbClr val="003E8C"/>
                </a:solidFill>
              </a:rPr>
              <a:t> </a:t>
            </a:r>
            <a:r>
              <a:rPr lang="en-US" sz="1200" dirty="0" err="1">
                <a:solidFill>
                  <a:srgbClr val="003E8C"/>
                </a:solidFill>
              </a:rPr>
              <a:t>sumar</a:t>
            </a:r>
            <a:endParaRPr lang="en-US" sz="1200" dirty="0">
              <a:solidFill>
                <a:srgbClr val="003E8C"/>
              </a:solidFill>
            </a:endParaRPr>
          </a:p>
        </p:txBody>
      </p:sp>
      <p:sp>
        <p:nvSpPr>
          <p:cNvPr id="53" name="CuadroTexto 17">
            <a:extLst>
              <a:ext uri="{FF2B5EF4-FFF2-40B4-BE49-F238E27FC236}">
                <a16:creationId xmlns:a16="http://schemas.microsoft.com/office/drawing/2014/main" id="{3DB22408-8892-942C-FA01-2DFBB1759204}"/>
              </a:ext>
            </a:extLst>
          </p:cNvPr>
          <p:cNvSpPr txBox="1"/>
          <p:nvPr/>
        </p:nvSpPr>
        <p:spPr>
          <a:xfrm>
            <a:off x="4717809" y="5494794"/>
            <a:ext cx="4259673" cy="830997"/>
          </a:xfrm>
          <a:prstGeom prst="rect">
            <a:avLst/>
          </a:prstGeom>
          <a:noFill/>
        </p:spPr>
        <p:txBody>
          <a:bodyPr wrap="square">
            <a:spAutoFit/>
          </a:bodyPr>
          <a:lstStyle/>
          <a:p>
            <a:pPr algn="ctr"/>
            <a:r>
              <a:rPr lang="en-US" sz="1200" dirty="0">
                <a:solidFill>
                  <a:srgbClr val="003E8C"/>
                </a:solidFill>
              </a:rPr>
              <a:t>Nota 2: </a:t>
            </a:r>
            <a:r>
              <a:rPr lang="en-US" sz="1200" dirty="0" err="1">
                <a:solidFill>
                  <a:srgbClr val="003E8C"/>
                </a:solidFill>
              </a:rPr>
              <a:t>Diferenciar</a:t>
            </a:r>
            <a:r>
              <a:rPr lang="en-US" sz="1200" dirty="0">
                <a:solidFill>
                  <a:srgbClr val="003E8C"/>
                </a:solidFill>
              </a:rPr>
              <a:t> entre la </a:t>
            </a:r>
            <a:r>
              <a:rPr lang="en-US" sz="1200" dirty="0" err="1">
                <a:solidFill>
                  <a:srgbClr val="003E8C"/>
                </a:solidFill>
              </a:rPr>
              <a:t>opcion</a:t>
            </a:r>
            <a:r>
              <a:rPr lang="en-US" sz="1200" dirty="0">
                <a:solidFill>
                  <a:srgbClr val="003E8C"/>
                </a:solidFill>
              </a:rPr>
              <a:t> “</a:t>
            </a:r>
            <a:r>
              <a:rPr lang="en-US" sz="1200" dirty="0" err="1">
                <a:solidFill>
                  <a:srgbClr val="003E8C"/>
                </a:solidFill>
              </a:rPr>
              <a:t>Standar</a:t>
            </a:r>
            <a:r>
              <a:rPr lang="en-US" sz="1200" dirty="0">
                <a:solidFill>
                  <a:srgbClr val="003E8C"/>
                </a:solidFill>
              </a:rPr>
              <a:t>” </a:t>
            </a:r>
            <a:r>
              <a:rPr lang="en-US" sz="1200" dirty="0" err="1">
                <a:solidFill>
                  <a:srgbClr val="003E8C"/>
                </a:solidFill>
              </a:rPr>
              <a:t>en</a:t>
            </a:r>
            <a:r>
              <a:rPr lang="en-US" sz="1200" dirty="0">
                <a:solidFill>
                  <a:srgbClr val="003E8C"/>
                </a:solidFill>
              </a:rPr>
              <a:t> la pes</a:t>
            </a:r>
            <a:r>
              <a:rPr lang="es-MX" sz="1200" dirty="0">
                <a:solidFill>
                  <a:srgbClr val="003E8C"/>
                </a:solidFill>
              </a:rPr>
              <a:t>taña </a:t>
            </a:r>
            <a:r>
              <a:rPr lang="es-MX" sz="1200" dirty="0" err="1">
                <a:solidFill>
                  <a:srgbClr val="003E8C"/>
                </a:solidFill>
              </a:rPr>
              <a:t>Add</a:t>
            </a:r>
            <a:r>
              <a:rPr lang="es-MX" sz="1200" dirty="0">
                <a:solidFill>
                  <a:srgbClr val="003E8C"/>
                </a:solidFill>
              </a:rPr>
              <a:t> columna agrega una nueva columna con el resultado de la operación y la opción </a:t>
            </a:r>
            <a:r>
              <a:rPr lang="en-US" sz="1200" dirty="0">
                <a:solidFill>
                  <a:srgbClr val="003E8C"/>
                </a:solidFill>
              </a:rPr>
              <a:t>“</a:t>
            </a:r>
            <a:r>
              <a:rPr lang="en-US" sz="1200" dirty="0" err="1">
                <a:solidFill>
                  <a:srgbClr val="003E8C"/>
                </a:solidFill>
              </a:rPr>
              <a:t>Standar</a:t>
            </a:r>
            <a:r>
              <a:rPr lang="en-US" sz="1200" dirty="0">
                <a:solidFill>
                  <a:srgbClr val="003E8C"/>
                </a:solidFill>
              </a:rPr>
              <a:t>” de la </a:t>
            </a:r>
            <a:r>
              <a:rPr lang="en-US" sz="1200" dirty="0" err="1">
                <a:solidFill>
                  <a:srgbClr val="003E8C"/>
                </a:solidFill>
              </a:rPr>
              <a:t>pesta</a:t>
            </a:r>
            <a:r>
              <a:rPr lang="es-MX" sz="1200" dirty="0" err="1">
                <a:solidFill>
                  <a:srgbClr val="003E8C"/>
                </a:solidFill>
              </a:rPr>
              <a:t>ña</a:t>
            </a:r>
            <a:r>
              <a:rPr lang="es-MX" sz="1200" dirty="0">
                <a:solidFill>
                  <a:srgbClr val="003E8C"/>
                </a:solidFill>
              </a:rPr>
              <a:t> </a:t>
            </a:r>
            <a:r>
              <a:rPr lang="es-MX" sz="1200" dirty="0" err="1">
                <a:solidFill>
                  <a:srgbClr val="003E8C"/>
                </a:solidFill>
              </a:rPr>
              <a:t>transform</a:t>
            </a:r>
            <a:r>
              <a:rPr lang="es-MX" sz="1200" dirty="0">
                <a:solidFill>
                  <a:srgbClr val="003E8C"/>
                </a:solidFill>
              </a:rPr>
              <a:t> </a:t>
            </a:r>
            <a:r>
              <a:rPr lang="en-US" sz="1200" dirty="0" err="1">
                <a:solidFill>
                  <a:srgbClr val="003E8C"/>
                </a:solidFill>
              </a:rPr>
              <a:t>reemplaza</a:t>
            </a:r>
            <a:r>
              <a:rPr lang="en-US" sz="1200" dirty="0">
                <a:solidFill>
                  <a:srgbClr val="003E8C"/>
                </a:solidFill>
              </a:rPr>
              <a:t> las </a:t>
            </a:r>
            <a:r>
              <a:rPr lang="en-US" sz="1200" dirty="0" err="1">
                <a:solidFill>
                  <a:srgbClr val="003E8C"/>
                </a:solidFill>
              </a:rPr>
              <a:t>columnas</a:t>
            </a:r>
            <a:r>
              <a:rPr lang="en-US" sz="1200" dirty="0">
                <a:solidFill>
                  <a:srgbClr val="003E8C"/>
                </a:solidFill>
              </a:rPr>
              <a:t> con el </a:t>
            </a:r>
            <a:r>
              <a:rPr lang="en-US" sz="1200" dirty="0" err="1">
                <a:solidFill>
                  <a:srgbClr val="003E8C"/>
                </a:solidFill>
              </a:rPr>
              <a:t>resultado</a:t>
            </a:r>
            <a:endParaRPr lang="en-US" sz="1200" dirty="0">
              <a:solidFill>
                <a:srgbClr val="003E8C"/>
              </a:solidFill>
            </a:endParaRPr>
          </a:p>
        </p:txBody>
      </p:sp>
    </p:spTree>
    <p:extLst>
      <p:ext uri="{BB962C8B-B14F-4D97-AF65-F5344CB8AC3E}">
        <p14:creationId xmlns:p14="http://schemas.microsoft.com/office/powerpoint/2010/main" val="1219694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22" grpId="0"/>
      <p:bldP spid="52" grpId="0"/>
      <p:bldP spid="5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8214-8DA4-D1E6-6F5E-2242DBFBD4A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605B70D6-DD19-A029-E6D5-C513ABBC2DA3}"/>
              </a:ext>
            </a:extLst>
          </p:cNvPr>
          <p:cNvSpPr/>
          <p:nvPr/>
        </p:nvSpPr>
        <p:spPr>
          <a:xfrm>
            <a:off x="0" y="0"/>
            <a:ext cx="9144000" cy="388620"/>
          </a:xfrm>
          <a:prstGeom prst="rect">
            <a:avLst/>
          </a:prstGeom>
          <a:solidFill>
            <a:srgbClr val="3C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a:extLst>
              <a:ext uri="{FF2B5EF4-FFF2-40B4-BE49-F238E27FC236}">
                <a16:creationId xmlns:a16="http://schemas.microsoft.com/office/drawing/2014/main" id="{5AA4A3BB-77FB-933F-64B1-E679186ED579}"/>
              </a:ext>
            </a:extLst>
          </p:cNvPr>
          <p:cNvSpPr/>
          <p:nvPr/>
        </p:nvSpPr>
        <p:spPr>
          <a:xfrm>
            <a:off x="0" y="39161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9</a:t>
            </a:r>
            <a:endParaRPr lang="en-US" dirty="0"/>
          </a:p>
        </p:txBody>
      </p:sp>
      <p:sp>
        <p:nvSpPr>
          <p:cNvPr id="17" name="Rectángulo 1">
            <a:extLst>
              <a:ext uri="{FF2B5EF4-FFF2-40B4-BE49-F238E27FC236}">
                <a16:creationId xmlns:a16="http://schemas.microsoft.com/office/drawing/2014/main" id="{5AE2D627-D01A-B285-F0A5-68E0208BBAD2}"/>
              </a:ext>
            </a:extLst>
          </p:cNvPr>
          <p:cNvSpPr/>
          <p:nvPr/>
        </p:nvSpPr>
        <p:spPr>
          <a:xfrm>
            <a:off x="0" y="3510332"/>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10</a:t>
            </a:r>
            <a:endParaRPr lang="en-US" dirty="0"/>
          </a:p>
        </p:txBody>
      </p:sp>
      <p:sp>
        <p:nvSpPr>
          <p:cNvPr id="21" name="Rectángulo 1">
            <a:extLst>
              <a:ext uri="{FF2B5EF4-FFF2-40B4-BE49-F238E27FC236}">
                <a16:creationId xmlns:a16="http://schemas.microsoft.com/office/drawing/2014/main" id="{5B44C3BE-D875-6F4E-16FF-0219EAF86A71}"/>
              </a:ext>
            </a:extLst>
          </p:cNvPr>
          <p:cNvSpPr/>
          <p:nvPr/>
        </p:nvSpPr>
        <p:spPr>
          <a:xfrm>
            <a:off x="6617972" y="391619"/>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11</a:t>
            </a:r>
            <a:endParaRPr lang="en-US" dirty="0"/>
          </a:p>
        </p:txBody>
      </p:sp>
      <p:sp>
        <p:nvSpPr>
          <p:cNvPr id="22" name="CuadroTexto 17">
            <a:extLst>
              <a:ext uri="{FF2B5EF4-FFF2-40B4-BE49-F238E27FC236}">
                <a16:creationId xmlns:a16="http://schemas.microsoft.com/office/drawing/2014/main" id="{E5240BD3-BDFA-63C5-F54D-E8FB98F7131A}"/>
              </a:ext>
            </a:extLst>
          </p:cNvPr>
          <p:cNvSpPr txBox="1"/>
          <p:nvPr/>
        </p:nvSpPr>
        <p:spPr>
          <a:xfrm>
            <a:off x="71359" y="877777"/>
            <a:ext cx="2516376" cy="738664"/>
          </a:xfrm>
          <a:prstGeom prst="rect">
            <a:avLst/>
          </a:prstGeom>
          <a:noFill/>
        </p:spPr>
        <p:txBody>
          <a:bodyPr wrap="square">
            <a:spAutoFit/>
          </a:bodyPr>
          <a:lstStyle/>
          <a:p>
            <a:pPr algn="ctr"/>
            <a:r>
              <a:rPr lang="en-US" sz="1400" dirty="0"/>
              <a:t>Crear </a:t>
            </a:r>
            <a:r>
              <a:rPr lang="en-US" sz="1400" dirty="0" err="1"/>
              <a:t>una</a:t>
            </a:r>
            <a:r>
              <a:rPr lang="en-US" sz="1400" dirty="0"/>
              <a:t> </a:t>
            </a:r>
            <a:r>
              <a:rPr lang="en-US" sz="1400" dirty="0" err="1"/>
              <a:t>columna</a:t>
            </a:r>
            <a:r>
              <a:rPr lang="en-US" sz="1400" dirty="0"/>
              <a:t> custom para </a:t>
            </a:r>
            <a:r>
              <a:rPr lang="en-US" sz="1400" dirty="0" err="1"/>
              <a:t>generar</a:t>
            </a:r>
            <a:r>
              <a:rPr lang="en-US" sz="1400" dirty="0"/>
              <a:t> el </a:t>
            </a:r>
            <a:r>
              <a:rPr lang="en-US" sz="1400" dirty="0" err="1"/>
              <a:t>mismo</a:t>
            </a:r>
            <a:r>
              <a:rPr lang="en-US" sz="1400" dirty="0"/>
              <a:t> </a:t>
            </a:r>
            <a:r>
              <a:rPr lang="en-US" sz="1400" dirty="0" err="1"/>
              <a:t>reusltad</a:t>
            </a:r>
            <a:r>
              <a:rPr lang="en-US" sz="1400" dirty="0"/>
              <a:t> de Pts </a:t>
            </a:r>
            <a:r>
              <a:rPr lang="en-US" sz="1400" dirty="0" err="1"/>
              <a:t>en</a:t>
            </a:r>
            <a:r>
              <a:rPr lang="en-US" sz="1400" dirty="0"/>
              <a:t> un solo paso</a:t>
            </a:r>
          </a:p>
        </p:txBody>
      </p:sp>
      <p:sp>
        <p:nvSpPr>
          <p:cNvPr id="24" name="Rectángulo 1">
            <a:extLst>
              <a:ext uri="{FF2B5EF4-FFF2-40B4-BE49-F238E27FC236}">
                <a16:creationId xmlns:a16="http://schemas.microsoft.com/office/drawing/2014/main" id="{FDC2C3C7-62EE-D417-3E24-71E3D67B9BBF}"/>
              </a:ext>
            </a:extLst>
          </p:cNvPr>
          <p:cNvSpPr/>
          <p:nvPr/>
        </p:nvSpPr>
        <p:spPr>
          <a:xfrm>
            <a:off x="6617970" y="3234690"/>
            <a:ext cx="2526030" cy="388620"/>
          </a:xfrm>
          <a:prstGeom prst="rect">
            <a:avLst/>
          </a:prstGeom>
          <a:solidFill>
            <a:srgbClr val="F2C8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Paso # 12</a:t>
            </a:r>
            <a:endParaRPr lang="en-US" dirty="0"/>
          </a:p>
        </p:txBody>
      </p:sp>
      <p:pic>
        <p:nvPicPr>
          <p:cNvPr id="44" name="Picture 43">
            <a:extLst>
              <a:ext uri="{FF2B5EF4-FFF2-40B4-BE49-F238E27FC236}">
                <a16:creationId xmlns:a16="http://schemas.microsoft.com/office/drawing/2014/main" id="{23D26A51-47A5-F256-9EDB-7C1D349F5BCA}"/>
              </a:ext>
            </a:extLst>
          </p:cNvPr>
          <p:cNvPicPr>
            <a:picLocks noChangeAspect="1"/>
          </p:cNvPicPr>
          <p:nvPr/>
        </p:nvPicPr>
        <p:blipFill>
          <a:blip r:embed="rId2"/>
          <a:srcRect l="3867"/>
          <a:stretch/>
        </p:blipFill>
        <p:spPr>
          <a:xfrm>
            <a:off x="4269327" y="1446724"/>
            <a:ext cx="4803314" cy="1700712"/>
          </a:xfrm>
          <a:prstGeom prst="rect">
            <a:avLst/>
          </a:prstGeom>
        </p:spPr>
      </p:pic>
      <p:sp>
        <p:nvSpPr>
          <p:cNvPr id="46" name="Rectangle 45">
            <a:extLst>
              <a:ext uri="{FF2B5EF4-FFF2-40B4-BE49-F238E27FC236}">
                <a16:creationId xmlns:a16="http://schemas.microsoft.com/office/drawing/2014/main" id="{C5D5C3DD-A54A-0C59-DF43-1A17C7F3E048}"/>
              </a:ext>
            </a:extLst>
          </p:cNvPr>
          <p:cNvSpPr/>
          <p:nvPr/>
        </p:nvSpPr>
        <p:spPr>
          <a:xfrm>
            <a:off x="4047768" y="1031663"/>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1</a:t>
            </a:r>
          </a:p>
        </p:txBody>
      </p:sp>
      <p:sp>
        <p:nvSpPr>
          <p:cNvPr id="47" name="Oval 46">
            <a:extLst>
              <a:ext uri="{FF2B5EF4-FFF2-40B4-BE49-F238E27FC236}">
                <a16:creationId xmlns:a16="http://schemas.microsoft.com/office/drawing/2014/main" id="{BCB1DF2C-C3D5-A1FD-8126-5E51CFCFA4FD}"/>
              </a:ext>
            </a:extLst>
          </p:cNvPr>
          <p:cNvSpPr/>
          <p:nvPr/>
        </p:nvSpPr>
        <p:spPr>
          <a:xfrm>
            <a:off x="4149954" y="1477462"/>
            <a:ext cx="821973" cy="12104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FF6B803-378E-D54C-289C-73008C5811E4}"/>
              </a:ext>
            </a:extLst>
          </p:cNvPr>
          <p:cNvSpPr/>
          <p:nvPr/>
        </p:nvSpPr>
        <p:spPr>
          <a:xfrm>
            <a:off x="8082055" y="1336900"/>
            <a:ext cx="367408"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2</a:t>
            </a:r>
          </a:p>
        </p:txBody>
      </p:sp>
      <p:sp>
        <p:nvSpPr>
          <p:cNvPr id="49" name="Oval 48">
            <a:extLst>
              <a:ext uri="{FF2B5EF4-FFF2-40B4-BE49-F238E27FC236}">
                <a16:creationId xmlns:a16="http://schemas.microsoft.com/office/drawing/2014/main" id="{00C799AF-5336-9CCF-0327-840DB9E7B21E}"/>
              </a:ext>
            </a:extLst>
          </p:cNvPr>
          <p:cNvSpPr/>
          <p:nvPr/>
        </p:nvSpPr>
        <p:spPr>
          <a:xfrm>
            <a:off x="7714646" y="1554883"/>
            <a:ext cx="367409" cy="303383"/>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7DABC1B-A708-576A-5AA2-F046562A91BD}"/>
              </a:ext>
            </a:extLst>
          </p:cNvPr>
          <p:cNvSpPr/>
          <p:nvPr/>
        </p:nvSpPr>
        <p:spPr>
          <a:xfrm>
            <a:off x="7347237" y="1966425"/>
            <a:ext cx="367409" cy="18932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5EC6B53-BFF0-A593-9600-D5E38F1EA5D2}"/>
              </a:ext>
            </a:extLst>
          </p:cNvPr>
          <p:cNvSpPr/>
          <p:nvPr/>
        </p:nvSpPr>
        <p:spPr>
          <a:xfrm>
            <a:off x="7022100" y="1745854"/>
            <a:ext cx="367408" cy="523220"/>
          </a:xfrm>
          <a:prstGeom prst="rect">
            <a:avLst/>
          </a:prstGeom>
          <a:noFill/>
        </p:spPr>
        <p:txBody>
          <a:bodyPr wrap="none" lIns="91440" tIns="45720" rIns="91440" bIns="45720">
            <a:spAutoFit/>
          </a:bodyPr>
          <a:lstStyle/>
          <a:p>
            <a:pPr algn="ctr"/>
            <a:r>
              <a:rPr lang="en-US" sz="2800" dirty="0">
                <a:ln w="0"/>
                <a:solidFill>
                  <a:schemeClr val="accent1"/>
                </a:solidFill>
                <a:effectLst>
                  <a:outerShdw blurRad="38100" dist="25400" dir="5400000" algn="ctr" rotWithShape="0">
                    <a:srgbClr val="6E747A">
                      <a:alpha val="43000"/>
                    </a:srgbClr>
                  </a:outerShdw>
                </a:effectLst>
              </a:rPr>
              <a:t>3</a:t>
            </a:r>
            <a:endParaRPr lang="en-US" sz="2800" b="0" cap="none" spc="0" dirty="0">
              <a:ln w="0"/>
              <a:solidFill>
                <a:schemeClr val="accent1"/>
              </a:solidFill>
              <a:effectLst>
                <a:outerShdw blurRad="38100" dist="25400" dir="5400000" algn="ctr" rotWithShape="0">
                  <a:srgbClr val="6E747A">
                    <a:alpha val="43000"/>
                  </a:srgbClr>
                </a:outerShdw>
              </a:effectLst>
            </a:endParaRPr>
          </a:p>
        </p:txBody>
      </p:sp>
      <p:pic>
        <p:nvPicPr>
          <p:cNvPr id="5" name="Picture 4">
            <a:extLst>
              <a:ext uri="{FF2B5EF4-FFF2-40B4-BE49-F238E27FC236}">
                <a16:creationId xmlns:a16="http://schemas.microsoft.com/office/drawing/2014/main" id="{0283098D-96BC-DEF6-1966-586E673EC0F8}"/>
              </a:ext>
            </a:extLst>
          </p:cNvPr>
          <p:cNvPicPr>
            <a:picLocks noChangeAspect="1"/>
          </p:cNvPicPr>
          <p:nvPr/>
        </p:nvPicPr>
        <p:blipFill>
          <a:blip r:embed="rId3"/>
          <a:stretch>
            <a:fillRect/>
          </a:stretch>
        </p:blipFill>
        <p:spPr>
          <a:xfrm>
            <a:off x="152072" y="1757788"/>
            <a:ext cx="3020661" cy="1688648"/>
          </a:xfrm>
          <a:prstGeom prst="rect">
            <a:avLst/>
          </a:prstGeom>
        </p:spPr>
      </p:pic>
      <p:sp>
        <p:nvSpPr>
          <p:cNvPr id="7" name="Oval 6">
            <a:extLst>
              <a:ext uri="{FF2B5EF4-FFF2-40B4-BE49-F238E27FC236}">
                <a16:creationId xmlns:a16="http://schemas.microsoft.com/office/drawing/2014/main" id="{A3A06B5F-EA2C-98BF-CF34-63D83AB6EE79}"/>
              </a:ext>
            </a:extLst>
          </p:cNvPr>
          <p:cNvSpPr/>
          <p:nvPr/>
        </p:nvSpPr>
        <p:spPr>
          <a:xfrm>
            <a:off x="334917" y="1893732"/>
            <a:ext cx="417063" cy="36068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0853888-68D6-68B5-B70E-6FEDE7AC2069}"/>
              </a:ext>
            </a:extLst>
          </p:cNvPr>
          <p:cNvSpPr/>
          <p:nvPr/>
        </p:nvSpPr>
        <p:spPr>
          <a:xfrm>
            <a:off x="241453" y="3020785"/>
            <a:ext cx="1030818" cy="25868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09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F8440-2596-EE82-1716-C84F8B8B4952}"/>
              </a:ext>
            </a:extLst>
          </p:cNvPr>
          <p:cNvSpPr>
            <a:spLocks noGrp="1"/>
          </p:cNvSpPr>
          <p:nvPr>
            <p:ph type="title"/>
          </p:nvPr>
        </p:nvSpPr>
        <p:spPr/>
        <p:txBody>
          <a:bodyPr/>
          <a:lstStyle/>
          <a:p>
            <a:r>
              <a:rPr lang="en-US" dirty="0">
                <a:highlight>
                  <a:srgbClr val="FFFF00"/>
                </a:highlight>
              </a:rPr>
              <a:t>IIESR.2023</a:t>
            </a:r>
            <a:endParaRPr lang="es-MX" dirty="0">
              <a:highlight>
                <a:srgbClr val="FFFF00"/>
              </a:highlight>
            </a:endParaRPr>
          </a:p>
        </p:txBody>
      </p:sp>
      <p:sp>
        <p:nvSpPr>
          <p:cNvPr id="3" name="Text Placeholder 2">
            <a:extLst>
              <a:ext uri="{FF2B5EF4-FFF2-40B4-BE49-F238E27FC236}">
                <a16:creationId xmlns:a16="http://schemas.microsoft.com/office/drawing/2014/main" id="{9E9D282A-0730-7AC7-3C6A-EF5A03C0DA8F}"/>
              </a:ext>
            </a:extLst>
          </p:cNvPr>
          <p:cNvSpPr>
            <a:spLocks noGrp="1"/>
          </p:cNvSpPr>
          <p:nvPr>
            <p:ph type="body" idx="1"/>
          </p:nvPr>
        </p:nvSpPr>
        <p:spPr/>
        <p:txBody>
          <a:bodyPr/>
          <a:lstStyle/>
          <a:p>
            <a:endParaRPr lang="es-MX"/>
          </a:p>
        </p:txBody>
      </p:sp>
      <p:sp>
        <p:nvSpPr>
          <p:cNvPr id="4" name="Content Placeholder 3">
            <a:extLst>
              <a:ext uri="{FF2B5EF4-FFF2-40B4-BE49-F238E27FC236}">
                <a16:creationId xmlns:a16="http://schemas.microsoft.com/office/drawing/2014/main" id="{05894B9B-DCB8-3AD4-A2BA-5D1513C312FA}"/>
              </a:ext>
            </a:extLst>
          </p:cNvPr>
          <p:cNvSpPr>
            <a:spLocks noGrp="1"/>
          </p:cNvSpPr>
          <p:nvPr>
            <p:ph sz="half" idx="2"/>
          </p:nvPr>
        </p:nvSpPr>
        <p:spPr/>
        <p:txBody>
          <a:bodyPr/>
          <a:lstStyle/>
          <a:p>
            <a:endParaRPr lang="es-MX"/>
          </a:p>
        </p:txBody>
      </p:sp>
      <p:sp>
        <p:nvSpPr>
          <p:cNvPr id="5" name="Text Placeholder 4">
            <a:extLst>
              <a:ext uri="{FF2B5EF4-FFF2-40B4-BE49-F238E27FC236}">
                <a16:creationId xmlns:a16="http://schemas.microsoft.com/office/drawing/2014/main" id="{9D74006A-EE52-4629-B487-CA9FF565F977}"/>
              </a:ext>
            </a:extLst>
          </p:cNvPr>
          <p:cNvSpPr>
            <a:spLocks noGrp="1"/>
          </p:cNvSpPr>
          <p:nvPr>
            <p:ph type="body" sz="quarter" idx="3"/>
          </p:nvPr>
        </p:nvSpPr>
        <p:spPr/>
        <p:txBody>
          <a:bodyPr/>
          <a:lstStyle/>
          <a:p>
            <a:endParaRPr lang="es-MX"/>
          </a:p>
        </p:txBody>
      </p:sp>
      <p:sp>
        <p:nvSpPr>
          <p:cNvPr id="6" name="Content Placeholder 5">
            <a:extLst>
              <a:ext uri="{FF2B5EF4-FFF2-40B4-BE49-F238E27FC236}">
                <a16:creationId xmlns:a16="http://schemas.microsoft.com/office/drawing/2014/main" id="{B2D90485-0071-8B16-C328-23F290B19747}"/>
              </a:ext>
            </a:extLst>
          </p:cNvPr>
          <p:cNvSpPr>
            <a:spLocks noGrp="1"/>
          </p:cNvSpPr>
          <p:nvPr>
            <p:ph sz="quarter" idx="4"/>
          </p:nvPr>
        </p:nvSpPr>
        <p:spPr/>
        <p:txBody>
          <a:bodyPr/>
          <a:lstStyle/>
          <a:p>
            <a:endParaRPr lang="es-MX"/>
          </a:p>
        </p:txBody>
      </p:sp>
    </p:spTree>
    <p:extLst>
      <p:ext uri="{BB962C8B-B14F-4D97-AF65-F5344CB8AC3E}">
        <p14:creationId xmlns:p14="http://schemas.microsoft.com/office/powerpoint/2010/main" val="1639663768"/>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976</TotalTime>
  <Words>1474</Words>
  <Application>Microsoft Office PowerPoint</Application>
  <PresentationFormat>On-screen Show (4:3)</PresentationFormat>
  <Paragraphs>171</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Lucida Sans</vt:lpstr>
      <vt:lpstr>Segoe UI</vt:lpstr>
      <vt:lpstr>Tema de Office</vt:lpstr>
      <vt:lpstr>Bienvenidos</vt:lpstr>
      <vt:lpstr>PowerPoint Presentation</vt:lpstr>
      <vt:lpstr>Acerca de mí</vt:lpstr>
      <vt:lpstr>Inteligencia de Negocios</vt:lpstr>
      <vt:lpstr>Inteligencia de Negocios</vt:lpstr>
      <vt:lpstr>Inteligencia de Negocios</vt:lpstr>
      <vt:lpstr>Inteligencia de Negocios</vt:lpstr>
      <vt:lpstr>Que es Power BI?</vt:lpstr>
      <vt:lpstr>Que es Power BI?</vt:lpstr>
      <vt:lpstr>Que es la plataforma Power BI?</vt:lpstr>
      <vt:lpstr>Conectores Power BI</vt:lpstr>
      <vt:lpstr>Alcance Power BI</vt:lpstr>
      <vt:lpstr>Funcionamiento</vt:lpstr>
      <vt:lpstr>Proceso ETL</vt:lpstr>
      <vt:lpstr>Proceso ETL en Power BI</vt:lpstr>
      <vt:lpstr>Limpieza y Transformación de datos</vt:lpstr>
      <vt:lpstr>Limpieza y Transformación de datos</vt:lpstr>
      <vt:lpstr>Extracción de datos</vt:lpstr>
      <vt:lpstr>Deshacer cambios</vt:lpstr>
      <vt:lpstr>Deshacer cambios</vt:lpstr>
      <vt:lpstr>Transformacion de datos</vt:lpstr>
      <vt:lpstr>Power Query M</vt:lpstr>
      <vt:lpstr>Power Query M</vt:lpstr>
      <vt:lpstr>Power Query M</vt:lpstr>
      <vt:lpstr>Practica 1</vt:lpstr>
      <vt:lpstr>PowerPoint Presentation</vt:lpstr>
      <vt:lpstr>PowerPoint Presentation</vt:lpstr>
      <vt:lpstr>PowerPoint Presentation</vt:lpstr>
      <vt:lpstr>PowerPoint Presentation</vt:lpstr>
      <vt:lpstr>PowerPoint Presentation</vt:lpstr>
      <vt:lpstr>IIESR.2023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Andrea Young</dc:creator>
  <cp:lastModifiedBy>Gonzalez, Jose Eduardo</cp:lastModifiedBy>
  <cp:revision>54</cp:revision>
  <dcterms:created xsi:type="dcterms:W3CDTF">2023-07-08T01:06:44Z</dcterms:created>
  <dcterms:modified xsi:type="dcterms:W3CDTF">2026-06-25T20:57:31Z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3a6a096a-9c21-49f3-a6ce-ca19e5947932</vt:lpwstr>
  </property>
  <property fmtid="{D5CDD505-2E9C-101B-9397-08002B2CF9AE}" pid="3" name="MSIP_Label_4b9664e8-5bac-43dd-9fd7-fd5d06fe239a_Enabled">
    <vt:lpwstr>true</vt:lpwstr>
  </property>
  <property fmtid="{D5CDD505-2E9C-101B-9397-08002B2CF9AE}" pid="4" name="MSIP_Label_4b9664e8-5bac-43dd-9fd7-fd5d06fe239a_SetDate">
    <vt:lpwstr>2023-07-22T02:56:14Z</vt:lpwstr>
  </property>
  <property fmtid="{D5CDD505-2E9C-101B-9397-08002B2CF9AE}" pid="5" name="MSIP_Label_4b9664e8-5bac-43dd-9fd7-fd5d06fe239a_Method">
    <vt:lpwstr>Privileged</vt:lpwstr>
  </property>
  <property fmtid="{D5CDD505-2E9C-101B-9397-08002B2CF9AE}" pid="6" name="MSIP_Label_4b9664e8-5bac-43dd-9fd7-fd5d06fe239a_Name">
    <vt:lpwstr>Non-Corning</vt:lpwstr>
  </property>
  <property fmtid="{D5CDD505-2E9C-101B-9397-08002B2CF9AE}" pid="7" name="MSIP_Label_4b9664e8-5bac-43dd-9fd7-fd5d06fe239a_SiteId">
    <vt:lpwstr>b36a1e05-4a62-442b-83cf-dbdd6d7810e4</vt:lpwstr>
  </property>
  <property fmtid="{D5CDD505-2E9C-101B-9397-08002B2CF9AE}" pid="8" name="MSIP_Label_4b9664e8-5bac-43dd-9fd7-fd5d06fe239a_ActionId">
    <vt:lpwstr>f61cd9d7-407c-42a6-a568-42fd5051dfec</vt:lpwstr>
  </property>
  <property fmtid="{D5CDD505-2E9C-101B-9397-08002B2CF9AE}" pid="9" name="MSIP_Label_4b9664e8-5bac-43dd-9fd7-fd5d06fe239a_ContentBits">
    <vt:lpwstr>0</vt:lpwstr>
  </property>
  <property fmtid="{D5CDD505-2E9C-101B-9397-08002B2CF9AE}" pid="10" name="CorningFullClassification">
    <vt:lpwstr>TitusReset-MIP</vt:lpwstr>
  </property>
</Properties>
</file>