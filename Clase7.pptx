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2" r:id="rId3"/>
    <p:sldId id="263" r:id="rId4"/>
    <p:sldId id="265" r:id="rId5"/>
    <p:sldId id="266" r:id="rId6"/>
    <p:sldId id="268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9" r:id="rId16"/>
    <p:sldId id="28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99408-2919-F28B-6E8E-604310B0F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5A268-26F0-CFBB-6289-F41E6D7FB2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39DF-D5FC-9774-889D-B872C7F9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5F310-1974-7AED-A659-BBF53CAC6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3AC3C1-199C-D0BF-EBC9-5460279D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37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5999-771B-4283-72E4-20F23922A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33B34-58F4-F431-C3A6-A4FE139D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0CA24-F463-C0A7-9F84-9F63FCF69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0567-B7F3-6F5E-7667-B336EF32D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A0D32-90C0-13C1-9B7C-64BB3DCD9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43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29123-DCF3-3CB1-7F15-DB839C924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A0596-1EFD-9CDC-C9DC-229385E9B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E4474-6E57-7E2A-1196-C9F0BB97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2DB1D-4183-92C7-F305-612686E57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F0F39-A40E-A69E-281C-AB96978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61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17A5-3367-EE29-00AC-DC0F912EB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C8810-D0AA-EADD-C223-648375E61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9AC2F3-BDED-04B1-A5C1-47707E7A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E1416-0C58-20DD-6C7D-5C9736688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5F73A-28BB-E28D-333C-4BF8054F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2DDF6-36E3-DC79-ABF7-5426D7CD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3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AEDA-7994-0F2F-6EAE-839BB640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CC727-03C0-C36D-C6A6-4EECC5520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8F921-A39A-D617-D78E-FEF348383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532DA5-455B-3115-7240-BB5C9C78F4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FFF07E-A23B-6074-974D-9B156C2295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573CA6-4085-BE46-A7EB-7310DEFED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05A9-5DAE-16A0-5C27-25058D49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211966-B287-F51F-CEB9-497F3A148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45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5160C-2FE9-D80B-45E0-67863162E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DBE8AB-8EF6-7F11-A2C8-0FA974F2D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F25A9-08A9-890B-D167-547F26E28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A8C27-8FBB-AA52-73AB-1DFA93687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36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9623D6-7C99-55D6-2F11-32AC9E525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FA75C7-8BC4-2447-039F-4A9773F61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0B93-DA94-79B8-047E-A01E7F551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0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D976-FC5B-AC4A-172E-D8BA76E55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77C4A-1182-2435-C63D-9954645954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C83849-C612-186A-6F61-07922885A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864005-70E9-8744-1BFA-CD6B3FB40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76AD-1CBD-7492-523B-C5588524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C3CAF-3A04-5435-DE37-24600B054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98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A2369-21AA-F52B-D169-967D9B129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009D5-3528-57C2-2946-BDD9FB2CC4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F3C7A-A83E-DB4F-B185-4A0D6422C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20C1D-DDE9-219F-B95D-EFEDF144C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18E1D-77FE-FCC1-201D-30A463A48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BC95A-1344-CFCF-91F0-9D13832E9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63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BB85-0206-6882-632F-56587A6BC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56E67-58CB-98A9-25BE-1ED05B11D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72D45-569B-700F-1749-04E44EA5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06D1C-EC6E-E5B1-E3D2-F5BBF66B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95FF0-21EA-0DE7-E87D-E06E6B37A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98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FAF4F0-47E6-BF9F-1011-9890532C8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0F3AE-CF83-290D-10EC-25474BDE8B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68110-51E1-8E29-B575-43BA8AE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D995-7D13-4AFC-96D4-CB0B04953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3B438-633E-7C48-08BC-9BD5C8B56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9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E9F6CF-45A9-F443-2D20-F137379C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C5803-0526-8032-1D0C-DC6A6906B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AF085-4C93-DC87-BC70-CAD84F327D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A2D9D-F137-4163-855D-360766367DD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88FEC-E72F-8768-AFE5-95C5B9CD8B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9294C-0C40-8BBF-A6DF-1DF5263E7F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E7D563-F53E-CE33-BAF1-6E37B5DF2CA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863263" y="6642100"/>
            <a:ext cx="130016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- Corning (L4)</a:t>
            </a:r>
          </a:p>
        </p:txBody>
      </p:sp>
    </p:spTree>
    <p:extLst>
      <p:ext uri="{BB962C8B-B14F-4D97-AF65-F5344CB8AC3E}">
        <p14:creationId xmlns:p14="http://schemas.microsoft.com/office/powerpoint/2010/main" val="191300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atos.cdmx.gob.mx/dataset/incidentes-viales-c5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0FC73-B0B5-2FB2-508E-8E6408154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1646"/>
            <a:ext cx="10515600" cy="1194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1- </a:t>
            </a:r>
            <a:r>
              <a:rPr lang="en-US" b="1" dirty="0" err="1"/>
              <a:t>Entrar</a:t>
            </a:r>
            <a:r>
              <a:rPr lang="en-US" b="1" dirty="0"/>
              <a:t> a la </a:t>
            </a:r>
            <a:r>
              <a:rPr lang="en-US" b="1" dirty="0" err="1"/>
              <a:t>pagina</a:t>
            </a:r>
            <a:r>
              <a:rPr lang="en-US" b="1" dirty="0"/>
              <a:t> del C5 de CDMX</a:t>
            </a:r>
          </a:p>
          <a:p>
            <a:pPr marL="0" indent="0">
              <a:buNone/>
            </a:pPr>
            <a:r>
              <a:rPr lang="en-US" sz="2400" dirty="0" err="1"/>
              <a:t>Link:</a:t>
            </a:r>
            <a:r>
              <a:rPr lang="en-US" sz="2400" dirty="0" err="1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sz="2400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://datos.cdmx.gob.mx/dataset/incidentes-viales-c5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CD1189-C379-1F87-267B-15A34AF79FC2}"/>
              </a:ext>
            </a:extLst>
          </p:cNvPr>
          <p:cNvSpPr/>
          <p:nvPr/>
        </p:nvSpPr>
        <p:spPr>
          <a:xfrm>
            <a:off x="3593432" y="115074"/>
            <a:ext cx="373596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Clase 6 Links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9264AE-009F-FAA6-7398-9D2B0C475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056" y="2336801"/>
            <a:ext cx="7640256" cy="409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76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EF8DE5-0B58-4F52-56E3-8122DF7DA0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77"/>
          <a:stretch/>
        </p:blipFill>
        <p:spPr>
          <a:xfrm>
            <a:off x="91448" y="2157663"/>
            <a:ext cx="4897646" cy="424084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C7AE917-EC63-1780-172E-B0A119901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8164"/>
            <a:ext cx="4255168" cy="14630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Descargar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r>
              <a:rPr lang="en-US" sz="2000" b="1" dirty="0" err="1"/>
              <a:t>incidentes</a:t>
            </a:r>
            <a:r>
              <a:rPr lang="en-US" sz="2000" b="1" dirty="0"/>
              <a:t> </a:t>
            </a:r>
            <a:r>
              <a:rPr lang="en-US" sz="2000" b="1" dirty="0" err="1"/>
              <a:t>viales</a:t>
            </a:r>
            <a:r>
              <a:rPr lang="en-US" sz="2000" b="1" dirty="0"/>
              <a:t> del 2016 al 2024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70C0"/>
                </a:solidFill>
              </a:rPr>
              <a:t>(Los </a:t>
            </a:r>
            <a:r>
              <a:rPr lang="en-US" sz="1800" dirty="0" err="1">
                <a:solidFill>
                  <a:srgbClr val="0070C0"/>
                </a:solidFill>
              </a:rPr>
              <a:t>archivos</a:t>
            </a:r>
            <a:r>
              <a:rPr lang="en-US" sz="1800" dirty="0">
                <a:solidFill>
                  <a:srgbClr val="0070C0"/>
                </a:solidFill>
              </a:rPr>
              <a:t> se </a:t>
            </a:r>
            <a:r>
              <a:rPr lang="en-US" sz="1800" dirty="0" err="1">
                <a:solidFill>
                  <a:srgbClr val="0070C0"/>
                </a:solidFill>
              </a:rPr>
              <a:t>encuentran</a:t>
            </a:r>
            <a:r>
              <a:rPr lang="en-US" sz="1800" dirty="0">
                <a:solidFill>
                  <a:srgbClr val="0070C0"/>
                </a:solidFill>
              </a:rPr>
              <a:t> </a:t>
            </a:r>
            <a:r>
              <a:rPr lang="en-US" sz="1800" dirty="0" err="1">
                <a:solidFill>
                  <a:srgbClr val="0070C0"/>
                </a:solidFill>
              </a:rPr>
              <a:t>en</a:t>
            </a:r>
            <a:r>
              <a:rPr lang="en-US" sz="1800" dirty="0">
                <a:solidFill>
                  <a:srgbClr val="0070C0"/>
                </a:solidFill>
              </a:rPr>
              <a:t> la </a:t>
            </a:r>
            <a:r>
              <a:rPr lang="en-US" sz="1800" dirty="0" err="1">
                <a:solidFill>
                  <a:srgbClr val="0070C0"/>
                </a:solidFill>
              </a:rPr>
              <a:t>parte</a:t>
            </a:r>
            <a:r>
              <a:rPr lang="en-US" sz="1800" dirty="0">
                <a:solidFill>
                  <a:srgbClr val="0070C0"/>
                </a:solidFill>
              </a:rPr>
              <a:t> inferior de la </a:t>
            </a:r>
            <a:r>
              <a:rPr lang="en-US" sz="1800" dirty="0" err="1">
                <a:solidFill>
                  <a:srgbClr val="0070C0"/>
                </a:solidFill>
              </a:rPr>
              <a:t>pagina</a:t>
            </a:r>
            <a:r>
              <a:rPr lang="en-US" sz="1800" dirty="0">
                <a:solidFill>
                  <a:srgbClr val="0070C0"/>
                </a:solidFill>
              </a:rPr>
              <a:t> del paso 1)</a:t>
            </a:r>
          </a:p>
          <a:p>
            <a:pPr marL="0" indent="0">
              <a:buNone/>
            </a:pP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2FDC7BB-DAB3-27BA-6B21-DA7A46BFDE90}"/>
              </a:ext>
            </a:extLst>
          </p:cNvPr>
          <p:cNvSpPr/>
          <p:nvPr/>
        </p:nvSpPr>
        <p:spPr>
          <a:xfrm rot="10800000">
            <a:off x="1856874" y="328061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E095B0-4C84-C391-D958-12F248868B01}"/>
              </a:ext>
            </a:extLst>
          </p:cNvPr>
          <p:cNvSpPr txBox="1"/>
          <p:nvPr/>
        </p:nvSpPr>
        <p:spPr>
          <a:xfrm>
            <a:off x="3007895" y="3193079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#1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88D61C4-5B16-E317-983C-8541038E001B}"/>
              </a:ext>
            </a:extLst>
          </p:cNvPr>
          <p:cNvSpPr/>
          <p:nvPr/>
        </p:nvSpPr>
        <p:spPr>
          <a:xfrm rot="10800000">
            <a:off x="1834816" y="4403558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F070F-2C72-610F-4966-0E69C8CFEEAE}"/>
              </a:ext>
            </a:extLst>
          </p:cNvPr>
          <p:cNvSpPr txBox="1"/>
          <p:nvPr/>
        </p:nvSpPr>
        <p:spPr>
          <a:xfrm>
            <a:off x="2965784" y="4259672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#2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21A2E8A-3CF4-127E-50E7-001BAAA97D3D}"/>
              </a:ext>
            </a:extLst>
          </p:cNvPr>
          <p:cNvSpPr/>
          <p:nvPr/>
        </p:nvSpPr>
        <p:spPr>
          <a:xfrm rot="10800000">
            <a:off x="1722123" y="5415907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2A28D-150D-F668-1C06-0F3096FFE7F5}"/>
              </a:ext>
            </a:extLst>
          </p:cNvPr>
          <p:cNvSpPr txBox="1"/>
          <p:nvPr/>
        </p:nvSpPr>
        <p:spPr>
          <a:xfrm>
            <a:off x="2853091" y="5319940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02FDAE-CDA1-876B-5A6A-6CEF85BBB789}"/>
              </a:ext>
            </a:extLst>
          </p:cNvPr>
          <p:cNvSpPr txBox="1"/>
          <p:nvPr/>
        </p:nvSpPr>
        <p:spPr>
          <a:xfrm>
            <a:off x="6561222" y="388164"/>
            <a:ext cx="511743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Colocar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del 2016 – 2018 y del 2019 – 2021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carpeta</a:t>
            </a:r>
            <a:r>
              <a:rPr lang="en-US" sz="2000" b="1" dirty="0"/>
              <a:t> </a:t>
            </a:r>
            <a:r>
              <a:rPr lang="en-US" sz="2000" b="1" dirty="0" err="1"/>
              <a:t>llamada</a:t>
            </a:r>
            <a:r>
              <a:rPr lang="en-US" sz="2000" b="1" dirty="0"/>
              <a:t> “Clase6”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2CB21-6D54-2217-ADEE-F1D48315A5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/>
        </p:blipFill>
        <p:spPr>
          <a:xfrm>
            <a:off x="6232358" y="2297545"/>
            <a:ext cx="4791482" cy="113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4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2F2FC-8243-B2AD-642F-8D28E1D1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34EA8E9-160F-749A-C41A-9BB43DA56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5- </a:t>
            </a:r>
            <a:r>
              <a:rPr lang="en-US" b="1" dirty="0" err="1"/>
              <a:t>Generar</a:t>
            </a:r>
            <a:r>
              <a:rPr lang="en-US" b="1" dirty="0"/>
              <a:t> un nuevo PBI con el </a:t>
            </a:r>
            <a:r>
              <a:rPr lang="en-US" b="1" dirty="0" err="1"/>
              <a:t>conector</a:t>
            </a:r>
            <a:r>
              <a:rPr lang="en-US" b="1" dirty="0"/>
              <a:t> Folder a la </a:t>
            </a:r>
            <a:r>
              <a:rPr lang="en-US" b="1" dirty="0" err="1"/>
              <a:t>carpeta</a:t>
            </a:r>
            <a:r>
              <a:rPr lang="en-US" b="1" dirty="0"/>
              <a:t> Clase6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149860-B9EC-C28D-AE90-A1BC0937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2498"/>
          <a:stretch/>
        </p:blipFill>
        <p:spPr>
          <a:xfrm>
            <a:off x="548640" y="1468053"/>
            <a:ext cx="4206240" cy="2616267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11ED5681-B65A-7270-8BDD-FEB48AF26A1A}"/>
              </a:ext>
            </a:extLst>
          </p:cNvPr>
          <p:cNvSpPr/>
          <p:nvPr/>
        </p:nvSpPr>
        <p:spPr>
          <a:xfrm rot="10800000">
            <a:off x="2557914" y="356509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F1CC49-63B3-2606-EF8E-D8CC19BCE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53690"/>
            <a:ext cx="4099560" cy="236952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894BC9A-4644-D464-56B2-2025BCEE1B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956"/>
          <a:stretch/>
        </p:blipFill>
        <p:spPr>
          <a:xfrm>
            <a:off x="5244753" y="2421991"/>
            <a:ext cx="6805007" cy="2286198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52070F9-2964-75F5-DCCC-FE39FD77799A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6- </a:t>
            </a:r>
            <a:r>
              <a:rPr lang="en-US" b="1" dirty="0" err="1"/>
              <a:t>Combinar</a:t>
            </a:r>
            <a:r>
              <a:rPr lang="en-US" b="1" dirty="0"/>
              <a:t> los </a:t>
            </a:r>
            <a:r>
              <a:rPr lang="en-US" b="1" dirty="0" err="1"/>
              <a:t>contenidos</a:t>
            </a:r>
            <a:r>
              <a:rPr lang="en-US" b="1" dirty="0"/>
              <a:t> de los </a:t>
            </a:r>
            <a:r>
              <a:rPr lang="en-US" b="1" dirty="0" err="1"/>
              <a:t>archivos</a:t>
            </a:r>
            <a:r>
              <a:rPr lang="en-US" b="1" dirty="0"/>
              <a:t> </a:t>
            </a:r>
            <a:r>
              <a:rPr lang="en-US" b="1" dirty="0" err="1"/>
              <a:t>dentro</a:t>
            </a:r>
            <a:r>
              <a:rPr lang="en-US" b="1" dirty="0"/>
              <a:t> de la </a:t>
            </a:r>
            <a:r>
              <a:rPr lang="en-US" b="1" dirty="0" err="1"/>
              <a:t>carpeta</a:t>
            </a:r>
            <a:endParaRPr lang="en-US" b="1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3D1219-0E28-7C29-DD5C-657A59BC71EE}"/>
              </a:ext>
            </a:extLst>
          </p:cNvPr>
          <p:cNvSpPr/>
          <p:nvPr/>
        </p:nvSpPr>
        <p:spPr>
          <a:xfrm rot="16200000">
            <a:off x="8046834" y="334863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337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AB5CB-BE8D-F896-D774-492B19833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098105E-8C1B-4629-67B6-108D852E1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7-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y </a:t>
            </a:r>
            <a:r>
              <a:rPr lang="en-US" b="1" dirty="0" err="1"/>
              <a:t>cambiar</a:t>
            </a:r>
            <a:r>
              <a:rPr lang="en-US" b="1" dirty="0"/>
              <a:t> a Date/time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2A021D2-4BE2-533E-6B83-F2A72004D39E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8-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6BDDE-74AA-A8D9-ED7D-27FCA7779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02" y="1652901"/>
            <a:ext cx="3897683" cy="2627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EF9DD2-FAD9-B764-A9E8-209A2309C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85" y="5061284"/>
            <a:ext cx="2436402" cy="14666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A3967E-2943-1E58-11FE-0B34120D84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529"/>
          <a:stretch/>
        </p:blipFill>
        <p:spPr>
          <a:xfrm>
            <a:off x="7042484" y="1652900"/>
            <a:ext cx="3254022" cy="257447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016F4AD-8022-AD59-9180-EB656DCB5AAB}"/>
              </a:ext>
            </a:extLst>
          </p:cNvPr>
          <p:cNvSpPr/>
          <p:nvPr/>
        </p:nvSpPr>
        <p:spPr>
          <a:xfrm rot="16200000">
            <a:off x="2431696" y="231449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EF4A9A7-04CC-08A6-BF72-5667CF21F1C4}"/>
              </a:ext>
            </a:extLst>
          </p:cNvPr>
          <p:cNvSpPr/>
          <p:nvPr/>
        </p:nvSpPr>
        <p:spPr>
          <a:xfrm rot="16200000">
            <a:off x="8633441" y="227919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1CD592-6551-A325-5F5C-75AD42A4DB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5811" y="4798425"/>
            <a:ext cx="2300485" cy="1379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08E83D-B3BA-D475-4162-36B3D55BB6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0000"/>
          <a:stretch/>
        </p:blipFill>
        <p:spPr>
          <a:xfrm>
            <a:off x="2343068" y="4810886"/>
            <a:ext cx="2887016" cy="1768468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C4714602-99C6-DE30-B0FC-FB143216C6F4}"/>
              </a:ext>
            </a:extLst>
          </p:cNvPr>
          <p:cNvSpPr/>
          <p:nvPr/>
        </p:nvSpPr>
        <p:spPr>
          <a:xfrm rot="10800000">
            <a:off x="3192038" y="5794599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B335CD-2D86-6C43-EDAC-443A47FD7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20" y="4742685"/>
            <a:ext cx="2830045" cy="1490534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238E396B-01DE-52B9-FE71-25B74CE9A4A8}"/>
              </a:ext>
            </a:extLst>
          </p:cNvPr>
          <p:cNvSpPr/>
          <p:nvPr/>
        </p:nvSpPr>
        <p:spPr>
          <a:xfrm>
            <a:off x="9508953" y="5621343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777EE3-6105-13B5-5A16-09963C69B1CA}"/>
              </a:ext>
            </a:extLst>
          </p:cNvPr>
          <p:cNvSpPr/>
          <p:nvPr/>
        </p:nvSpPr>
        <p:spPr>
          <a:xfrm>
            <a:off x="4056482" y="1420990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DF3E0F-B7BA-79A1-67B5-6ECFD6A1A1D3}"/>
              </a:ext>
            </a:extLst>
          </p:cNvPr>
          <p:cNvSpPr/>
          <p:nvPr/>
        </p:nvSpPr>
        <p:spPr>
          <a:xfrm>
            <a:off x="1600732" y="480978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5C85CA-AF2B-76D4-6B8A-8A1583FE6323}"/>
              </a:ext>
            </a:extLst>
          </p:cNvPr>
          <p:cNvSpPr/>
          <p:nvPr/>
        </p:nvSpPr>
        <p:spPr>
          <a:xfrm>
            <a:off x="4749692" y="440967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0154D6-3EAD-352F-682F-C98A29FF2101}"/>
              </a:ext>
            </a:extLst>
          </p:cNvPr>
          <p:cNvSpPr/>
          <p:nvPr/>
        </p:nvSpPr>
        <p:spPr>
          <a:xfrm>
            <a:off x="11474562" y="4342575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54788F-D0BE-3D29-0BB6-D35F2EE25EDE}"/>
              </a:ext>
            </a:extLst>
          </p:cNvPr>
          <p:cNvSpPr/>
          <p:nvPr/>
        </p:nvSpPr>
        <p:spPr>
          <a:xfrm>
            <a:off x="6713581" y="443042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91B05F-809E-2141-9E39-508FE7D88DB4}"/>
              </a:ext>
            </a:extLst>
          </p:cNvPr>
          <p:cNvSpPr/>
          <p:nvPr/>
        </p:nvSpPr>
        <p:spPr>
          <a:xfrm>
            <a:off x="10223990" y="157650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66503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344C6-A4A0-6F17-18EA-8390DF2F5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78D3262-5983-81BD-7727-97D830BA0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9-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llamada</a:t>
            </a:r>
            <a:r>
              <a:rPr lang="en-US" b="1" dirty="0"/>
              <a:t> “</a:t>
            </a:r>
            <a:r>
              <a:rPr lang="en-US" b="1" dirty="0" err="1"/>
              <a:t>TiempoAtencion</a:t>
            </a:r>
            <a:r>
              <a:rPr lang="en-US" b="1" dirty="0"/>
              <a:t>” </a:t>
            </a:r>
            <a:r>
              <a:rPr lang="en-US" b="1" dirty="0" err="1"/>
              <a:t>obteniendo</a:t>
            </a:r>
            <a:r>
              <a:rPr lang="en-US" b="1" dirty="0"/>
              <a:t> la </a:t>
            </a:r>
            <a:r>
              <a:rPr lang="en-US" b="1" dirty="0" err="1"/>
              <a:t>diferencia</a:t>
            </a:r>
            <a:r>
              <a:rPr lang="en-US" b="1" dirty="0"/>
              <a:t> de  </a:t>
            </a:r>
            <a:r>
              <a:rPr lang="en-US" b="1" dirty="0">
                <a:solidFill>
                  <a:srgbClr val="0070C0"/>
                </a:solidFill>
              </a:rPr>
              <a:t>[Cierre] </a:t>
            </a:r>
            <a:r>
              <a:rPr lang="en-US" b="1" dirty="0"/>
              <a:t>-</a:t>
            </a:r>
            <a:r>
              <a:rPr lang="en-US" b="1" dirty="0">
                <a:solidFill>
                  <a:srgbClr val="0070C0"/>
                </a:solidFill>
              </a:rPr>
              <a:t> [</a:t>
            </a:r>
            <a:r>
              <a:rPr lang="en-US" b="1" dirty="0" err="1">
                <a:solidFill>
                  <a:srgbClr val="0070C0"/>
                </a:solidFill>
              </a:rPr>
              <a:t>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  <a:endParaRPr lang="en-US" b="1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DA20148-0089-ECC4-8C27-BC55EB8AB624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10-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con el </a:t>
            </a:r>
            <a:r>
              <a:rPr lang="en-US" b="1" dirty="0" err="1"/>
              <a:t>nombre</a:t>
            </a:r>
            <a:r>
              <a:rPr lang="en-US" b="1" dirty="0"/>
              <a:t> del dia </a:t>
            </a:r>
            <a:r>
              <a:rPr lang="en-US" b="1" dirty="0" err="1"/>
              <a:t>usando</a:t>
            </a:r>
            <a:r>
              <a:rPr lang="en-US" b="1" dirty="0"/>
              <a:t>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fecha_cierre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 err="1"/>
              <a:t>llamarla</a:t>
            </a:r>
            <a:r>
              <a:rPr lang="en-US" b="1" dirty="0"/>
              <a:t> “</a:t>
            </a:r>
            <a:r>
              <a:rPr lang="en-US" b="1" dirty="0" err="1"/>
              <a:t>DiaCierre</a:t>
            </a:r>
            <a:r>
              <a:rPr lang="en-US" b="1" dirty="0"/>
              <a:t>” y </a:t>
            </a:r>
            <a:r>
              <a:rPr lang="en-US" b="1" dirty="0" err="1"/>
              <a:t>hacer</a:t>
            </a:r>
            <a:r>
              <a:rPr lang="en-US" b="1" dirty="0"/>
              <a:t> la primer </a:t>
            </a:r>
            <a:r>
              <a:rPr lang="en-US" b="1" dirty="0" err="1"/>
              <a:t>letra</a:t>
            </a:r>
            <a:r>
              <a:rPr lang="en-US" b="1" dirty="0"/>
              <a:t> </a:t>
            </a:r>
            <a:r>
              <a:rPr lang="en-US" b="1" dirty="0" err="1"/>
              <a:t>mayuscula</a:t>
            </a:r>
            <a:endParaRPr lang="en-US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2BB514-DB62-611E-748E-B35B3B17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25" y="2110356"/>
            <a:ext cx="4646597" cy="226111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97A4561-012F-9C00-DC94-44025178E1D0}"/>
              </a:ext>
            </a:extLst>
          </p:cNvPr>
          <p:cNvSpPr/>
          <p:nvPr/>
        </p:nvSpPr>
        <p:spPr>
          <a:xfrm rot="5400000">
            <a:off x="3881849" y="2570137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0761FA6-36CE-100A-B43E-37CC5C42173A}"/>
              </a:ext>
            </a:extLst>
          </p:cNvPr>
          <p:cNvSpPr/>
          <p:nvPr/>
        </p:nvSpPr>
        <p:spPr>
          <a:xfrm rot="17418639">
            <a:off x="162540" y="393371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87CA21D-1A5E-1D3C-C9E6-08CE348D17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988"/>
          <a:stretch/>
        </p:blipFill>
        <p:spPr>
          <a:xfrm>
            <a:off x="7226953" y="1433172"/>
            <a:ext cx="2936431" cy="2770052"/>
          </a:xfrm>
          <a:prstGeom prst="rect">
            <a:avLst/>
          </a:prstGeom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BD6A7D1F-1797-9369-D1E4-DFA9B83B54F5}"/>
              </a:ext>
            </a:extLst>
          </p:cNvPr>
          <p:cNvSpPr/>
          <p:nvPr/>
        </p:nvSpPr>
        <p:spPr>
          <a:xfrm>
            <a:off x="7226953" y="3856712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611BEDF-7B17-3CAC-5910-86053B149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574" y="4468452"/>
            <a:ext cx="3681679" cy="2234441"/>
          </a:xfrm>
          <a:prstGeom prst="rect">
            <a:avLst/>
          </a:prstGeom>
        </p:spPr>
      </p:pic>
      <p:sp>
        <p:nvSpPr>
          <p:cNvPr id="29" name="Arrow: Right 28">
            <a:extLst>
              <a:ext uri="{FF2B5EF4-FFF2-40B4-BE49-F238E27FC236}">
                <a16:creationId xmlns:a16="http://schemas.microsoft.com/office/drawing/2014/main" id="{81D3D430-93D6-4714-9322-0C9F2AEBC9DA}"/>
              </a:ext>
            </a:extLst>
          </p:cNvPr>
          <p:cNvSpPr/>
          <p:nvPr/>
        </p:nvSpPr>
        <p:spPr>
          <a:xfrm>
            <a:off x="6625374" y="5324565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480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B858A-7DCD-7757-8D99-A6562CF3E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82" y="1012703"/>
            <a:ext cx="5042369" cy="55067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E7C17A0-8EEB-8AD7-C24D-ACB113EDD0D1}"/>
              </a:ext>
            </a:extLst>
          </p:cNvPr>
          <p:cNvSpPr txBox="1">
            <a:spLocks/>
          </p:cNvSpPr>
          <p:nvPr/>
        </p:nvSpPr>
        <p:spPr>
          <a:xfrm>
            <a:off x="5353031" y="1012151"/>
            <a:ext cx="6600071" cy="5668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/>
              <a:t>Generar</a:t>
            </a:r>
            <a:r>
              <a:rPr lang="en-US" sz="2000" b="1" dirty="0"/>
              <a:t> </a:t>
            </a:r>
            <a:r>
              <a:rPr lang="en-US" sz="2000" b="1" dirty="0" err="1"/>
              <a:t>columnas</a:t>
            </a:r>
            <a:r>
              <a:rPr lang="en-US" sz="2000" b="1" dirty="0"/>
              <a:t> de </a:t>
            </a:r>
            <a:r>
              <a:rPr lang="en-US" sz="2000" b="1" dirty="0" err="1"/>
              <a:t>significado</a:t>
            </a:r>
            <a:r>
              <a:rPr lang="en-US" sz="2000" b="1" dirty="0"/>
              <a:t> de [</a:t>
            </a:r>
            <a:r>
              <a:rPr lang="en-US" sz="2000" b="1" dirty="0" err="1"/>
              <a:t>codigo_cierre</a:t>
            </a:r>
            <a:r>
              <a:rPr lang="en-US" sz="2000" b="1" dirty="0"/>
              <a:t>] </a:t>
            </a:r>
            <a:r>
              <a:rPr lang="en-US" sz="2000" b="1" dirty="0" err="1"/>
              <a:t>usando</a:t>
            </a:r>
            <a:r>
              <a:rPr lang="en-US" sz="2000" b="1" dirty="0"/>
              <a:t> las </a:t>
            </a:r>
            <a:r>
              <a:rPr lang="en-US" sz="2000" b="1" dirty="0" err="1"/>
              <a:t>instrucciones</a:t>
            </a:r>
            <a:r>
              <a:rPr lang="en-US" sz="2000" b="1" dirty="0"/>
              <a:t> del C5 con lo </a:t>
            </a:r>
            <a:r>
              <a:rPr lang="en-US" sz="2000" b="1" dirty="0" err="1"/>
              <a:t>aprendido</a:t>
            </a:r>
            <a:r>
              <a:rPr lang="en-US" sz="2000" b="1" dirty="0"/>
              <a:t>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clases</a:t>
            </a:r>
            <a:r>
              <a:rPr lang="en-US" sz="2000" b="1" dirty="0"/>
              <a:t> </a:t>
            </a:r>
            <a:r>
              <a:rPr lang="en-US" sz="2000" b="1" dirty="0" err="1"/>
              <a:t>anteriores</a:t>
            </a:r>
            <a:r>
              <a:rPr lang="en-US" sz="2000" b="1" dirty="0"/>
              <a:t>: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1- </a:t>
            </a:r>
            <a:r>
              <a:rPr lang="en-US" sz="2000" b="1" dirty="0" err="1"/>
              <a:t>usando</a:t>
            </a:r>
            <a:r>
              <a:rPr lang="en-US" sz="2000" b="1" dirty="0"/>
              <a:t> la function replace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usando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columna</a:t>
            </a:r>
            <a:r>
              <a:rPr lang="en-US" sz="2000" b="1" dirty="0"/>
              <a:t> </a:t>
            </a:r>
            <a:r>
              <a:rPr lang="en-US" sz="2000" b="1" dirty="0" err="1"/>
              <a:t>condicional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usando</a:t>
            </a:r>
            <a:r>
              <a:rPr lang="en-US" sz="2000" b="1" dirty="0"/>
              <a:t> merge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>
                <a:highlight>
                  <a:srgbClr val="FFFF00"/>
                </a:highlight>
              </a:rPr>
              <a:t>El </a:t>
            </a:r>
            <a:r>
              <a:rPr lang="en-US" sz="2000" b="1" dirty="0" err="1">
                <a:highlight>
                  <a:srgbClr val="FFFF00"/>
                </a:highlight>
              </a:rPr>
              <a:t>objetivo</a:t>
            </a:r>
            <a:r>
              <a:rPr lang="en-US" sz="2000" b="1" dirty="0">
                <a:highlight>
                  <a:srgbClr val="FFFF00"/>
                </a:highlight>
              </a:rPr>
              <a:t> es </a:t>
            </a:r>
            <a:r>
              <a:rPr lang="en-US" sz="2000" b="1" dirty="0" err="1">
                <a:highlight>
                  <a:srgbClr val="FFFF00"/>
                </a:highlight>
              </a:rPr>
              <a:t>observar</a:t>
            </a:r>
            <a:r>
              <a:rPr lang="en-US" sz="2000" b="1" dirty="0">
                <a:highlight>
                  <a:srgbClr val="FFFF00"/>
                </a:highlight>
              </a:rPr>
              <a:t> las </a:t>
            </a:r>
            <a:r>
              <a:rPr lang="en-US" sz="2000" b="1" dirty="0" err="1">
                <a:highlight>
                  <a:srgbClr val="FFFF00"/>
                </a:highlight>
              </a:rPr>
              <a:t>ventajas</a:t>
            </a:r>
            <a:r>
              <a:rPr lang="en-US" sz="2000" b="1" dirty="0">
                <a:highlight>
                  <a:srgbClr val="FFFF00"/>
                </a:highlight>
              </a:rPr>
              <a:t> y </a:t>
            </a:r>
            <a:r>
              <a:rPr lang="en-US" sz="2000" b="1" dirty="0" err="1">
                <a:highlight>
                  <a:srgbClr val="FFFF00"/>
                </a:highlight>
              </a:rPr>
              <a:t>desventajas</a:t>
            </a:r>
            <a:r>
              <a:rPr lang="en-US" sz="2000" b="1" dirty="0">
                <a:highlight>
                  <a:srgbClr val="FFFF00"/>
                </a:highlight>
              </a:rPr>
              <a:t> de </a:t>
            </a:r>
            <a:r>
              <a:rPr lang="en-US" sz="2000" b="1" dirty="0" err="1">
                <a:highlight>
                  <a:srgbClr val="FFFF00"/>
                </a:highlight>
              </a:rPr>
              <a:t>cada</a:t>
            </a:r>
            <a:r>
              <a:rPr lang="en-US" sz="2000" b="1" dirty="0">
                <a:highlight>
                  <a:srgbClr val="FFFF00"/>
                </a:highlight>
              </a:rPr>
              <a:t> uno de los 3 </a:t>
            </a:r>
            <a:r>
              <a:rPr lang="en-US" sz="2000" b="1" dirty="0" err="1">
                <a:highlight>
                  <a:srgbClr val="FFFF00"/>
                </a:highlight>
              </a:rPr>
              <a:t>metodos</a:t>
            </a:r>
            <a:endParaRPr lang="en-US" sz="2000" b="1" dirty="0">
              <a:highlight>
                <a:srgbClr val="FFFF00"/>
              </a:highlight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A0AFAD2-D2E3-DD1C-12CE-6BE77EB237C4}"/>
              </a:ext>
            </a:extLst>
          </p:cNvPr>
          <p:cNvSpPr txBox="1">
            <a:spLocks/>
          </p:cNvSpPr>
          <p:nvPr/>
        </p:nvSpPr>
        <p:spPr>
          <a:xfrm>
            <a:off x="129482" y="589004"/>
            <a:ext cx="2102972" cy="423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</a:rPr>
              <a:t>C5 </a:t>
            </a:r>
            <a:r>
              <a:rPr lang="en-US" sz="2000" b="1" dirty="0" err="1">
                <a:solidFill>
                  <a:srgbClr val="0070C0"/>
                </a:solidFill>
              </a:rPr>
              <a:t>datos</a:t>
            </a:r>
            <a:endParaRPr lang="en-US" sz="2000" b="1" dirty="0">
              <a:solidFill>
                <a:srgbClr val="0070C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244F6C-F392-0075-E1D1-35DAFDACCA2F}"/>
              </a:ext>
            </a:extLst>
          </p:cNvPr>
          <p:cNvSpPr txBox="1">
            <a:spLocks/>
          </p:cNvSpPr>
          <p:nvPr/>
        </p:nvSpPr>
        <p:spPr>
          <a:xfrm>
            <a:off x="6509686" y="588453"/>
            <a:ext cx="2313037" cy="4236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>
                <a:solidFill>
                  <a:srgbClr val="0070C0"/>
                </a:solidFill>
              </a:rPr>
              <a:t>Practica</a:t>
            </a:r>
            <a:r>
              <a:rPr lang="en-US" sz="2000" b="1" dirty="0">
                <a:solidFill>
                  <a:srgbClr val="0070C0"/>
                </a:solidFill>
              </a:rPr>
              <a:t> individual</a:t>
            </a:r>
          </a:p>
        </p:txBody>
      </p:sp>
    </p:spTree>
    <p:extLst>
      <p:ext uri="{BB962C8B-B14F-4D97-AF65-F5344CB8AC3E}">
        <p14:creationId xmlns:p14="http://schemas.microsoft.com/office/powerpoint/2010/main" val="324808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C5CB3-84E7-48B9-A354-205BB862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235007-BD5E-DA63-C3A9-5994B1A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232" y="155107"/>
            <a:ext cx="5125864" cy="137905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11-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tabla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</a:t>
            </a:r>
            <a:r>
              <a:rPr lang="en-US" sz="2400" b="1" dirty="0" err="1"/>
              <a:t>Powerbi</a:t>
            </a:r>
            <a:r>
              <a:rPr lang="en-US" sz="2400" b="1" dirty="0"/>
              <a:t> </a:t>
            </a:r>
            <a:r>
              <a:rPr lang="en-US" sz="2400" b="1" dirty="0" err="1"/>
              <a:t>llamada</a:t>
            </a:r>
            <a:r>
              <a:rPr lang="en-US" sz="2400" b="1" dirty="0"/>
              <a:t> “Ref” con los </a:t>
            </a:r>
            <a:r>
              <a:rPr lang="en-US" sz="2400" b="1" dirty="0" err="1"/>
              <a:t>codigos</a:t>
            </a:r>
            <a:r>
              <a:rPr lang="en-US" sz="2400" b="1" dirty="0"/>
              <a:t> y </a:t>
            </a:r>
            <a:r>
              <a:rPr lang="en-US" sz="2400" b="1" dirty="0" err="1"/>
              <a:t>significados</a:t>
            </a:r>
            <a:r>
              <a:rPr lang="en-US" sz="2400" b="1" dirty="0"/>
              <a:t> </a:t>
            </a:r>
            <a:r>
              <a:rPr lang="en-US" sz="2400" b="1" dirty="0" err="1"/>
              <a:t>usando</a:t>
            </a:r>
            <a:r>
              <a:rPr lang="en-US" sz="2400" b="1" dirty="0"/>
              <a:t> Enter Data, </a:t>
            </a:r>
            <a:r>
              <a:rPr lang="en-US" sz="2400" b="1" dirty="0" err="1"/>
              <a:t>despues</a:t>
            </a:r>
            <a:r>
              <a:rPr lang="en-US" sz="2400" b="1" dirty="0"/>
              <a:t> close </a:t>
            </a:r>
            <a:r>
              <a:rPr lang="en-US" sz="2400" b="1" dirty="0" err="1"/>
              <a:t>en</a:t>
            </a:r>
            <a:r>
              <a:rPr lang="en-US" sz="2400" b="1" dirty="0"/>
              <a:t> apply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913C81E-0E7E-53FD-B925-4C1484E82FB3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12- </a:t>
            </a:r>
            <a:r>
              <a:rPr lang="en-US" b="1" dirty="0" err="1"/>
              <a:t>Ir</a:t>
            </a:r>
            <a:r>
              <a:rPr lang="en-US" b="1" dirty="0"/>
              <a:t> a la vista </a:t>
            </a:r>
            <a:r>
              <a:rPr lang="en-US" b="1" dirty="0" err="1"/>
              <a:t>modelo</a:t>
            </a:r>
            <a:r>
              <a:rPr lang="en-US" b="1" dirty="0"/>
              <a:t> y </a:t>
            </a:r>
            <a:r>
              <a:rPr lang="en-US" b="1" dirty="0" err="1"/>
              <a:t>generar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relacion</a:t>
            </a:r>
            <a:r>
              <a:rPr lang="en-US" b="1" dirty="0"/>
              <a:t> entre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arrantrando</a:t>
            </a:r>
            <a:r>
              <a:rPr lang="en-US" b="1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ECAE23-E31A-B3EB-74C2-0CA8CB49E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6" y="1812760"/>
            <a:ext cx="4665456" cy="33764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271B31D0-579B-C7FD-22EF-F21316C49211}"/>
              </a:ext>
            </a:extLst>
          </p:cNvPr>
          <p:cNvSpPr/>
          <p:nvPr/>
        </p:nvSpPr>
        <p:spPr>
          <a:xfrm>
            <a:off x="871482" y="216688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D07DBB-66AE-2DCF-CF49-DFBD8DFE56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9240" y="1371600"/>
            <a:ext cx="4401605" cy="3015915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F4D86A56-4837-1473-DB2C-EEB46313EA62}"/>
              </a:ext>
            </a:extLst>
          </p:cNvPr>
          <p:cNvSpPr/>
          <p:nvPr/>
        </p:nvSpPr>
        <p:spPr>
          <a:xfrm>
            <a:off x="6039281" y="253304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592FCE7-78BB-9403-1226-5D5557C77548}"/>
              </a:ext>
            </a:extLst>
          </p:cNvPr>
          <p:cNvSpPr/>
          <p:nvPr/>
        </p:nvSpPr>
        <p:spPr>
          <a:xfrm rot="18336787">
            <a:off x="8340735" y="3333460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88D3931-A040-01E2-A8E1-EE975EAF65A1}"/>
              </a:ext>
            </a:extLst>
          </p:cNvPr>
          <p:cNvSpPr/>
          <p:nvPr/>
        </p:nvSpPr>
        <p:spPr>
          <a:xfrm rot="17289894">
            <a:off x="-89393" y="2920084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Recording 2026-02-15 095516">
            <a:hlinkClick r:id="" action="ppaction://media"/>
            <a:extLst>
              <a:ext uri="{FF2B5EF4-FFF2-40B4-BE49-F238E27FC236}">
                <a16:creationId xmlns:a16="http://schemas.microsoft.com/office/drawing/2014/main" id="{4BEDC086-1D26-39FD-F945-410086EE7B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126911" y="4466785"/>
            <a:ext cx="3479388" cy="217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324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33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AE8CC9-4869-BDA2-770C-AA3298EB9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95" y="2061474"/>
            <a:ext cx="5308707" cy="31682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D550B-2B48-03AF-1410-EC7F1124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991" y="1656003"/>
            <a:ext cx="5423593" cy="3545994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B8E290AF-A6B5-4269-FF0F-2FAA6668EB20}"/>
              </a:ext>
            </a:extLst>
          </p:cNvPr>
          <p:cNvSpPr/>
          <p:nvPr/>
        </p:nvSpPr>
        <p:spPr>
          <a:xfrm rot="9977831">
            <a:off x="438346" y="2030530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F509CB6-2D5A-F45E-574E-EBBC7866ED55}"/>
              </a:ext>
            </a:extLst>
          </p:cNvPr>
          <p:cNvSpPr/>
          <p:nvPr/>
        </p:nvSpPr>
        <p:spPr>
          <a:xfrm rot="9977831">
            <a:off x="5026389" y="315527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B421A76-5714-9295-EE6F-DD7925BA9569}"/>
              </a:ext>
            </a:extLst>
          </p:cNvPr>
          <p:cNvSpPr/>
          <p:nvPr/>
        </p:nvSpPr>
        <p:spPr>
          <a:xfrm rot="5897422">
            <a:off x="3316066" y="383375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99D6AE0-D80E-D5AA-BF78-E28296F105EC}"/>
              </a:ext>
            </a:extLst>
          </p:cNvPr>
          <p:cNvSpPr/>
          <p:nvPr/>
        </p:nvSpPr>
        <p:spPr>
          <a:xfrm rot="15708700">
            <a:off x="11098326" y="347256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2375E97-5AB8-3ED2-B314-D3AB168B6B4A}"/>
              </a:ext>
            </a:extLst>
          </p:cNvPr>
          <p:cNvSpPr/>
          <p:nvPr/>
        </p:nvSpPr>
        <p:spPr>
          <a:xfrm rot="15708700">
            <a:off x="9670578" y="390569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84B0B1-1917-4B67-5FFB-820ED2A2C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7579" y="5815263"/>
            <a:ext cx="5050140" cy="926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00B0F0"/>
                </a:solidFill>
              </a:rPr>
              <a:t>Observar</a:t>
            </a:r>
            <a:r>
              <a:rPr lang="en-US" sz="1600" b="1" dirty="0">
                <a:solidFill>
                  <a:srgbClr val="00B0F0"/>
                </a:solidFill>
              </a:rPr>
              <a:t> que </a:t>
            </a:r>
            <a:r>
              <a:rPr lang="en-US" sz="1600" b="1" dirty="0" err="1">
                <a:solidFill>
                  <a:srgbClr val="00B0F0"/>
                </a:solidFill>
              </a:rPr>
              <a:t>debido</a:t>
            </a:r>
            <a:r>
              <a:rPr lang="en-US" sz="1600" b="1" dirty="0">
                <a:solidFill>
                  <a:srgbClr val="00B0F0"/>
                </a:solidFill>
              </a:rPr>
              <a:t> a la </a:t>
            </a:r>
            <a:r>
              <a:rPr lang="en-US" sz="1600" b="1" dirty="0" err="1">
                <a:solidFill>
                  <a:srgbClr val="00B0F0"/>
                </a:solidFill>
              </a:rPr>
              <a:t>relacion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generada</a:t>
            </a:r>
            <a:r>
              <a:rPr lang="en-US" sz="1600" b="1" dirty="0">
                <a:solidFill>
                  <a:srgbClr val="00B0F0"/>
                </a:solidFill>
              </a:rPr>
              <a:t> entre las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se </a:t>
            </a:r>
            <a:r>
              <a:rPr lang="en-US" sz="1600" b="1" dirty="0" err="1">
                <a:solidFill>
                  <a:srgbClr val="00B0F0"/>
                </a:solidFill>
              </a:rPr>
              <a:t>puede</a:t>
            </a:r>
            <a:r>
              <a:rPr lang="en-US" sz="1600" b="1" dirty="0">
                <a:solidFill>
                  <a:srgbClr val="00B0F0"/>
                </a:solidFill>
              </a:rPr>
              <a:t> usar </a:t>
            </a:r>
            <a:r>
              <a:rPr lang="en-US" sz="1600" b="1" dirty="0" err="1">
                <a:solidFill>
                  <a:srgbClr val="00B0F0"/>
                </a:solidFill>
              </a:rPr>
              <a:t>columnas</a:t>
            </a:r>
            <a:r>
              <a:rPr lang="en-US" sz="1600" b="1" dirty="0">
                <a:solidFill>
                  <a:srgbClr val="00B0F0"/>
                </a:solidFill>
              </a:rPr>
              <a:t> de ambas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sin </a:t>
            </a:r>
            <a:r>
              <a:rPr lang="en-US" sz="1600" b="1" dirty="0" err="1">
                <a:solidFill>
                  <a:srgbClr val="00B0F0"/>
                </a:solidFill>
              </a:rPr>
              <a:t>problemas</a:t>
            </a:r>
            <a:r>
              <a:rPr lang="en-US" sz="1600" b="1" dirty="0">
                <a:solidFill>
                  <a:srgbClr val="00B0F0"/>
                </a:solidFill>
              </a:rPr>
              <a:t> similar a un </a:t>
            </a:r>
            <a:r>
              <a:rPr lang="en-US" sz="1600" b="1" dirty="0" err="1">
                <a:solidFill>
                  <a:srgbClr val="00B0F0"/>
                </a:solidFill>
              </a:rPr>
              <a:t>filtro</a:t>
            </a:r>
            <a:r>
              <a:rPr lang="en-US" sz="1600" b="1" dirty="0">
                <a:solidFill>
                  <a:srgbClr val="00B0F0"/>
                </a:solidFill>
              </a:rPr>
              <a:t> o </a:t>
            </a:r>
            <a:r>
              <a:rPr lang="en-US" sz="1600" b="1" dirty="0" err="1">
                <a:solidFill>
                  <a:srgbClr val="00B0F0"/>
                </a:solidFill>
              </a:rPr>
              <a:t>vlookup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D6D2B54-1D5B-5BF9-05BF-71E15431CFB8}"/>
              </a:ext>
            </a:extLst>
          </p:cNvPr>
          <p:cNvSpPr txBox="1">
            <a:spLocks/>
          </p:cNvSpPr>
          <p:nvPr/>
        </p:nvSpPr>
        <p:spPr>
          <a:xfrm>
            <a:off x="240632" y="307507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13- </a:t>
            </a:r>
            <a:r>
              <a:rPr lang="en-US" sz="2400" b="1" dirty="0" err="1"/>
              <a:t>Regresar</a:t>
            </a:r>
            <a:r>
              <a:rPr lang="en-US" sz="2400" b="1" dirty="0"/>
              <a:t> a la vista de </a:t>
            </a:r>
            <a:r>
              <a:rPr lang="en-US" sz="2400" b="1" dirty="0" err="1"/>
              <a:t>reporte</a:t>
            </a:r>
            <a:r>
              <a:rPr lang="en-US" sz="2400" b="1" dirty="0"/>
              <a:t>, </a:t>
            </a:r>
            <a:r>
              <a:rPr lang="en-US" sz="2400" b="1" dirty="0" err="1"/>
              <a:t>agregar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card con el </a:t>
            </a:r>
            <a:r>
              <a:rPr lang="en-US" sz="2400" b="1" dirty="0" err="1"/>
              <a:t>conteo</a:t>
            </a:r>
            <a:r>
              <a:rPr lang="en-US" sz="2400" b="1" dirty="0"/>
              <a:t> de la </a:t>
            </a:r>
            <a:r>
              <a:rPr lang="en-US" sz="2400" b="1" dirty="0" err="1"/>
              <a:t>columna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[folio]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E84BD8B-6D7C-8ECC-1577-F60624C377A3}"/>
              </a:ext>
            </a:extLst>
          </p:cNvPr>
          <p:cNvSpPr txBox="1">
            <a:spLocks/>
          </p:cNvSpPr>
          <p:nvPr/>
        </p:nvSpPr>
        <p:spPr>
          <a:xfrm>
            <a:off x="6774255" y="429350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14- </a:t>
            </a:r>
            <a:r>
              <a:rPr lang="en-US" sz="2400" b="1" dirty="0" err="1"/>
              <a:t>Agregar</a:t>
            </a:r>
            <a:r>
              <a:rPr lang="en-US" sz="2400" b="1" dirty="0"/>
              <a:t> un slicer con la </a:t>
            </a:r>
            <a:r>
              <a:rPr lang="en-US" sz="2400" b="1" dirty="0" err="1"/>
              <a:t>columna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[</a:t>
            </a:r>
            <a:r>
              <a:rPr lang="en-US" sz="2400" b="1" dirty="0" err="1">
                <a:solidFill>
                  <a:srgbClr val="0070C0"/>
                </a:solidFill>
              </a:rPr>
              <a:t>Significado</a:t>
            </a:r>
            <a:r>
              <a:rPr lang="en-US" sz="2400" b="1" dirty="0">
                <a:solidFill>
                  <a:srgbClr val="0070C0"/>
                </a:solidFill>
              </a:rPr>
              <a:t>] </a:t>
            </a:r>
            <a:r>
              <a:rPr lang="en-US" sz="2400" b="1" dirty="0"/>
              <a:t>de la table “Ref”</a:t>
            </a:r>
          </a:p>
        </p:txBody>
      </p:sp>
    </p:spTree>
    <p:extLst>
      <p:ext uri="{BB962C8B-B14F-4D97-AF65-F5344CB8AC3E}">
        <p14:creationId xmlns:p14="http://schemas.microsoft.com/office/powerpoint/2010/main" val="150719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55379F-5BC1-3323-9B7A-CEE43215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698" y="2649561"/>
            <a:ext cx="5608806" cy="400846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1B3F6D-8FBC-1E55-3C08-C7A451FA3B3C}"/>
              </a:ext>
            </a:extLst>
          </p:cNvPr>
          <p:cNvSpPr txBox="1">
            <a:spLocks/>
          </p:cNvSpPr>
          <p:nvPr/>
        </p:nvSpPr>
        <p:spPr>
          <a:xfrm>
            <a:off x="5233964" y="931388"/>
            <a:ext cx="6849530" cy="13790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16- </a:t>
            </a:r>
            <a:r>
              <a:rPr lang="en-US" sz="2400" b="1" dirty="0" err="1"/>
              <a:t>Llenar</a:t>
            </a:r>
            <a:r>
              <a:rPr lang="en-US" sz="2400" b="1" dirty="0"/>
              <a:t> “</a:t>
            </a:r>
            <a:r>
              <a:rPr lang="en-US" sz="2400" b="1" dirty="0" err="1"/>
              <a:t>Locacion</a:t>
            </a:r>
            <a:r>
              <a:rPr lang="en-US" sz="2400" b="1" dirty="0"/>
              <a:t>” con el campo [</a:t>
            </a:r>
            <a:r>
              <a:rPr lang="en-US" sz="2400" b="1" dirty="0" err="1"/>
              <a:t>alcaldia_catalogo</a:t>
            </a:r>
            <a:r>
              <a:rPr lang="en-US" sz="2400" b="1" dirty="0"/>
              <a:t>] y el “Buble size/ size”, observer la </a:t>
            </a:r>
            <a:r>
              <a:rPr lang="en-US" sz="2400" b="1" dirty="0" err="1"/>
              <a:t>distribucion</a:t>
            </a:r>
            <a:r>
              <a:rPr lang="en-US" sz="2400" b="1" dirty="0"/>
              <a:t> de las </a:t>
            </a:r>
            <a:r>
              <a:rPr lang="en-US" sz="2400" b="1" dirty="0" err="1"/>
              <a:t>burbujas</a:t>
            </a:r>
            <a:r>
              <a:rPr lang="en-US" sz="2400" b="1" dirty="0"/>
              <a:t>, </a:t>
            </a:r>
            <a:r>
              <a:rPr lang="en-US" sz="2400" b="1" dirty="0" err="1"/>
              <a:t>observar</a:t>
            </a:r>
            <a:r>
              <a:rPr lang="en-US" sz="2400" b="1" dirty="0"/>
              <a:t> las “Venustiano Carranza” que se </a:t>
            </a:r>
            <a:r>
              <a:rPr lang="en-US" sz="2400" b="1" dirty="0" err="1"/>
              <a:t>observa</a:t>
            </a:r>
            <a:r>
              <a:rPr lang="en-US" sz="2400" b="1" dirty="0"/>
              <a:t> fuera de CDMX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FC4DCC-003D-585B-4AC0-2755D170F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62" y="3278373"/>
            <a:ext cx="1684166" cy="217950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F4B277-2142-B36C-EC5B-DF216743EA7D}"/>
              </a:ext>
            </a:extLst>
          </p:cNvPr>
          <p:cNvSpPr txBox="1">
            <a:spLocks/>
          </p:cNvSpPr>
          <p:nvPr/>
        </p:nvSpPr>
        <p:spPr>
          <a:xfrm>
            <a:off x="423680" y="1155118"/>
            <a:ext cx="3487345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15- </a:t>
            </a:r>
            <a:r>
              <a:rPr lang="en-US" sz="2400" b="1" dirty="0" err="1"/>
              <a:t>Agregar</a:t>
            </a:r>
            <a:r>
              <a:rPr lang="en-US" sz="2400" b="1" dirty="0"/>
              <a:t> el “Map” o </a:t>
            </a:r>
            <a:r>
              <a:rPr lang="en-US" sz="2400" b="1" dirty="0" err="1"/>
              <a:t>un“Azure</a:t>
            </a:r>
            <a:r>
              <a:rPr lang="en-US" sz="2400" b="1" dirty="0"/>
              <a:t> Map”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47347D-4324-4839-9971-924334F5D622}"/>
              </a:ext>
            </a:extLst>
          </p:cNvPr>
          <p:cNvSpPr/>
          <p:nvPr/>
        </p:nvSpPr>
        <p:spPr>
          <a:xfrm>
            <a:off x="3593432" y="115074"/>
            <a:ext cx="373596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Clase 7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13378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1568-2E7B-592D-0E9E-6DBAAFEC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21FB57-E697-1076-A9F6-2A32ADEAE6B4}"/>
              </a:ext>
            </a:extLst>
          </p:cNvPr>
          <p:cNvSpPr txBox="1">
            <a:spLocks/>
          </p:cNvSpPr>
          <p:nvPr/>
        </p:nvSpPr>
        <p:spPr>
          <a:xfrm>
            <a:off x="601579" y="361439"/>
            <a:ext cx="4211053" cy="1924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17- Hacer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copia</a:t>
            </a:r>
            <a:r>
              <a:rPr lang="en-US" sz="2400" b="1" dirty="0"/>
              <a:t> del </a:t>
            </a:r>
            <a:r>
              <a:rPr lang="en-US" sz="2400" b="1" dirty="0" err="1"/>
              <a:t>mapa</a:t>
            </a:r>
            <a:r>
              <a:rPr lang="en-US" sz="2400" b="1" dirty="0"/>
              <a:t> </a:t>
            </a:r>
            <a:r>
              <a:rPr lang="en-US" sz="2400" b="1" dirty="0" err="1"/>
              <a:t>quitar</a:t>
            </a:r>
            <a:r>
              <a:rPr lang="en-US" sz="2400" b="1" dirty="0"/>
              <a:t> la </a:t>
            </a:r>
            <a:r>
              <a:rPr lang="en-US" sz="2400" b="1" dirty="0" err="1"/>
              <a:t>locacion</a:t>
            </a:r>
            <a:r>
              <a:rPr lang="en-US" sz="2400" b="1" dirty="0"/>
              <a:t> [</a:t>
            </a:r>
            <a:r>
              <a:rPr lang="en-US" sz="2400" b="1" dirty="0" err="1"/>
              <a:t>alcaldia_catalogo</a:t>
            </a:r>
            <a:r>
              <a:rPr lang="en-US" sz="2400" b="1" dirty="0"/>
              <a:t>] y </a:t>
            </a:r>
            <a:r>
              <a:rPr lang="en-US" sz="2400" b="1" dirty="0" err="1"/>
              <a:t>colocar</a:t>
            </a:r>
            <a:r>
              <a:rPr lang="en-US" sz="2400" b="1" dirty="0"/>
              <a:t> los campos </a:t>
            </a:r>
            <a:r>
              <a:rPr lang="en-US" sz="2400" b="1" dirty="0" err="1"/>
              <a:t>en</a:t>
            </a:r>
            <a:r>
              <a:rPr lang="en-US" sz="2400" b="1" dirty="0"/>
              <a:t> latitude y </a:t>
            </a:r>
            <a:r>
              <a:rPr lang="en-US" sz="2400" b="1" dirty="0" err="1"/>
              <a:t>longitud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sus </a:t>
            </a:r>
            <a:r>
              <a:rPr lang="en-US" sz="2400" b="1" dirty="0" err="1"/>
              <a:t>respectivos</a:t>
            </a:r>
            <a:r>
              <a:rPr lang="en-US" sz="2400" b="1" dirty="0"/>
              <a:t> </a:t>
            </a:r>
            <a:r>
              <a:rPr lang="en-US" sz="2400" b="1" dirty="0" err="1"/>
              <a:t>espacios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EB095A-9157-28B4-6FF2-7E9E8BA04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2" y="2189256"/>
            <a:ext cx="4677441" cy="280892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6F75DC-9892-E430-91B5-F248F5A43B0C}"/>
              </a:ext>
            </a:extLst>
          </p:cNvPr>
          <p:cNvSpPr txBox="1">
            <a:spLocks/>
          </p:cNvSpPr>
          <p:nvPr/>
        </p:nvSpPr>
        <p:spPr>
          <a:xfrm>
            <a:off x="6096000" y="361439"/>
            <a:ext cx="5229726" cy="1547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18- En la </a:t>
            </a:r>
            <a:r>
              <a:rPr lang="en-US" sz="2400" b="1" dirty="0" err="1"/>
              <a:t>columna</a:t>
            </a:r>
            <a:r>
              <a:rPr lang="en-US" sz="2400" b="1" dirty="0"/>
              <a:t> [</a:t>
            </a:r>
            <a:r>
              <a:rPr lang="en-US" sz="2400" b="1" dirty="0" err="1"/>
              <a:t>alcaldia_catalogo</a:t>
            </a:r>
            <a:r>
              <a:rPr lang="en-US" sz="2400" b="1" dirty="0"/>
              <a:t>] </a:t>
            </a:r>
            <a:r>
              <a:rPr lang="en-US" sz="2400" b="1" dirty="0" err="1"/>
              <a:t>agregar</a:t>
            </a:r>
            <a:r>
              <a:rPr lang="en-US" sz="2400" b="1" dirty="0"/>
              <a:t> un </a:t>
            </a:r>
            <a:r>
              <a:rPr lang="en-US" sz="2400" b="1" dirty="0" err="1"/>
              <a:t>sufijo</a:t>
            </a:r>
            <a:r>
              <a:rPr lang="en-US" sz="2400" b="1" dirty="0"/>
              <a:t> ( ,CMDX) para </a:t>
            </a:r>
            <a:r>
              <a:rPr lang="en-US" sz="2400" b="1" dirty="0" err="1"/>
              <a:t>corregir</a:t>
            </a:r>
            <a:r>
              <a:rPr lang="en-US" sz="2400" b="1" dirty="0"/>
              <a:t> los </a:t>
            </a:r>
            <a:r>
              <a:rPr lang="en-US" sz="2400" b="1" dirty="0" err="1"/>
              <a:t>errores</a:t>
            </a:r>
            <a:endParaRPr lang="en-US" sz="2400" b="1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8F096B-B790-5DE9-580E-148AE8AC97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397"/>
          <a:stretch/>
        </p:blipFill>
        <p:spPr>
          <a:xfrm>
            <a:off x="7176566" y="1715915"/>
            <a:ext cx="2793603" cy="28089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FD96629-950A-7461-37A8-C6A3B22FC3D8}"/>
              </a:ext>
            </a:extLst>
          </p:cNvPr>
          <p:cNvSpPr/>
          <p:nvPr/>
        </p:nvSpPr>
        <p:spPr>
          <a:xfrm>
            <a:off x="9488905" y="1770507"/>
            <a:ext cx="513348" cy="5957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CDD56A-7AED-8546-B0AE-207266764E74}"/>
              </a:ext>
            </a:extLst>
          </p:cNvPr>
          <p:cNvSpPr/>
          <p:nvPr/>
        </p:nvSpPr>
        <p:spPr>
          <a:xfrm>
            <a:off x="8573366" y="3429000"/>
            <a:ext cx="1027833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D3E400D-B590-9030-A6B3-39D71DBFC22B}"/>
              </a:ext>
            </a:extLst>
          </p:cNvPr>
          <p:cNvSpPr txBox="1">
            <a:spLocks/>
          </p:cNvSpPr>
          <p:nvPr/>
        </p:nvSpPr>
        <p:spPr>
          <a:xfrm>
            <a:off x="152400" y="5590673"/>
            <a:ext cx="5398168" cy="95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70C0"/>
                </a:solidFill>
              </a:rPr>
              <a:t>Nota: observer que </a:t>
            </a:r>
            <a:r>
              <a:rPr lang="en-US" sz="1400" b="1" dirty="0" err="1">
                <a:solidFill>
                  <a:srgbClr val="0070C0"/>
                </a:solidFill>
              </a:rPr>
              <a:t>cuando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usas</a:t>
            </a:r>
            <a:r>
              <a:rPr lang="en-US" sz="1400" b="1" dirty="0">
                <a:solidFill>
                  <a:srgbClr val="0070C0"/>
                </a:solidFill>
              </a:rPr>
              <a:t> las </a:t>
            </a:r>
            <a:r>
              <a:rPr lang="en-US" sz="1400" b="1" dirty="0" err="1">
                <a:solidFill>
                  <a:srgbClr val="0070C0"/>
                </a:solidFill>
              </a:rPr>
              <a:t>coordenadas</a:t>
            </a:r>
            <a:r>
              <a:rPr lang="en-US" sz="1400" b="1" dirty="0">
                <a:solidFill>
                  <a:srgbClr val="0070C0"/>
                </a:solidFill>
              </a:rPr>
              <a:t> se genera un punto </a:t>
            </a:r>
            <a:r>
              <a:rPr lang="en-US" sz="1400" b="1" dirty="0" err="1">
                <a:solidFill>
                  <a:srgbClr val="0070C0"/>
                </a:solidFill>
              </a:rPr>
              <a:t>por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cada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incidente</a:t>
            </a:r>
            <a:r>
              <a:rPr lang="en-US" sz="1400" b="1" dirty="0">
                <a:solidFill>
                  <a:srgbClr val="0070C0"/>
                </a:solidFill>
              </a:rPr>
              <a:t> lo que no </a:t>
            </a:r>
            <a:r>
              <a:rPr lang="en-US" sz="1400" b="1" dirty="0" err="1">
                <a:solidFill>
                  <a:srgbClr val="0070C0"/>
                </a:solidFill>
              </a:rPr>
              <a:t>ayuda</a:t>
            </a:r>
            <a:r>
              <a:rPr lang="en-US" sz="1400" b="1" dirty="0">
                <a:solidFill>
                  <a:srgbClr val="0070C0"/>
                </a:solidFill>
              </a:rPr>
              <a:t> tanto al </a:t>
            </a:r>
            <a:r>
              <a:rPr lang="en-US" sz="1400" b="1" dirty="0" err="1">
                <a:solidFill>
                  <a:srgbClr val="0070C0"/>
                </a:solidFill>
              </a:rPr>
              <a:t>analisis</a:t>
            </a:r>
            <a:r>
              <a:rPr lang="en-US" sz="1400" b="1" dirty="0">
                <a:solidFill>
                  <a:srgbClr val="0070C0"/>
                </a:solidFill>
              </a:rPr>
              <a:t> de las </a:t>
            </a:r>
            <a:r>
              <a:rPr lang="en-US" sz="1400" b="1" dirty="0" err="1">
                <a:solidFill>
                  <a:srgbClr val="0070C0"/>
                </a:solidFill>
              </a:rPr>
              <a:t>alcaldias</a:t>
            </a:r>
            <a:endParaRPr lang="en-US" sz="1400" b="1" dirty="0">
              <a:solidFill>
                <a:srgbClr val="0070C0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ADA9B3-4D31-12F8-7BE6-CECE85C924A9}"/>
              </a:ext>
            </a:extLst>
          </p:cNvPr>
          <p:cNvSpPr txBox="1">
            <a:spLocks/>
          </p:cNvSpPr>
          <p:nvPr/>
        </p:nvSpPr>
        <p:spPr>
          <a:xfrm>
            <a:off x="6516535" y="5590673"/>
            <a:ext cx="5398168" cy="95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70C0"/>
                </a:solidFill>
              </a:rPr>
              <a:t>Al </a:t>
            </a:r>
            <a:r>
              <a:rPr lang="en-US" sz="1400" b="1" dirty="0" err="1">
                <a:solidFill>
                  <a:srgbClr val="0070C0"/>
                </a:solidFill>
              </a:rPr>
              <a:t>agegar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sufijo</a:t>
            </a:r>
            <a:r>
              <a:rPr lang="en-US" sz="1400" b="1" dirty="0">
                <a:solidFill>
                  <a:srgbClr val="0070C0"/>
                </a:solidFill>
              </a:rPr>
              <a:t> se </a:t>
            </a:r>
            <a:r>
              <a:rPr lang="en-US" sz="1400" b="1" dirty="0" err="1">
                <a:solidFill>
                  <a:srgbClr val="0070C0"/>
                </a:solidFill>
              </a:rPr>
              <a:t>agrega</a:t>
            </a:r>
            <a:r>
              <a:rPr lang="en-US" sz="1400" b="1" dirty="0">
                <a:solidFill>
                  <a:srgbClr val="0070C0"/>
                </a:solidFill>
              </a:rPr>
              <a:t> mas </a:t>
            </a:r>
            <a:r>
              <a:rPr lang="en-US" sz="1400" b="1" dirty="0" err="1">
                <a:solidFill>
                  <a:srgbClr val="0070C0"/>
                </a:solidFill>
              </a:rPr>
              <a:t>detalle</a:t>
            </a:r>
            <a:r>
              <a:rPr lang="en-US" sz="1400" b="1" dirty="0">
                <a:solidFill>
                  <a:srgbClr val="0070C0"/>
                </a:solidFill>
              </a:rPr>
              <a:t> a la </a:t>
            </a:r>
            <a:r>
              <a:rPr lang="en-US" sz="1400" b="1" dirty="0" err="1">
                <a:solidFill>
                  <a:srgbClr val="0070C0"/>
                </a:solidFill>
              </a:rPr>
              <a:t>locacion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evitando</a:t>
            </a:r>
            <a:r>
              <a:rPr lang="en-US" sz="1400" b="1" dirty="0">
                <a:solidFill>
                  <a:srgbClr val="0070C0"/>
                </a:solidFill>
              </a:rPr>
              <a:t> que </a:t>
            </a:r>
            <a:r>
              <a:rPr lang="en-US" sz="1400" b="1" dirty="0" err="1">
                <a:solidFill>
                  <a:srgbClr val="0070C0"/>
                </a:solidFill>
              </a:rPr>
              <a:t>si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existen</a:t>
            </a:r>
            <a:r>
              <a:rPr lang="en-US" sz="1400" b="1" dirty="0">
                <a:solidFill>
                  <a:srgbClr val="0070C0"/>
                </a:solidFill>
              </a:rPr>
              <a:t> mas </a:t>
            </a:r>
            <a:r>
              <a:rPr lang="en-US" sz="1400" b="1" dirty="0" err="1">
                <a:solidFill>
                  <a:srgbClr val="0070C0"/>
                </a:solidFill>
              </a:rPr>
              <a:t>ubicaciones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en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mundo</a:t>
            </a:r>
            <a:r>
              <a:rPr lang="en-US" sz="1400" b="1" dirty="0">
                <a:solidFill>
                  <a:srgbClr val="0070C0"/>
                </a:solidFill>
              </a:rPr>
              <a:t> con el </a:t>
            </a:r>
            <a:r>
              <a:rPr lang="en-US" sz="1400" b="1" dirty="0" err="1">
                <a:solidFill>
                  <a:srgbClr val="0070C0"/>
                </a:solidFill>
              </a:rPr>
              <a:t>mismo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nombre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mapa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muestre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errores</a:t>
            </a:r>
            <a:endParaRPr lang="en-US" sz="1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471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796F59-094C-0BA7-909B-A8E53385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9" y="1587930"/>
            <a:ext cx="4722664" cy="98431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F84B6F8-50A1-367A-1E80-7DDEBD7DC86C}"/>
              </a:ext>
            </a:extLst>
          </p:cNvPr>
          <p:cNvSpPr txBox="1">
            <a:spLocks/>
          </p:cNvSpPr>
          <p:nvPr/>
        </p:nvSpPr>
        <p:spPr>
          <a:xfrm>
            <a:off x="601579" y="457454"/>
            <a:ext cx="4283242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19-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measure con el </a:t>
            </a:r>
            <a:r>
              <a:rPr lang="en-US" sz="2400" b="1" dirty="0" err="1"/>
              <a:t>nombre</a:t>
            </a:r>
            <a:r>
              <a:rPr lang="en-US" sz="2400" b="1" dirty="0"/>
              <a:t> </a:t>
            </a:r>
            <a:r>
              <a:rPr lang="en-US" sz="2400" b="1" dirty="0" err="1"/>
              <a:t>AvrgIncidents</a:t>
            </a:r>
            <a:r>
              <a:rPr lang="en-US" sz="2400" b="1" dirty="0"/>
              <a:t> con valor de 125,000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6377BBC-A930-BBB3-1006-E913F7518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627" y="1213252"/>
            <a:ext cx="4369412" cy="27179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D956CA-6807-A96F-546A-5D3013A53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49" y="4233894"/>
            <a:ext cx="5650258" cy="246830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840D107-9ADF-D350-FA20-495E71C3E7E3}"/>
              </a:ext>
            </a:extLst>
          </p:cNvPr>
          <p:cNvSpPr txBox="1">
            <a:spLocks/>
          </p:cNvSpPr>
          <p:nvPr/>
        </p:nvSpPr>
        <p:spPr>
          <a:xfrm>
            <a:off x="489818" y="2910912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20- </a:t>
            </a:r>
            <a:r>
              <a:rPr lang="en-US" sz="2400" b="1" dirty="0" err="1"/>
              <a:t>Insertar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grafica</a:t>
            </a:r>
            <a:r>
              <a:rPr lang="en-US" sz="2400" b="1" dirty="0"/>
              <a:t> de barras con </a:t>
            </a:r>
            <a:r>
              <a:rPr lang="en-US" sz="2400" b="1" dirty="0" err="1"/>
              <a:t>lineas</a:t>
            </a:r>
            <a:r>
              <a:rPr lang="en-US" sz="2400" b="1" dirty="0"/>
              <a:t> </a:t>
            </a:r>
            <a:r>
              <a:rPr lang="en-US" sz="2400" b="1" dirty="0" err="1"/>
              <a:t>colocando</a:t>
            </a:r>
            <a:r>
              <a:rPr lang="en-US" sz="2400" b="1" dirty="0"/>
              <a:t> los campos de la imagen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4FAA683-1186-BEAA-BBE6-7572C5BBCC89}"/>
              </a:ext>
            </a:extLst>
          </p:cNvPr>
          <p:cNvSpPr txBox="1">
            <a:spLocks/>
          </p:cNvSpPr>
          <p:nvPr/>
        </p:nvSpPr>
        <p:spPr>
          <a:xfrm>
            <a:off x="6859682" y="233781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21- </a:t>
            </a:r>
            <a:r>
              <a:rPr lang="en-US" sz="2400" b="1" dirty="0" err="1"/>
              <a:t>crear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funcion</a:t>
            </a:r>
            <a:r>
              <a:rPr lang="en-US" sz="2400" b="1" dirty="0"/>
              <a:t> para que las barras </a:t>
            </a:r>
            <a:r>
              <a:rPr lang="en-US" sz="2400" b="1" dirty="0" err="1"/>
              <a:t>cambien</a:t>
            </a:r>
            <a:r>
              <a:rPr lang="en-US" sz="2400" b="1" dirty="0"/>
              <a:t> de color de </a:t>
            </a:r>
            <a:r>
              <a:rPr lang="en-US" sz="2400" b="1" dirty="0" err="1"/>
              <a:t>acuerdo</a:t>
            </a:r>
            <a:r>
              <a:rPr lang="en-US" sz="2400" b="1" dirty="0"/>
              <a:t> al valor </a:t>
            </a:r>
            <a:r>
              <a:rPr lang="en-US" sz="2400" b="1" dirty="0" err="1"/>
              <a:t>promedio</a:t>
            </a:r>
            <a:endParaRPr lang="en-US" sz="24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213CDA2-8BED-1AF7-C247-49DB6EEF47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076" y="4596063"/>
            <a:ext cx="4825907" cy="18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06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471DB-2C09-587E-D9FD-0A9494930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15A578-90F8-396E-E50A-D04A9AF60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372669"/>
            <a:ext cx="5125988" cy="29834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25B7E8-1B5C-E47E-8733-E753B03B5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88" y="984475"/>
            <a:ext cx="4568948" cy="17328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D96F0A-3E09-F38A-FFDE-4C9F4F959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80" y="4265048"/>
            <a:ext cx="3894157" cy="22252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15EC992-C871-D6DD-D482-D1E2468D54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410" b="16889"/>
          <a:stretch/>
        </p:blipFill>
        <p:spPr>
          <a:xfrm>
            <a:off x="721359" y="4184833"/>
            <a:ext cx="2141591" cy="227948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308398E-6433-2206-73FF-A1D47D600A5D}"/>
              </a:ext>
            </a:extLst>
          </p:cNvPr>
          <p:cNvSpPr/>
          <p:nvPr/>
        </p:nvSpPr>
        <p:spPr>
          <a:xfrm>
            <a:off x="2238703" y="6198249"/>
            <a:ext cx="378882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C497E8-F9EF-2D9E-764F-ACA3770B12ED}"/>
              </a:ext>
            </a:extLst>
          </p:cNvPr>
          <p:cNvSpPr/>
          <p:nvPr/>
        </p:nvSpPr>
        <p:spPr>
          <a:xfrm>
            <a:off x="755830" y="4866492"/>
            <a:ext cx="1678150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840EDD-F87B-9E12-86C5-6AACD5EAAF66}"/>
              </a:ext>
            </a:extLst>
          </p:cNvPr>
          <p:cNvSpPr/>
          <p:nvPr/>
        </p:nvSpPr>
        <p:spPr>
          <a:xfrm>
            <a:off x="4716188" y="2307457"/>
            <a:ext cx="378882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9B72550-1F47-D01D-AD32-FEC9FF42B19F}"/>
              </a:ext>
            </a:extLst>
          </p:cNvPr>
          <p:cNvSpPr txBox="1">
            <a:spLocks/>
          </p:cNvSpPr>
          <p:nvPr/>
        </p:nvSpPr>
        <p:spPr>
          <a:xfrm>
            <a:off x="405300" y="239827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22- </a:t>
            </a:r>
            <a:r>
              <a:rPr lang="en-US" sz="2400" b="1" dirty="0" err="1"/>
              <a:t>Colocar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Matrix con los </a:t>
            </a:r>
            <a:r>
              <a:rPr lang="en-US" sz="2400" b="1" dirty="0" err="1"/>
              <a:t>siguientes</a:t>
            </a:r>
            <a:r>
              <a:rPr lang="en-US" sz="2400" b="1" dirty="0"/>
              <a:t> campos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C58A9E1-22E2-37D5-D5AB-6112F38DA7D7}"/>
              </a:ext>
            </a:extLst>
          </p:cNvPr>
          <p:cNvSpPr txBox="1">
            <a:spLocks/>
          </p:cNvSpPr>
          <p:nvPr/>
        </p:nvSpPr>
        <p:spPr>
          <a:xfrm>
            <a:off x="159935" y="2942066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23- Click </a:t>
            </a:r>
            <a:r>
              <a:rPr lang="en-US" sz="2400" b="1" dirty="0" err="1"/>
              <a:t>en</a:t>
            </a:r>
            <a:r>
              <a:rPr lang="en-US" sz="2400" b="1" dirty="0"/>
              <a:t> el campo de [Count of folio] y </a:t>
            </a:r>
            <a:r>
              <a:rPr lang="en-US" sz="2400" b="1" dirty="0" err="1"/>
              <a:t>seleccionar</a:t>
            </a:r>
            <a:r>
              <a:rPr lang="en-US" sz="2400" b="1" dirty="0"/>
              <a:t> la </a:t>
            </a:r>
            <a:r>
              <a:rPr lang="en-US" sz="2400" b="1" dirty="0" err="1"/>
              <a:t>opcion</a:t>
            </a:r>
            <a:r>
              <a:rPr lang="en-US" sz="2400" b="1" dirty="0"/>
              <a:t> de (Conditional formatting)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9F8FB3D-7194-8CA4-7BE1-5C3A4777C343}"/>
              </a:ext>
            </a:extLst>
          </p:cNvPr>
          <p:cNvSpPr txBox="1">
            <a:spLocks/>
          </p:cNvSpPr>
          <p:nvPr/>
        </p:nvSpPr>
        <p:spPr>
          <a:xfrm>
            <a:off x="6201343" y="49687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24- </a:t>
            </a:r>
            <a:r>
              <a:rPr lang="en-US" sz="2400" b="1" dirty="0" err="1"/>
              <a:t>Colocar</a:t>
            </a:r>
            <a:r>
              <a:rPr lang="en-US" sz="2400" b="1" dirty="0"/>
              <a:t> los </a:t>
            </a:r>
            <a:r>
              <a:rPr lang="en-US" sz="2400" b="1" dirty="0" err="1"/>
              <a:t>siguientes</a:t>
            </a:r>
            <a:r>
              <a:rPr lang="en-US" sz="2400" b="1" dirty="0"/>
              <a:t> </a:t>
            </a:r>
            <a:r>
              <a:rPr lang="en-US" sz="2400" b="1" dirty="0" err="1"/>
              <a:t>degradados</a:t>
            </a:r>
            <a:r>
              <a:rPr lang="en-US" sz="2400" b="1" dirty="0"/>
              <a:t> para que el valor mas alto sea color mas </a:t>
            </a:r>
            <a:r>
              <a:rPr lang="en-US" sz="2400" b="1" dirty="0" err="1"/>
              <a:t>obscuro</a:t>
            </a:r>
            <a:r>
              <a:rPr lang="en-US" sz="2400" b="1" dirty="0"/>
              <a:t> y </a:t>
            </a:r>
            <a:r>
              <a:rPr lang="en-US" sz="2400" b="1" dirty="0" err="1"/>
              <a:t>mientras</a:t>
            </a:r>
            <a:r>
              <a:rPr lang="en-US" sz="2400" b="1" dirty="0"/>
              <a:t> mas bajo </a:t>
            </a:r>
            <a:r>
              <a:rPr lang="en-US" sz="2400" b="1" dirty="0" err="1"/>
              <a:t>blanco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429994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514A77-03DC-DD22-8F02-1BEAD2AB3B68}"/>
              </a:ext>
            </a:extLst>
          </p:cNvPr>
          <p:cNvSpPr/>
          <p:nvPr/>
        </p:nvSpPr>
        <p:spPr>
          <a:xfrm>
            <a:off x="2518914" y="115074"/>
            <a:ext cx="717717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Clase 7 – Calendario </a:t>
            </a:r>
            <a:r>
              <a:rPr lang="en-US" sz="40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dinamico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E7F700-81C5-9D34-7683-071D876AF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151" y="2368970"/>
            <a:ext cx="3750116" cy="339000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CFA1E09-878C-3FF3-54BC-9D5AE09A5C16}"/>
              </a:ext>
            </a:extLst>
          </p:cNvPr>
          <p:cNvSpPr txBox="1">
            <a:spLocks/>
          </p:cNvSpPr>
          <p:nvPr/>
        </p:nvSpPr>
        <p:spPr>
          <a:xfrm>
            <a:off x="280705" y="1233732"/>
            <a:ext cx="4834760" cy="93149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1- Para la </a:t>
            </a:r>
            <a:r>
              <a:rPr lang="en-US" sz="2400" b="1" dirty="0" err="1"/>
              <a:t>practica</a:t>
            </a:r>
            <a:r>
              <a:rPr lang="en-US" sz="2400" b="1" dirty="0"/>
              <a:t> se require </a:t>
            </a:r>
            <a:r>
              <a:rPr lang="en-US" sz="2400" b="1" dirty="0" err="1"/>
              <a:t>generar</a:t>
            </a:r>
            <a:r>
              <a:rPr lang="en-US" sz="2400" b="1" dirty="0"/>
              <a:t> un nuevo PBI </a:t>
            </a:r>
            <a:r>
              <a:rPr lang="en-US" sz="2400" b="1" dirty="0" err="1"/>
              <a:t>en</a:t>
            </a:r>
            <a:r>
              <a:rPr lang="en-US" sz="2400" b="1" dirty="0"/>
              <a:t> “Blanco”, </a:t>
            </a:r>
            <a:r>
              <a:rPr lang="en-US" sz="2400" b="1" dirty="0" err="1"/>
              <a:t>despues</a:t>
            </a:r>
            <a:r>
              <a:rPr lang="en-US" sz="2400" b="1" dirty="0"/>
              <a:t> </a:t>
            </a:r>
            <a:r>
              <a:rPr lang="en-US" sz="2400" b="1" dirty="0" err="1"/>
              <a:t>ir</a:t>
            </a:r>
            <a:r>
              <a:rPr lang="en-US" sz="2400" b="1" dirty="0"/>
              <a:t> al </a:t>
            </a:r>
            <a:r>
              <a:rPr lang="en-US" sz="2400" b="1" dirty="0" err="1"/>
              <a:t>apartado</a:t>
            </a:r>
            <a:r>
              <a:rPr lang="en-US" sz="2400" b="1" dirty="0"/>
              <a:t> de queries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1C04F4-A310-6EF7-E227-4E04192BC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3" y="2712411"/>
            <a:ext cx="4284201" cy="317803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6E2CE2C-9A1C-0FD4-1532-06B005F5216F}"/>
              </a:ext>
            </a:extLst>
          </p:cNvPr>
          <p:cNvSpPr txBox="1">
            <a:spLocks/>
          </p:cNvSpPr>
          <p:nvPr/>
        </p:nvSpPr>
        <p:spPr>
          <a:xfrm>
            <a:off x="6323765" y="1106999"/>
            <a:ext cx="5218377" cy="1287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2- </a:t>
            </a:r>
            <a:r>
              <a:rPr lang="en-US" sz="2400" b="1" dirty="0" err="1"/>
              <a:t>Iniciaremos</a:t>
            </a:r>
            <a:r>
              <a:rPr lang="en-US" sz="2400" b="1" dirty="0"/>
              <a:t> </a:t>
            </a:r>
            <a:r>
              <a:rPr lang="en-US" sz="2400" b="1" dirty="0" err="1"/>
              <a:t>usando</a:t>
            </a:r>
            <a:r>
              <a:rPr lang="en-US" sz="2400" b="1" dirty="0"/>
              <a:t> Manage Parameters para </a:t>
            </a:r>
            <a:r>
              <a:rPr lang="en-US" sz="2400" b="1" dirty="0" err="1"/>
              <a:t>generar</a:t>
            </a:r>
            <a:r>
              <a:rPr lang="en-US" sz="2400" b="1" dirty="0"/>
              <a:t> 2 </a:t>
            </a:r>
            <a:r>
              <a:rPr lang="en-US" sz="2400" b="1" dirty="0" err="1"/>
              <a:t>nuevos</a:t>
            </a:r>
            <a:r>
              <a:rPr lang="en-US" sz="2400" b="1" dirty="0"/>
              <a:t> </a:t>
            </a:r>
            <a:r>
              <a:rPr lang="en-US" sz="2400" b="1" dirty="0" err="1"/>
              <a:t>parametros</a:t>
            </a:r>
            <a:r>
              <a:rPr lang="en-US" sz="2400" b="1" dirty="0"/>
              <a:t>, [StartDate] (la </a:t>
            </a:r>
            <a:r>
              <a:rPr lang="en-US" sz="2400" b="1" dirty="0" err="1"/>
              <a:t>fecha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queremos</a:t>
            </a:r>
            <a:r>
              <a:rPr lang="en-US" sz="2400" b="1" dirty="0"/>
              <a:t> que </a:t>
            </a:r>
            <a:r>
              <a:rPr lang="en-US" sz="2400" b="1" dirty="0" err="1"/>
              <a:t>inicie</a:t>
            </a:r>
            <a:r>
              <a:rPr lang="en-US" sz="2400" b="1" dirty="0"/>
              <a:t> el </a:t>
            </a:r>
            <a:r>
              <a:rPr lang="en-US" sz="2400" b="1" dirty="0" err="1"/>
              <a:t>calendario</a:t>
            </a:r>
            <a:r>
              <a:rPr lang="en-US" sz="2400" b="1" dirty="0"/>
              <a:t> y [</a:t>
            </a:r>
            <a:r>
              <a:rPr lang="en-US" sz="2400" b="1" dirty="0" err="1"/>
              <a:t>EndDate</a:t>
            </a:r>
            <a:r>
              <a:rPr lang="en-US" sz="2400" b="1" dirty="0"/>
              <a:t>], la </a:t>
            </a:r>
            <a:r>
              <a:rPr lang="en-US" sz="2400" b="1" dirty="0" err="1"/>
              <a:t>fecha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que </a:t>
            </a:r>
            <a:r>
              <a:rPr lang="en-US" sz="2400" b="1" dirty="0" err="1"/>
              <a:t>queremos</a:t>
            </a:r>
            <a:r>
              <a:rPr lang="en-US" sz="2400" b="1" dirty="0"/>
              <a:t> que </a:t>
            </a:r>
            <a:r>
              <a:rPr lang="en-US" sz="2400" b="1" dirty="0" err="1"/>
              <a:t>termine</a:t>
            </a:r>
            <a:r>
              <a:rPr lang="en-US" sz="2400" b="1" dirty="0"/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ED16F0-5349-4079-9A7F-C7914B79E5D2}"/>
              </a:ext>
            </a:extLst>
          </p:cNvPr>
          <p:cNvSpPr/>
          <p:nvPr/>
        </p:nvSpPr>
        <p:spPr>
          <a:xfrm>
            <a:off x="8172469" y="2272466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cap="none" spc="0" dirty="0">
                <a:ln/>
                <a:solidFill>
                  <a:schemeClr val="accent4"/>
                </a:solidFill>
                <a:effectLst/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2AF062-9FF5-585C-D39A-64E391F79E7C}"/>
              </a:ext>
            </a:extLst>
          </p:cNvPr>
          <p:cNvSpPr/>
          <p:nvPr/>
        </p:nvSpPr>
        <p:spPr>
          <a:xfrm>
            <a:off x="7956091" y="3173795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dirty="0">
                <a:ln/>
                <a:solidFill>
                  <a:schemeClr val="accent4"/>
                </a:solidFill>
              </a:rPr>
              <a:t>2</a:t>
            </a:r>
            <a:endParaRPr lang="en-US" sz="2800" b="1" cap="none" spc="0" dirty="0">
              <a:ln/>
              <a:solidFill>
                <a:schemeClr val="accent4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24674-F503-1F8A-8A79-855B90084574}"/>
              </a:ext>
            </a:extLst>
          </p:cNvPr>
          <p:cNvSpPr/>
          <p:nvPr/>
        </p:nvSpPr>
        <p:spPr>
          <a:xfrm>
            <a:off x="10178830" y="3061655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cap="none" spc="0" dirty="0">
                <a:ln/>
                <a:solidFill>
                  <a:schemeClr val="accent4"/>
                </a:solidFill>
                <a:effectLst/>
              </a:rPr>
              <a:t>3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98C4D04-7D87-0C7E-A5E8-28FDA6C0B726}"/>
              </a:ext>
            </a:extLst>
          </p:cNvPr>
          <p:cNvSpPr txBox="1">
            <a:spLocks/>
          </p:cNvSpPr>
          <p:nvPr/>
        </p:nvSpPr>
        <p:spPr>
          <a:xfrm>
            <a:off x="6323765" y="6055743"/>
            <a:ext cx="4904951" cy="574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70C0"/>
                </a:solidFill>
              </a:rPr>
              <a:t>Nota: usar el </a:t>
            </a:r>
            <a:r>
              <a:rPr lang="en-US" sz="1400" b="1" dirty="0" err="1">
                <a:solidFill>
                  <a:srgbClr val="0070C0"/>
                </a:solidFill>
              </a:rPr>
              <a:t>tipo</a:t>
            </a:r>
            <a:r>
              <a:rPr lang="en-US" sz="1400" b="1" dirty="0">
                <a:solidFill>
                  <a:srgbClr val="0070C0"/>
                </a:solidFill>
              </a:rPr>
              <a:t> de </a:t>
            </a:r>
            <a:r>
              <a:rPr lang="en-US" sz="1400" b="1" dirty="0" err="1">
                <a:solidFill>
                  <a:srgbClr val="0070C0"/>
                </a:solidFill>
              </a:rPr>
              <a:t>dato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fecha</a:t>
            </a:r>
            <a:r>
              <a:rPr lang="en-US" sz="1400" b="1" dirty="0">
                <a:solidFill>
                  <a:srgbClr val="0070C0"/>
                </a:solidFill>
              </a:rPr>
              <a:t> y </a:t>
            </a:r>
            <a:r>
              <a:rPr lang="en-US" sz="1400" b="1" dirty="0" err="1">
                <a:solidFill>
                  <a:srgbClr val="0070C0"/>
                </a:solidFill>
              </a:rPr>
              <a:t>colocar</a:t>
            </a:r>
            <a:r>
              <a:rPr lang="en-US" sz="1400" b="1" dirty="0">
                <a:solidFill>
                  <a:srgbClr val="0070C0"/>
                </a:solidFill>
              </a:rPr>
              <a:t> los meses y </a:t>
            </a:r>
            <a:r>
              <a:rPr lang="en-US" sz="1400" b="1" dirty="0" err="1">
                <a:solidFill>
                  <a:srgbClr val="0070C0"/>
                </a:solidFill>
              </a:rPr>
              <a:t>dias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en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orden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adecuado</a:t>
            </a:r>
            <a:r>
              <a:rPr lang="en-US" sz="1400" b="1" dirty="0">
                <a:solidFill>
                  <a:srgbClr val="0070C0"/>
                </a:solidFill>
              </a:rPr>
              <a:t> para </a:t>
            </a:r>
            <a:r>
              <a:rPr lang="en-US" sz="1400" b="1" dirty="0" err="1">
                <a:solidFill>
                  <a:srgbClr val="0070C0"/>
                </a:solidFill>
              </a:rPr>
              <a:t>poder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habilitar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boton</a:t>
            </a:r>
            <a:r>
              <a:rPr lang="en-US" sz="1400" b="1" dirty="0">
                <a:solidFill>
                  <a:srgbClr val="0070C0"/>
                </a:solidFill>
              </a:rPr>
              <a:t> “Ok”</a:t>
            </a:r>
          </a:p>
        </p:txBody>
      </p:sp>
    </p:spTree>
    <p:extLst>
      <p:ext uri="{BB962C8B-B14F-4D97-AF65-F5344CB8AC3E}">
        <p14:creationId xmlns:p14="http://schemas.microsoft.com/office/powerpoint/2010/main" val="2009699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B9D114-8F18-3F0F-1940-46E720642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02" y="1797693"/>
            <a:ext cx="2048161" cy="46679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62FBB5-97C8-1C63-F8F0-379CF94E35C4}"/>
              </a:ext>
            </a:extLst>
          </p:cNvPr>
          <p:cNvSpPr/>
          <p:nvPr/>
        </p:nvSpPr>
        <p:spPr>
          <a:xfrm>
            <a:off x="1309034" y="2059265"/>
            <a:ext cx="513348" cy="5957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BABA90-A8E1-60E2-9BBC-EDE1696CB24E}"/>
              </a:ext>
            </a:extLst>
          </p:cNvPr>
          <p:cNvSpPr/>
          <p:nvPr/>
        </p:nvSpPr>
        <p:spPr>
          <a:xfrm>
            <a:off x="720289" y="5368751"/>
            <a:ext cx="1358768" cy="4545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A2B30AB-2388-A097-85D5-1FD994D64843}"/>
              </a:ext>
            </a:extLst>
          </p:cNvPr>
          <p:cNvSpPr txBox="1">
            <a:spLocks/>
          </p:cNvSpPr>
          <p:nvPr/>
        </p:nvSpPr>
        <p:spPr>
          <a:xfrm>
            <a:off x="218023" y="192169"/>
            <a:ext cx="3824588" cy="1605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3- Una </a:t>
            </a:r>
            <a:r>
              <a:rPr lang="en-US" sz="2400" b="1" dirty="0" err="1"/>
              <a:t>vez</a:t>
            </a:r>
            <a:r>
              <a:rPr lang="en-US" sz="2400" b="1" dirty="0"/>
              <a:t> que se </a:t>
            </a:r>
            <a:r>
              <a:rPr lang="en-US" sz="2400" b="1" dirty="0" err="1"/>
              <a:t>tienen</a:t>
            </a:r>
            <a:r>
              <a:rPr lang="en-US" sz="2400" b="1" dirty="0"/>
              <a:t> los </a:t>
            </a:r>
            <a:r>
              <a:rPr lang="en-US" sz="2400" b="1" dirty="0" err="1"/>
              <a:t>parametros</a:t>
            </a:r>
            <a:r>
              <a:rPr lang="en-US" sz="2400" b="1" dirty="0"/>
              <a:t> </a:t>
            </a:r>
            <a:r>
              <a:rPr lang="en-US" sz="2400" b="1" dirty="0" err="1"/>
              <a:t>listos</a:t>
            </a:r>
            <a:r>
              <a:rPr lang="en-US" sz="2400" b="1" dirty="0"/>
              <a:t> </a:t>
            </a:r>
            <a:r>
              <a:rPr lang="en-US" sz="2400" b="1" dirty="0" err="1"/>
              <a:t>procederemos</a:t>
            </a:r>
            <a:r>
              <a:rPr lang="en-US" sz="2400" b="1" dirty="0"/>
              <a:t> a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query </a:t>
            </a:r>
            <a:r>
              <a:rPr lang="en-US" sz="2400" b="1" dirty="0" err="1"/>
              <a:t>en</a:t>
            </a:r>
            <a:r>
              <a:rPr lang="en-US" sz="2400" b="1" dirty="0"/>
              <a:t> </a:t>
            </a:r>
            <a:r>
              <a:rPr lang="en-US" sz="2400" b="1" dirty="0" err="1"/>
              <a:t>blanco</a:t>
            </a:r>
            <a:endParaRPr lang="en-US" sz="2400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87DC41-1321-C16C-5FA9-69A1FFA99300}"/>
              </a:ext>
            </a:extLst>
          </p:cNvPr>
          <p:cNvSpPr txBox="1">
            <a:spLocks/>
          </p:cNvSpPr>
          <p:nvPr/>
        </p:nvSpPr>
        <p:spPr>
          <a:xfrm>
            <a:off x="5992181" y="442335"/>
            <a:ext cx="5218377" cy="1287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4- El </a:t>
            </a:r>
            <a:r>
              <a:rPr lang="en-US" sz="2400" b="1" dirty="0" err="1"/>
              <a:t>siguiente</a:t>
            </a:r>
            <a:r>
              <a:rPr lang="en-US" sz="2400" b="1" dirty="0"/>
              <a:t> paso sera </a:t>
            </a:r>
            <a:r>
              <a:rPr lang="en-US" sz="2400" b="1" dirty="0" err="1"/>
              <a:t>pegar</a:t>
            </a:r>
            <a:r>
              <a:rPr lang="en-US" sz="2400" b="1" dirty="0"/>
              <a:t> la </a:t>
            </a:r>
            <a:r>
              <a:rPr lang="en-US" sz="2400" b="1" dirty="0" err="1"/>
              <a:t>siguiente</a:t>
            </a:r>
            <a:r>
              <a:rPr lang="en-US" sz="2400" b="1" dirty="0"/>
              <a:t> formula </a:t>
            </a:r>
            <a:r>
              <a:rPr lang="en-US" sz="2400" b="1" dirty="0" err="1"/>
              <a:t>en</a:t>
            </a:r>
            <a:r>
              <a:rPr lang="en-US" sz="2400" b="1" dirty="0"/>
              <a:t> el </a:t>
            </a:r>
            <a:r>
              <a:rPr lang="en-US" sz="2400" b="1" dirty="0" err="1"/>
              <a:t>edito</a:t>
            </a:r>
            <a:r>
              <a:rPr lang="en-US" sz="2400" b="1" dirty="0"/>
              <a:t> de </a:t>
            </a:r>
            <a:r>
              <a:rPr lang="en-US" sz="2400" b="1" dirty="0" err="1"/>
              <a:t>funciones</a:t>
            </a:r>
            <a:r>
              <a:rPr lang="en-US" sz="2400" b="1" dirty="0"/>
              <a:t>, con </a:t>
            </a:r>
            <a:r>
              <a:rPr lang="en-US" sz="2400" b="1" dirty="0" err="1"/>
              <a:t>esto</a:t>
            </a:r>
            <a:r>
              <a:rPr lang="en-US" sz="2400" b="1" dirty="0"/>
              <a:t> </a:t>
            </a:r>
            <a:r>
              <a:rPr lang="en-US" sz="2400" b="1" dirty="0" err="1"/>
              <a:t>generaremos</a:t>
            </a:r>
            <a:r>
              <a:rPr lang="en-US" sz="2400" b="1" dirty="0"/>
              <a:t> un </a:t>
            </a:r>
            <a:r>
              <a:rPr lang="en-US" sz="2400" b="1" dirty="0" err="1"/>
              <a:t>calendario</a:t>
            </a:r>
            <a:r>
              <a:rPr lang="en-US" sz="2400" b="1" dirty="0"/>
              <a:t> </a:t>
            </a:r>
            <a:r>
              <a:rPr lang="en-US" sz="2400" b="1" dirty="0" err="1"/>
              <a:t>automaticamente</a:t>
            </a:r>
            <a:r>
              <a:rPr lang="en-US" sz="2400" b="1" dirty="0"/>
              <a:t> </a:t>
            </a:r>
            <a:r>
              <a:rPr lang="en-US" sz="2400" b="1" dirty="0" err="1"/>
              <a:t>desde</a:t>
            </a:r>
            <a:r>
              <a:rPr lang="en-US" sz="2400" b="1" dirty="0"/>
              <a:t> la </a:t>
            </a:r>
            <a:r>
              <a:rPr lang="en-US" sz="2400" b="1" dirty="0" err="1"/>
              <a:t>fecha</a:t>
            </a:r>
            <a:r>
              <a:rPr lang="en-US" sz="2400" b="1" dirty="0"/>
              <a:t> [StartDate] hasta  [</a:t>
            </a:r>
            <a:r>
              <a:rPr lang="en-US" sz="2400" b="1" dirty="0" err="1"/>
              <a:t>EndDate</a:t>
            </a:r>
            <a:r>
              <a:rPr lang="en-US" sz="2400" b="1" dirty="0"/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D1C3A-BCBD-4C0A-9323-6CC2D6B33ADE}"/>
              </a:ext>
            </a:extLst>
          </p:cNvPr>
          <p:cNvSpPr txBox="1"/>
          <p:nvPr/>
        </p:nvSpPr>
        <p:spPr>
          <a:xfrm>
            <a:off x="6096000" y="4491317"/>
            <a:ext cx="438437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rgbClr val="0070C0"/>
                </a:solidFill>
              </a:rPr>
              <a:t>= </a:t>
            </a:r>
            <a:r>
              <a:rPr lang="fr-FR" sz="1100" b="1" dirty="0" err="1">
                <a:solidFill>
                  <a:srgbClr val="0070C0"/>
                </a:solidFill>
              </a:rPr>
              <a:t>List.Dates</a:t>
            </a:r>
            <a:r>
              <a:rPr lang="fr-FR" sz="1100" b="1" dirty="0">
                <a:solidFill>
                  <a:srgbClr val="0070C0"/>
                </a:solidFill>
              </a:rPr>
              <a:t>(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</a:t>
            </a:r>
            <a:r>
              <a:rPr lang="fr-FR" sz="1100" b="1" dirty="0" err="1">
                <a:solidFill>
                  <a:srgbClr val="0070C0"/>
                </a:solidFill>
              </a:rPr>
              <a:t>StartDate</a:t>
            </a:r>
            <a:r>
              <a:rPr lang="fr-FR" sz="11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</a:t>
            </a:r>
            <a:r>
              <a:rPr lang="fr-FR" sz="1100" b="1" dirty="0" err="1">
                <a:solidFill>
                  <a:srgbClr val="0070C0"/>
                </a:solidFill>
              </a:rPr>
              <a:t>Duration.Days</a:t>
            </a:r>
            <a:r>
              <a:rPr lang="fr-FR" sz="1100" b="1" dirty="0">
                <a:solidFill>
                  <a:srgbClr val="0070C0"/>
                </a:solidFill>
              </a:rPr>
              <a:t>(</a:t>
            </a:r>
            <a:r>
              <a:rPr lang="fr-FR" sz="1100" b="1" dirty="0" err="1">
                <a:solidFill>
                  <a:srgbClr val="0070C0"/>
                </a:solidFill>
              </a:rPr>
              <a:t>EndDate</a:t>
            </a:r>
            <a:r>
              <a:rPr lang="fr-FR" sz="1100" b="1" dirty="0">
                <a:solidFill>
                  <a:srgbClr val="0070C0"/>
                </a:solidFill>
              </a:rPr>
              <a:t>- </a:t>
            </a:r>
            <a:r>
              <a:rPr lang="fr-FR" sz="1100" b="1" dirty="0" err="1">
                <a:solidFill>
                  <a:srgbClr val="0070C0"/>
                </a:solidFill>
              </a:rPr>
              <a:t>StartDate</a:t>
            </a:r>
            <a:r>
              <a:rPr lang="fr-FR" sz="1100" b="1" dirty="0">
                <a:solidFill>
                  <a:srgbClr val="0070C0"/>
                </a:solidFill>
              </a:rPr>
              <a:t>) +1,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#duration(1, 0, 0, 0)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)</a:t>
            </a:r>
            <a:endParaRPr lang="en-US" sz="1100" b="1" dirty="0">
              <a:solidFill>
                <a:srgbClr val="0070C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A84872-1E0A-C659-399E-05E9B65942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69" y="2357117"/>
            <a:ext cx="7290345" cy="184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18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03ED4-64A0-5485-0492-65BD3535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884E985-AEE4-0DFA-2BBF-6916E95EFFB5}"/>
              </a:ext>
            </a:extLst>
          </p:cNvPr>
          <p:cNvSpPr txBox="1">
            <a:spLocks/>
          </p:cNvSpPr>
          <p:nvPr/>
        </p:nvSpPr>
        <p:spPr>
          <a:xfrm>
            <a:off x="218022" y="192169"/>
            <a:ext cx="4811177" cy="15378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5- La Segunda </a:t>
            </a:r>
            <a:r>
              <a:rPr lang="en-US" sz="2400" b="1" dirty="0" err="1"/>
              <a:t>opcion</a:t>
            </a:r>
            <a:r>
              <a:rPr lang="en-US" sz="2400" b="1" dirty="0"/>
              <a:t> es un </a:t>
            </a:r>
            <a:r>
              <a:rPr lang="en-US" sz="2400" b="1" dirty="0" err="1"/>
              <a:t>calendario</a:t>
            </a:r>
            <a:r>
              <a:rPr lang="en-US" sz="2400" b="1" dirty="0"/>
              <a:t> </a:t>
            </a:r>
            <a:r>
              <a:rPr lang="en-US" sz="2400" b="1" dirty="0" err="1"/>
              <a:t>dinamico</a:t>
            </a:r>
            <a:r>
              <a:rPr lang="en-US" sz="2400" b="1" dirty="0"/>
              <a:t> con el </a:t>
            </a:r>
            <a:r>
              <a:rPr lang="en-US" sz="2400" b="1" dirty="0" err="1"/>
              <a:t>siguiente</a:t>
            </a:r>
            <a:r>
              <a:rPr lang="en-US" sz="2400" b="1" dirty="0"/>
              <a:t> </a:t>
            </a:r>
            <a:r>
              <a:rPr lang="en-US" sz="2400" b="1" dirty="0" err="1"/>
              <a:t>codigo</a:t>
            </a:r>
            <a:r>
              <a:rPr lang="en-US" sz="2400" b="1" dirty="0"/>
              <a:t> que </a:t>
            </a:r>
            <a:r>
              <a:rPr lang="en-US" sz="2400" b="1" dirty="0" err="1"/>
              <a:t>cada</a:t>
            </a:r>
            <a:r>
              <a:rPr lang="en-US" sz="2400" b="1" dirty="0"/>
              <a:t> que se </a:t>
            </a:r>
            <a:r>
              <a:rPr lang="en-US" sz="2400" b="1" dirty="0" err="1"/>
              <a:t>actualiza</a:t>
            </a:r>
            <a:r>
              <a:rPr lang="en-US" sz="2400" b="1" dirty="0"/>
              <a:t> </a:t>
            </a:r>
            <a:r>
              <a:rPr lang="en-US" sz="2400" b="1" dirty="0" err="1"/>
              <a:t>agrega</a:t>
            </a:r>
            <a:r>
              <a:rPr lang="en-US" sz="2400" b="1" dirty="0"/>
              <a:t> las </a:t>
            </a:r>
            <a:r>
              <a:rPr lang="en-US" sz="2400" b="1" dirty="0" err="1"/>
              <a:t>fechas</a:t>
            </a:r>
            <a:r>
              <a:rPr lang="en-US" sz="2400" b="1" dirty="0"/>
              <a:t> hasta el dia actual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B71E5E4-8BD5-97FD-346C-2C2F79744FD4}"/>
              </a:ext>
            </a:extLst>
          </p:cNvPr>
          <p:cNvSpPr txBox="1">
            <a:spLocks/>
          </p:cNvSpPr>
          <p:nvPr/>
        </p:nvSpPr>
        <p:spPr>
          <a:xfrm>
            <a:off x="5992181" y="442335"/>
            <a:ext cx="5218377" cy="12876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6- al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vez</a:t>
            </a:r>
            <a:r>
              <a:rPr lang="en-US" sz="2400" b="1" dirty="0"/>
              <a:t> </a:t>
            </a:r>
            <a:r>
              <a:rPr lang="en-US" sz="2400" b="1" dirty="0" err="1"/>
              <a:t>generado</a:t>
            </a:r>
            <a:r>
              <a:rPr lang="en-US" sz="2400" b="1" dirty="0"/>
              <a:t> el </a:t>
            </a:r>
            <a:r>
              <a:rPr lang="en-US" sz="2400" b="1" dirty="0" err="1"/>
              <a:t>calendario</a:t>
            </a:r>
            <a:r>
              <a:rPr lang="en-US" sz="2400" b="1" dirty="0"/>
              <a:t>, </a:t>
            </a:r>
            <a:r>
              <a:rPr lang="en-US" sz="2400" b="1" dirty="0" err="1"/>
              <a:t>convertiremos</a:t>
            </a:r>
            <a:r>
              <a:rPr lang="en-US" sz="2400" b="1" dirty="0"/>
              <a:t> la </a:t>
            </a:r>
            <a:r>
              <a:rPr lang="en-US" sz="2400" b="1" dirty="0" err="1"/>
              <a:t>lista</a:t>
            </a:r>
            <a:r>
              <a:rPr lang="en-US" sz="2400" b="1" dirty="0"/>
              <a:t> a modo table para </a:t>
            </a:r>
            <a:r>
              <a:rPr lang="en-US" sz="2400" b="1" dirty="0" err="1"/>
              <a:t>poder</a:t>
            </a:r>
            <a:r>
              <a:rPr lang="en-US" sz="2400" b="1" dirty="0"/>
              <a:t> </a:t>
            </a:r>
            <a:r>
              <a:rPr lang="en-US" sz="2400" b="1" dirty="0" err="1"/>
              <a:t>hacer</a:t>
            </a:r>
            <a:r>
              <a:rPr lang="en-US" sz="2400" b="1" dirty="0"/>
              <a:t> </a:t>
            </a:r>
            <a:r>
              <a:rPr lang="en-US" sz="2400" b="1" dirty="0" err="1"/>
              <a:t>uso</a:t>
            </a:r>
            <a:r>
              <a:rPr lang="en-US" sz="2400" b="1" dirty="0"/>
              <a:t> de las </a:t>
            </a:r>
            <a:r>
              <a:rPr lang="en-US" sz="2400" b="1" dirty="0" err="1"/>
              <a:t>funciones</a:t>
            </a:r>
            <a:r>
              <a:rPr lang="en-US" sz="2400" b="1" dirty="0"/>
              <a:t> de </a:t>
            </a:r>
            <a:r>
              <a:rPr lang="en-US" sz="2400" b="1" dirty="0" err="1"/>
              <a:t>fechas</a:t>
            </a:r>
            <a:r>
              <a:rPr lang="en-US" sz="2400" b="1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FBB661-72C2-800B-CE6A-4C167AA1447F}"/>
              </a:ext>
            </a:extLst>
          </p:cNvPr>
          <p:cNvSpPr txBox="1"/>
          <p:nvPr/>
        </p:nvSpPr>
        <p:spPr>
          <a:xfrm>
            <a:off x="218023" y="1921228"/>
            <a:ext cx="438437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rgbClr val="0070C0"/>
                </a:solidFill>
              </a:rPr>
              <a:t>= </a:t>
            </a:r>
            <a:r>
              <a:rPr lang="fr-FR" sz="1100" b="1" dirty="0" err="1">
                <a:solidFill>
                  <a:srgbClr val="0070C0"/>
                </a:solidFill>
              </a:rPr>
              <a:t>List.Dates</a:t>
            </a:r>
            <a:r>
              <a:rPr lang="fr-FR" sz="1100" b="1" dirty="0">
                <a:solidFill>
                  <a:srgbClr val="0070C0"/>
                </a:solidFill>
              </a:rPr>
              <a:t>(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</a:t>
            </a:r>
            <a:r>
              <a:rPr lang="fr-FR" sz="1100" b="1" dirty="0" err="1">
                <a:solidFill>
                  <a:srgbClr val="0070C0"/>
                </a:solidFill>
              </a:rPr>
              <a:t>StartDate</a:t>
            </a:r>
            <a:r>
              <a:rPr lang="fr-FR" sz="11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</a:t>
            </a:r>
            <a:r>
              <a:rPr lang="fr-FR" sz="1100" b="1" dirty="0" err="1">
                <a:solidFill>
                  <a:srgbClr val="0070C0"/>
                </a:solidFill>
              </a:rPr>
              <a:t>Duration.Days</a:t>
            </a:r>
            <a:r>
              <a:rPr lang="fr-FR" sz="1100" b="1" dirty="0">
                <a:solidFill>
                  <a:srgbClr val="0070C0"/>
                </a:solidFill>
              </a:rPr>
              <a:t>(</a:t>
            </a:r>
            <a:r>
              <a:rPr lang="fr-FR" sz="1100" b="1" dirty="0" err="1">
                <a:solidFill>
                  <a:srgbClr val="0070C0"/>
                </a:solidFill>
              </a:rPr>
              <a:t>Date.From</a:t>
            </a:r>
            <a:r>
              <a:rPr lang="fr-FR" sz="1100" b="1" dirty="0">
                <a:solidFill>
                  <a:srgbClr val="0070C0"/>
                </a:solidFill>
              </a:rPr>
              <a:t>( </a:t>
            </a:r>
            <a:r>
              <a:rPr lang="fr-FR" sz="1100" b="1" dirty="0" err="1">
                <a:solidFill>
                  <a:srgbClr val="0070C0"/>
                </a:solidFill>
              </a:rPr>
              <a:t>DateTime.LocalNow</a:t>
            </a:r>
            <a:r>
              <a:rPr lang="fr-FR" sz="1100" b="1" dirty="0">
                <a:solidFill>
                  <a:srgbClr val="0070C0"/>
                </a:solidFill>
              </a:rPr>
              <a:t>()) - </a:t>
            </a:r>
            <a:r>
              <a:rPr lang="fr-FR" sz="1100" b="1" dirty="0" err="1">
                <a:solidFill>
                  <a:srgbClr val="0070C0"/>
                </a:solidFill>
              </a:rPr>
              <a:t>StartDate</a:t>
            </a:r>
            <a:r>
              <a:rPr lang="fr-FR" sz="1100" b="1" dirty="0">
                <a:solidFill>
                  <a:srgbClr val="0070C0"/>
                </a:solidFill>
              </a:rPr>
              <a:t>) +1,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    #duration(1, 0, 0, 0)</a:t>
            </a:r>
          </a:p>
          <a:p>
            <a:r>
              <a:rPr lang="fr-FR" sz="1100" b="1" dirty="0">
                <a:solidFill>
                  <a:srgbClr val="0070C0"/>
                </a:solidFill>
              </a:rPr>
              <a:t>)</a:t>
            </a:r>
            <a:endParaRPr lang="en-US" sz="1100" b="1" dirty="0">
              <a:solidFill>
                <a:srgbClr val="0070C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C82F70-D082-956D-073B-FE7939D8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560"/>
          <a:stretch/>
        </p:blipFill>
        <p:spPr>
          <a:xfrm>
            <a:off x="120769" y="3429000"/>
            <a:ext cx="5322500" cy="15728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CFB476-29BD-583F-5AD0-4C6FB7D11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395" y="1730023"/>
            <a:ext cx="5027433" cy="302635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D62D204-EABF-A33B-0585-56FAF8944E96}"/>
              </a:ext>
            </a:extLst>
          </p:cNvPr>
          <p:cNvSpPr/>
          <p:nvPr/>
        </p:nvSpPr>
        <p:spPr>
          <a:xfrm>
            <a:off x="9747696" y="1623376"/>
            <a:ext cx="647133" cy="4124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4B92F3-80B2-2BAA-289E-AF008358376B}"/>
              </a:ext>
            </a:extLst>
          </p:cNvPr>
          <p:cNvSpPr/>
          <p:nvPr/>
        </p:nvSpPr>
        <p:spPr>
          <a:xfrm>
            <a:off x="6551395" y="2035834"/>
            <a:ext cx="513348" cy="5957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44ED4B-DE48-881A-B415-98CEB5B7B130}"/>
              </a:ext>
            </a:extLst>
          </p:cNvPr>
          <p:cNvSpPr/>
          <p:nvPr/>
        </p:nvSpPr>
        <p:spPr>
          <a:xfrm>
            <a:off x="10222151" y="4179366"/>
            <a:ext cx="517736" cy="412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2B19E1-29DD-510F-2985-15E8740F9912}"/>
              </a:ext>
            </a:extLst>
          </p:cNvPr>
          <p:cNvSpPr/>
          <p:nvPr/>
        </p:nvSpPr>
        <p:spPr>
          <a:xfrm>
            <a:off x="10386473" y="1415090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cap="none" spc="0" dirty="0">
                <a:ln/>
                <a:solidFill>
                  <a:schemeClr val="accent4"/>
                </a:solidFill>
                <a:effectLst/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67A01D-66D2-ED73-1CFF-3382A84B38CB}"/>
              </a:ext>
            </a:extLst>
          </p:cNvPr>
          <p:cNvSpPr/>
          <p:nvPr/>
        </p:nvSpPr>
        <p:spPr>
          <a:xfrm>
            <a:off x="6282271" y="1992457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dirty="0">
                <a:ln/>
                <a:solidFill>
                  <a:schemeClr val="accent4"/>
                </a:solidFill>
              </a:rPr>
              <a:t>2</a:t>
            </a:r>
            <a:endParaRPr lang="en-US" sz="2800" b="1" cap="none" spc="0" dirty="0">
              <a:ln/>
              <a:solidFill>
                <a:schemeClr val="accent4"/>
              </a:solidFill>
              <a:effectLst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965D07-2745-440C-371D-6240B657DB99}"/>
              </a:ext>
            </a:extLst>
          </p:cNvPr>
          <p:cNvSpPr/>
          <p:nvPr/>
        </p:nvSpPr>
        <p:spPr>
          <a:xfrm>
            <a:off x="10151779" y="3663995"/>
            <a:ext cx="27748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cap="none" spc="0" dirty="0">
                <a:ln/>
                <a:solidFill>
                  <a:schemeClr val="accent4"/>
                </a:solidFill>
                <a:effectLst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453382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4D65E-B670-DD0A-7DCF-1D6360A91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053EDA0-F9E5-1FA0-7DC4-0326D9DC2F98}"/>
              </a:ext>
            </a:extLst>
          </p:cNvPr>
          <p:cNvSpPr txBox="1">
            <a:spLocks/>
          </p:cNvSpPr>
          <p:nvPr/>
        </p:nvSpPr>
        <p:spPr>
          <a:xfrm>
            <a:off x="218022" y="192169"/>
            <a:ext cx="4811177" cy="1537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7- recorder </a:t>
            </a:r>
            <a:r>
              <a:rPr lang="en-US" sz="2400" b="1" dirty="0" err="1"/>
              <a:t>cambiar</a:t>
            </a:r>
            <a:r>
              <a:rPr lang="en-US" sz="2400" b="1" dirty="0"/>
              <a:t> el </a:t>
            </a:r>
            <a:r>
              <a:rPr lang="en-US" sz="2400" b="1" dirty="0" err="1"/>
              <a:t>tipo</a:t>
            </a:r>
            <a:r>
              <a:rPr lang="en-US" sz="2400" b="1" dirty="0"/>
              <a:t> de </a:t>
            </a:r>
            <a:r>
              <a:rPr lang="en-US" sz="2400" b="1" dirty="0" err="1"/>
              <a:t>dato</a:t>
            </a:r>
            <a:r>
              <a:rPr lang="en-US" sz="2400" b="1" dirty="0"/>
              <a:t> a </a:t>
            </a:r>
            <a:r>
              <a:rPr lang="en-US" sz="2400" b="1" dirty="0" err="1"/>
              <a:t>tipo</a:t>
            </a:r>
            <a:r>
              <a:rPr lang="en-US" sz="2400" b="1" dirty="0"/>
              <a:t> </a:t>
            </a:r>
            <a:r>
              <a:rPr lang="en-US" sz="2400" b="1" dirty="0" err="1"/>
              <a:t>fecha</a:t>
            </a:r>
            <a:endParaRPr lang="en-US" sz="2400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ED1D708-7B05-10A0-B87C-1526F2226DB0}"/>
              </a:ext>
            </a:extLst>
          </p:cNvPr>
          <p:cNvSpPr txBox="1">
            <a:spLocks/>
          </p:cNvSpPr>
          <p:nvPr/>
        </p:nvSpPr>
        <p:spPr>
          <a:xfrm>
            <a:off x="5064029" y="4393809"/>
            <a:ext cx="6324932" cy="910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1400" b="1" dirty="0">
                <a:solidFill>
                  <a:srgbClr val="0070C0"/>
                </a:solidFill>
              </a:rPr>
              <a:t>Lo anterior es útil para usar la tabla como dimensión de fechas completa, o usar como tabla de relación entre 2 tablas diferentes datos pero con dimensión de fecha</a:t>
            </a:r>
            <a:endParaRPr lang="en-US" sz="1400" b="1" dirty="0">
              <a:solidFill>
                <a:srgbClr val="0070C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5B69A0-D01D-A370-BC63-DB314BAAA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67" y="2515677"/>
            <a:ext cx="1377896" cy="37562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52D39A-1407-8F3A-187E-904A87A21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6558" y="1925143"/>
            <a:ext cx="5967566" cy="232735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FA4D772C-3910-1AD7-CC5E-7653EF2FC67E}"/>
              </a:ext>
            </a:extLst>
          </p:cNvPr>
          <p:cNvSpPr/>
          <p:nvPr/>
        </p:nvSpPr>
        <p:spPr>
          <a:xfrm>
            <a:off x="11069053" y="1941381"/>
            <a:ext cx="465071" cy="4200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A725C29-862C-7D23-2781-C7F7BF6A369F}"/>
              </a:ext>
            </a:extLst>
          </p:cNvPr>
          <p:cNvSpPr txBox="1">
            <a:spLocks/>
          </p:cNvSpPr>
          <p:nvPr/>
        </p:nvSpPr>
        <p:spPr>
          <a:xfrm>
            <a:off x="5992181" y="192169"/>
            <a:ext cx="5541943" cy="17329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8- Una </a:t>
            </a:r>
            <a:r>
              <a:rPr lang="en-US" sz="2400" b="1" dirty="0" err="1"/>
              <a:t>vez</a:t>
            </a:r>
            <a:r>
              <a:rPr lang="en-US" sz="2400" b="1" dirty="0"/>
              <a:t> que el campo sea </a:t>
            </a:r>
            <a:r>
              <a:rPr lang="en-US" sz="2400" b="1" dirty="0" err="1"/>
              <a:t>formato</a:t>
            </a:r>
            <a:r>
              <a:rPr lang="en-US" sz="2400" b="1" dirty="0"/>
              <a:t> </a:t>
            </a:r>
            <a:r>
              <a:rPr lang="en-US" sz="2400" b="1" dirty="0" err="1"/>
              <a:t>fecha</a:t>
            </a:r>
            <a:r>
              <a:rPr lang="en-US" sz="2400" b="1" dirty="0"/>
              <a:t> </a:t>
            </a:r>
            <a:r>
              <a:rPr lang="en-US" sz="2400" b="1" dirty="0" err="1"/>
              <a:t>podremos</a:t>
            </a:r>
            <a:r>
              <a:rPr lang="en-US" sz="2400" b="1" dirty="0"/>
              <a:t> </a:t>
            </a:r>
            <a:r>
              <a:rPr lang="en-US" sz="2400" b="1" dirty="0" err="1"/>
              <a:t>agregar</a:t>
            </a:r>
            <a:r>
              <a:rPr lang="en-US" sz="2400" b="1" dirty="0"/>
              <a:t> </a:t>
            </a:r>
            <a:r>
              <a:rPr lang="en-US" sz="2400" b="1" dirty="0" err="1"/>
              <a:t>columnas</a:t>
            </a:r>
            <a:r>
              <a:rPr lang="en-US" sz="2400" b="1" dirty="0"/>
              <a:t> con la </a:t>
            </a:r>
            <a:r>
              <a:rPr lang="en-US" sz="2400" b="1" dirty="0" err="1"/>
              <a:t>funciones</a:t>
            </a:r>
            <a:r>
              <a:rPr lang="en-US" sz="2400" b="1" dirty="0"/>
              <a:t> de </a:t>
            </a:r>
            <a:r>
              <a:rPr lang="en-US" sz="2400" b="1" dirty="0" err="1"/>
              <a:t>fecha</a:t>
            </a:r>
            <a:r>
              <a:rPr lang="en-US" sz="2400" b="1" dirty="0"/>
              <a:t> para </a:t>
            </a:r>
            <a:r>
              <a:rPr lang="en-US" sz="2400" b="1" dirty="0" err="1"/>
              <a:t>obtener</a:t>
            </a:r>
            <a:r>
              <a:rPr lang="en-US" sz="2400" b="1" dirty="0"/>
              <a:t>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como</a:t>
            </a:r>
            <a:r>
              <a:rPr lang="en-US" sz="2400" b="1" dirty="0"/>
              <a:t> </a:t>
            </a:r>
            <a:r>
              <a:rPr lang="en-US" sz="2400" b="1" dirty="0" err="1"/>
              <a:t>semana</a:t>
            </a:r>
            <a:r>
              <a:rPr lang="en-US" sz="2400" b="1" dirty="0"/>
              <a:t> del a</a:t>
            </a:r>
            <a:r>
              <a:rPr lang="es-MX" sz="2400" b="1" dirty="0" err="1"/>
              <a:t>ño</a:t>
            </a:r>
            <a:r>
              <a:rPr lang="es-MX" sz="2400" b="1" dirty="0"/>
              <a:t>, nombre mes, dia semana, nombre dia semana, </a:t>
            </a:r>
            <a:r>
              <a:rPr lang="es-MX" sz="2400" b="1" dirty="0" err="1"/>
              <a:t>etc</a:t>
            </a:r>
            <a:endParaRPr lang="en-US" sz="24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83DF8E0-82C0-C65F-E5C9-F1219D170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088" y="4901534"/>
            <a:ext cx="4042855" cy="1707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921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936</Words>
  <Application>Microsoft Office PowerPoint</Application>
  <PresentationFormat>Widescreen</PresentationFormat>
  <Paragraphs>77</Paragraphs>
  <Slides>16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Corning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Gonzalez, Jose Eduardo</dc:creator>
  <cp:lastModifiedBy>Gonzalez, Jose Eduardo</cp:lastModifiedBy>
  <cp:revision>5</cp:revision>
  <dcterms:created xsi:type="dcterms:W3CDTF">2026-02-15T14:25:02Z</dcterms:created>
  <dcterms:modified xsi:type="dcterms:W3CDTF">2026-02-27T22:34:49Z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4e56da1-ea92-450b-bcad-67d23f2d9181_Enabled">
    <vt:lpwstr>true</vt:lpwstr>
  </property>
  <property fmtid="{D5CDD505-2E9C-101B-9397-08002B2CF9AE}" pid="3" name="MSIP_Label_94e56da1-ea92-450b-bcad-67d23f2d9181_SetDate">
    <vt:lpwstr>2026-02-15T15:42:54Z</vt:lpwstr>
  </property>
  <property fmtid="{D5CDD505-2E9C-101B-9397-08002B2CF9AE}" pid="4" name="MSIP_Label_94e56da1-ea92-450b-bcad-67d23f2d9181_Method">
    <vt:lpwstr>Privileged</vt:lpwstr>
  </property>
  <property fmtid="{D5CDD505-2E9C-101B-9397-08002B2CF9AE}" pid="5" name="MSIP_Label_94e56da1-ea92-450b-bcad-67d23f2d9181_Name">
    <vt:lpwstr>General - Corning (L4) Not-Encrypted (Anyone)</vt:lpwstr>
  </property>
  <property fmtid="{D5CDD505-2E9C-101B-9397-08002B2CF9AE}" pid="6" name="MSIP_Label_94e56da1-ea92-450b-bcad-67d23f2d9181_SiteId">
    <vt:lpwstr>b36a1e05-4a62-442b-83cf-dbdd6d7810e4</vt:lpwstr>
  </property>
  <property fmtid="{D5CDD505-2E9C-101B-9397-08002B2CF9AE}" pid="7" name="MSIP_Label_94e56da1-ea92-450b-bcad-67d23f2d9181_ActionId">
    <vt:lpwstr>fc23eb33-54df-4b8a-bd91-02157344a099</vt:lpwstr>
  </property>
  <property fmtid="{D5CDD505-2E9C-101B-9397-08002B2CF9AE}" pid="8" name="MSIP_Label_94e56da1-ea92-450b-bcad-67d23f2d9181_ContentBits">
    <vt:lpwstr>2</vt:lpwstr>
  </property>
  <property fmtid="{D5CDD505-2E9C-101B-9397-08002B2CF9AE}" pid="9" name="MSIP_Label_94e56da1-ea92-450b-bcad-67d23f2d9181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Corning (L4)</vt:lpwstr>
  </property>
</Properties>
</file>