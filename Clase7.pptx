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3" r:id="rId4"/>
    <p:sldId id="265" r:id="rId5"/>
    <p:sldId id="266" r:id="rId6"/>
    <p:sldId id="268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9408-2919-F28B-6E8E-604310B0F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5A268-26F0-CFBB-6289-F41E6D7FB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A39DF-D5FC-9774-889D-B872C7F9A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F310-1974-7AED-A659-BBF53CAC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AC3C1-199C-D0BF-EBC9-5460279D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72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5999-771B-4283-72E4-20F23922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33B34-58F4-F431-C3A6-A4FE139DB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0CA24-F463-C0A7-9F84-9F63FCF6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0567-B7F3-6F5E-7667-B336EF32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A0D32-90C0-13C1-9B7C-64BB3DCD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4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29123-DCF3-3CB1-7F15-DB839C92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A0596-1EFD-9CDC-C9DC-229385E9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E4474-6E57-7E2A-1196-C9F0BB97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2DB1D-4183-92C7-F305-612686E5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F0F39-A40E-A69E-281C-AB969789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61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17A5-3367-EE29-00AC-DC0F912E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C8810-D0AA-EADD-C223-648375E61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AC2F3-BDED-04B1-A5C1-47707E7A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E1416-0C58-20DD-6C7D-5C973668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5F73A-28BB-E28D-333C-4BF8054F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2DDF6-36E3-DC79-ABF7-5426D7CD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2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9AEDA-7994-0F2F-6EAE-839BB640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CC727-03C0-C36D-C6A6-4EECC5520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8F921-A39A-D617-D78E-FEF348383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32DA5-455B-3115-7240-BB5C9C78F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FFF07E-A23B-6074-974D-9B156C229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573CA6-4085-BE46-A7EB-7310DEFE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B05A9-5DAE-16A0-5C27-25058D49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11966-B287-F51F-CEB9-497F3A14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4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160C-2FE9-D80B-45E0-67863162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DBE8AB-8EF6-7F11-A2C8-0FA974F2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F25A9-08A9-890B-D167-547F26E28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A8C27-8FBB-AA52-73AB-1DFA93687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3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623D6-7C99-55D6-2F11-32AC9E52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A75C7-8BC4-2447-039F-4A9773F6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00B93-DA94-79B8-047E-A01E7F551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0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D976-FC5B-AC4A-172E-D8BA76E5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77C4A-1182-2435-C63D-995464595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83849-C612-186A-6F61-07922885A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64005-70E9-8744-1BFA-CD6B3FB4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76AD-1CBD-7492-523B-C5588524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C3CAF-3A04-5435-DE37-24600B05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8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A2369-21AA-F52B-D169-967D9B12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3009D5-3528-57C2-2946-BDD9FB2CC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F3C7A-A83E-DB4F-B185-4A0D6422C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20C1D-DDE9-219F-B95D-EFEDF144C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18E1D-77FE-FCC1-201D-30A463A4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BC95A-1344-CFCF-91F0-9D13832E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BB85-0206-6882-632F-56587A6B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C56E67-58CB-98A9-25BE-1ED05B11D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72D45-569B-700F-1749-04E44EA5F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06D1C-EC6E-E5B1-E3D2-F5BBF66B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95FF0-21EA-0DE7-E87D-E06E6B37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8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AF4F0-47E6-BF9F-1011-9890532C8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0F3AE-CF83-290D-10EC-25474BDE8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68110-51E1-8E29-B575-43BA8AE8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3D995-7D13-4AFC-96D4-CB0B0495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3B438-633E-7C48-08BC-9BD5C8B5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9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9F6CF-45A9-F443-2D20-F137379C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C5803-0526-8032-1D0C-DC6A6906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AF085-4C93-DC87-BC70-CAD84F327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9A2D9D-F137-4163-855D-360766367DD3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88FEC-E72F-8768-AFE5-95C5B9CD8B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9294C-0C40-8BBF-A6DF-1DF5263E7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D8C29E-3E85-49D7-91A8-D0AFD34E4CE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E7D563-F53E-CE33-BAF1-6E37B5DF2CA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863263" y="6642100"/>
            <a:ext cx="1300162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- Corning (L4)</a:t>
            </a:r>
          </a:p>
        </p:txBody>
      </p:sp>
    </p:spTree>
    <p:extLst>
      <p:ext uri="{BB962C8B-B14F-4D97-AF65-F5344CB8AC3E}">
        <p14:creationId xmlns:p14="http://schemas.microsoft.com/office/powerpoint/2010/main" val="191300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atos.cdmx.gob.mx/dataset/incidentes-viales-c5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0FC73-B0B5-2FB2-508E-8E6408154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646"/>
            <a:ext cx="10515600" cy="1194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1- </a:t>
            </a:r>
            <a:r>
              <a:rPr lang="en-US" b="1" dirty="0" err="1"/>
              <a:t>Entrar</a:t>
            </a:r>
            <a:r>
              <a:rPr lang="en-US" b="1" dirty="0"/>
              <a:t> a la </a:t>
            </a:r>
            <a:r>
              <a:rPr lang="en-US" b="1" dirty="0" err="1"/>
              <a:t>pagina</a:t>
            </a:r>
            <a:r>
              <a:rPr lang="en-US" b="1" dirty="0"/>
              <a:t> del C5 de CDMX</a:t>
            </a:r>
          </a:p>
          <a:p>
            <a:pPr marL="0" indent="0">
              <a:buNone/>
            </a:pPr>
            <a:r>
              <a:rPr lang="en-US" sz="2400" dirty="0" err="1"/>
              <a:t>Link:</a:t>
            </a:r>
            <a:r>
              <a:rPr lang="en-US" sz="2400" dirty="0" err="1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2400" dirty="0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://datos.cdmx.gob.mx/dataset/incidentes-viales-c5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CD1189-C379-1F87-267B-15A34AF79FC2}"/>
              </a:ext>
            </a:extLst>
          </p:cNvPr>
          <p:cNvSpPr/>
          <p:nvPr/>
        </p:nvSpPr>
        <p:spPr>
          <a:xfrm>
            <a:off x="3593432" y="115074"/>
            <a:ext cx="373596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Clase 6 Links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264AE-009F-FAA6-7398-9D2B0C475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056" y="2336801"/>
            <a:ext cx="7640256" cy="409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7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F8DE5-0B58-4F52-56E3-8122DF7D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77"/>
          <a:stretch/>
        </p:blipFill>
        <p:spPr>
          <a:xfrm>
            <a:off x="91448" y="2157663"/>
            <a:ext cx="4897646" cy="424084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C7AE917-EC63-1780-172E-B0A119901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8164"/>
            <a:ext cx="4255168" cy="1463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2- </a:t>
            </a:r>
            <a:r>
              <a:rPr lang="en-US" sz="2000" b="1" dirty="0" err="1"/>
              <a:t>Descargar</a:t>
            </a:r>
            <a:r>
              <a:rPr lang="en-US" sz="2000" b="1" dirty="0"/>
              <a:t> los </a:t>
            </a:r>
            <a:r>
              <a:rPr lang="en-US" sz="2000" b="1" dirty="0" err="1"/>
              <a:t>archivos</a:t>
            </a:r>
            <a:r>
              <a:rPr lang="en-US" sz="2000" b="1" dirty="0"/>
              <a:t> </a:t>
            </a:r>
            <a:r>
              <a:rPr lang="en-US" sz="2000" b="1" dirty="0" err="1"/>
              <a:t>incidentes</a:t>
            </a:r>
            <a:r>
              <a:rPr lang="en-US" sz="2000" b="1" dirty="0"/>
              <a:t> </a:t>
            </a:r>
            <a:r>
              <a:rPr lang="en-US" sz="2000" b="1" dirty="0" err="1"/>
              <a:t>viales</a:t>
            </a:r>
            <a:r>
              <a:rPr lang="en-US" sz="2000" b="1" dirty="0"/>
              <a:t> del 2016 al 2024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</a:rPr>
              <a:t>(Los </a:t>
            </a:r>
            <a:r>
              <a:rPr lang="en-US" sz="1800" dirty="0" err="1">
                <a:solidFill>
                  <a:srgbClr val="0070C0"/>
                </a:solidFill>
              </a:rPr>
              <a:t>archivos</a:t>
            </a:r>
            <a:r>
              <a:rPr lang="en-US" sz="1800" dirty="0">
                <a:solidFill>
                  <a:srgbClr val="0070C0"/>
                </a:solidFill>
              </a:rPr>
              <a:t> se </a:t>
            </a:r>
            <a:r>
              <a:rPr lang="en-US" sz="1800" dirty="0" err="1">
                <a:solidFill>
                  <a:srgbClr val="0070C0"/>
                </a:solidFill>
              </a:rPr>
              <a:t>encuentran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 err="1">
                <a:solidFill>
                  <a:srgbClr val="0070C0"/>
                </a:solidFill>
              </a:rPr>
              <a:t>en</a:t>
            </a:r>
            <a:r>
              <a:rPr lang="en-US" sz="1800" dirty="0">
                <a:solidFill>
                  <a:srgbClr val="0070C0"/>
                </a:solidFill>
              </a:rPr>
              <a:t> la </a:t>
            </a:r>
            <a:r>
              <a:rPr lang="en-US" sz="1800" dirty="0" err="1">
                <a:solidFill>
                  <a:srgbClr val="0070C0"/>
                </a:solidFill>
              </a:rPr>
              <a:t>parte</a:t>
            </a:r>
            <a:r>
              <a:rPr lang="en-US" sz="1800" dirty="0">
                <a:solidFill>
                  <a:srgbClr val="0070C0"/>
                </a:solidFill>
              </a:rPr>
              <a:t> inferior de la </a:t>
            </a:r>
            <a:r>
              <a:rPr lang="en-US" sz="1800" dirty="0" err="1">
                <a:solidFill>
                  <a:srgbClr val="0070C0"/>
                </a:solidFill>
              </a:rPr>
              <a:t>pagina</a:t>
            </a:r>
            <a:r>
              <a:rPr lang="en-US" sz="1800" dirty="0">
                <a:solidFill>
                  <a:srgbClr val="0070C0"/>
                </a:solidFill>
              </a:rPr>
              <a:t> del paso 1)</a:t>
            </a:r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2FDC7BB-DAB3-27BA-6B21-DA7A46BFDE90}"/>
              </a:ext>
            </a:extLst>
          </p:cNvPr>
          <p:cNvSpPr/>
          <p:nvPr/>
        </p:nvSpPr>
        <p:spPr>
          <a:xfrm rot="10800000">
            <a:off x="1856874" y="3280610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095B0-4C84-C391-D958-12F248868B01}"/>
              </a:ext>
            </a:extLst>
          </p:cNvPr>
          <p:cNvSpPr txBox="1"/>
          <p:nvPr/>
        </p:nvSpPr>
        <p:spPr>
          <a:xfrm>
            <a:off x="3007895" y="3193079"/>
            <a:ext cx="14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Archivo</a:t>
            </a:r>
            <a:r>
              <a:rPr lang="en-US" b="1" dirty="0"/>
              <a:t> #1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88D61C4-5B16-E317-983C-8541038E001B}"/>
              </a:ext>
            </a:extLst>
          </p:cNvPr>
          <p:cNvSpPr/>
          <p:nvPr/>
        </p:nvSpPr>
        <p:spPr>
          <a:xfrm rot="10800000">
            <a:off x="1834816" y="4403558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F070F-2C72-610F-4966-0E69C8CFEEAE}"/>
              </a:ext>
            </a:extLst>
          </p:cNvPr>
          <p:cNvSpPr txBox="1"/>
          <p:nvPr/>
        </p:nvSpPr>
        <p:spPr>
          <a:xfrm>
            <a:off x="2965784" y="4259672"/>
            <a:ext cx="14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Archivo</a:t>
            </a:r>
            <a:r>
              <a:rPr lang="en-US" b="1" dirty="0"/>
              <a:t> #2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21A2E8A-3CF4-127E-50E7-001BAAA97D3D}"/>
              </a:ext>
            </a:extLst>
          </p:cNvPr>
          <p:cNvSpPr/>
          <p:nvPr/>
        </p:nvSpPr>
        <p:spPr>
          <a:xfrm rot="10800000">
            <a:off x="1722123" y="5415907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D2A28D-150D-F668-1C06-0F3096FFE7F5}"/>
              </a:ext>
            </a:extLst>
          </p:cNvPr>
          <p:cNvSpPr txBox="1"/>
          <p:nvPr/>
        </p:nvSpPr>
        <p:spPr>
          <a:xfrm>
            <a:off x="2853091" y="5319940"/>
            <a:ext cx="145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Archivo</a:t>
            </a:r>
            <a:r>
              <a:rPr lang="en-US" b="1" dirty="0"/>
              <a:t> #3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2FDAE-CDA1-876B-5A6A-6CEF85BBB789}"/>
              </a:ext>
            </a:extLst>
          </p:cNvPr>
          <p:cNvSpPr txBox="1"/>
          <p:nvPr/>
        </p:nvSpPr>
        <p:spPr>
          <a:xfrm>
            <a:off x="6561222" y="388164"/>
            <a:ext cx="51174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/>
              <a:t>3- </a:t>
            </a:r>
            <a:r>
              <a:rPr lang="en-US" sz="2000" b="1" dirty="0" err="1"/>
              <a:t>Colocar</a:t>
            </a:r>
            <a:r>
              <a:rPr lang="en-US" sz="2000" b="1" dirty="0"/>
              <a:t> los </a:t>
            </a:r>
            <a:r>
              <a:rPr lang="en-US" sz="2000" b="1" dirty="0" err="1"/>
              <a:t>archivos</a:t>
            </a: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2000" b="1" dirty="0"/>
              <a:t>del 2016 – 2018 y del 2019 – 2021 </a:t>
            </a:r>
            <a:r>
              <a:rPr lang="en-US" sz="2000" b="1" dirty="0" err="1"/>
              <a:t>en</a:t>
            </a:r>
            <a:r>
              <a:rPr lang="en-US" sz="2000" b="1" dirty="0"/>
              <a:t> </a:t>
            </a:r>
            <a:r>
              <a:rPr lang="en-US" sz="2000" b="1" dirty="0" err="1"/>
              <a:t>una</a:t>
            </a:r>
            <a:r>
              <a:rPr lang="en-US" sz="2000" b="1" dirty="0"/>
              <a:t> </a:t>
            </a:r>
            <a:r>
              <a:rPr lang="en-US" sz="2000" b="1" dirty="0" err="1"/>
              <a:t>carpeta</a:t>
            </a:r>
            <a:r>
              <a:rPr lang="en-US" sz="2000" b="1" dirty="0"/>
              <a:t> </a:t>
            </a:r>
            <a:r>
              <a:rPr lang="en-US" sz="2000" b="1" dirty="0" err="1"/>
              <a:t>llamada</a:t>
            </a:r>
            <a:r>
              <a:rPr lang="en-US" sz="2000" b="1" dirty="0"/>
              <a:t> “Clase6”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12CB21-6D54-2217-ADEE-F1D48315A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958"/>
          <a:stretch/>
        </p:blipFill>
        <p:spPr>
          <a:xfrm>
            <a:off x="6232358" y="2297545"/>
            <a:ext cx="4791482" cy="113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4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2F2FC-8243-B2AD-642F-8D28E1D1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34EA8E9-160F-749A-C41A-9BB43DA56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5107"/>
            <a:ext cx="4099560" cy="1379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5- </a:t>
            </a:r>
            <a:r>
              <a:rPr lang="en-US" b="1" dirty="0" err="1"/>
              <a:t>Generar</a:t>
            </a:r>
            <a:r>
              <a:rPr lang="en-US" b="1" dirty="0"/>
              <a:t> un nuevo PBI con el </a:t>
            </a:r>
            <a:r>
              <a:rPr lang="en-US" b="1" dirty="0" err="1"/>
              <a:t>conector</a:t>
            </a:r>
            <a:r>
              <a:rPr lang="en-US" b="1" dirty="0"/>
              <a:t> Folder a la </a:t>
            </a:r>
            <a:r>
              <a:rPr lang="en-US" b="1" dirty="0" err="1"/>
              <a:t>carpeta</a:t>
            </a:r>
            <a:r>
              <a:rPr lang="en-US" b="1" dirty="0"/>
              <a:t> Clase6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149860-B9EC-C28D-AE90-A1BC0937B4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498"/>
          <a:stretch/>
        </p:blipFill>
        <p:spPr>
          <a:xfrm>
            <a:off x="548640" y="1468053"/>
            <a:ext cx="4206240" cy="2616267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11ED5681-B65A-7270-8BDD-FEB48AF26A1A}"/>
              </a:ext>
            </a:extLst>
          </p:cNvPr>
          <p:cNvSpPr/>
          <p:nvPr/>
        </p:nvSpPr>
        <p:spPr>
          <a:xfrm rot="10800000">
            <a:off x="2557914" y="3565090"/>
            <a:ext cx="1130968" cy="29677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F1CC49-63B3-2606-EF8E-D8CC19BCE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53690"/>
            <a:ext cx="4099560" cy="236952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94BC9A-4644-D464-56B2-2025BCEE1B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956"/>
          <a:stretch/>
        </p:blipFill>
        <p:spPr>
          <a:xfrm>
            <a:off x="5244753" y="2421991"/>
            <a:ext cx="6805007" cy="2286198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52070F9-2964-75F5-DCCC-FE39FD77799A}"/>
              </a:ext>
            </a:extLst>
          </p:cNvPr>
          <p:cNvSpPr txBox="1">
            <a:spLocks/>
          </p:cNvSpPr>
          <p:nvPr/>
        </p:nvSpPr>
        <p:spPr>
          <a:xfrm>
            <a:off x="6785811" y="155107"/>
            <a:ext cx="4639109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6- </a:t>
            </a:r>
            <a:r>
              <a:rPr lang="en-US" b="1" dirty="0" err="1"/>
              <a:t>Combinar</a:t>
            </a:r>
            <a:r>
              <a:rPr lang="en-US" b="1" dirty="0"/>
              <a:t> los </a:t>
            </a:r>
            <a:r>
              <a:rPr lang="en-US" b="1" dirty="0" err="1"/>
              <a:t>contenidos</a:t>
            </a:r>
            <a:r>
              <a:rPr lang="en-US" b="1" dirty="0"/>
              <a:t> de los </a:t>
            </a:r>
            <a:r>
              <a:rPr lang="en-US" b="1" dirty="0" err="1"/>
              <a:t>archivos</a:t>
            </a:r>
            <a:r>
              <a:rPr lang="en-US" b="1" dirty="0"/>
              <a:t> </a:t>
            </a:r>
            <a:r>
              <a:rPr lang="en-US" b="1" dirty="0" err="1"/>
              <a:t>dentro</a:t>
            </a:r>
            <a:r>
              <a:rPr lang="en-US" b="1" dirty="0"/>
              <a:t> de la </a:t>
            </a:r>
            <a:r>
              <a:rPr lang="en-US" b="1" dirty="0" err="1"/>
              <a:t>carpeta</a:t>
            </a:r>
            <a:endParaRPr lang="en-US" b="1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C3D1219-0E28-7C29-DD5C-657A59BC71EE}"/>
              </a:ext>
            </a:extLst>
          </p:cNvPr>
          <p:cNvSpPr/>
          <p:nvPr/>
        </p:nvSpPr>
        <p:spPr>
          <a:xfrm rot="16200000">
            <a:off x="8046834" y="3348634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3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B5CB-BE8D-F896-D774-492B1983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098105E-8C1B-4629-67B6-108D852E1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5107"/>
            <a:ext cx="4099560" cy="13790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7-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uniendo</a:t>
            </a:r>
            <a:r>
              <a:rPr lang="en-US" b="1" dirty="0"/>
              <a:t> las </a:t>
            </a:r>
            <a:r>
              <a:rPr lang="en-US" b="1" dirty="0" err="1"/>
              <a:t>columnas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fecha_creacion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/>
              <a:t>con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hora_creacion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/>
              <a:t>y </a:t>
            </a:r>
            <a:r>
              <a:rPr lang="en-US" b="1" dirty="0" err="1"/>
              <a:t>cambiar</a:t>
            </a:r>
            <a:r>
              <a:rPr lang="en-US" b="1" dirty="0"/>
              <a:t> a Date/time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2A021D2-4BE2-533E-6B83-F2A72004D39E}"/>
              </a:ext>
            </a:extLst>
          </p:cNvPr>
          <p:cNvSpPr txBox="1">
            <a:spLocks/>
          </p:cNvSpPr>
          <p:nvPr/>
        </p:nvSpPr>
        <p:spPr>
          <a:xfrm>
            <a:off x="6785811" y="155107"/>
            <a:ext cx="4639109" cy="13790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8-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uniendo</a:t>
            </a:r>
            <a:r>
              <a:rPr lang="en-US" b="1" dirty="0"/>
              <a:t> las </a:t>
            </a:r>
            <a:r>
              <a:rPr lang="en-US" b="1" dirty="0" err="1"/>
              <a:t>columnas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fecha_creacion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/>
              <a:t>con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hora_creacion</a:t>
            </a:r>
            <a:r>
              <a:rPr lang="en-US" b="1" dirty="0">
                <a:solidFill>
                  <a:srgbClr val="0070C0"/>
                </a:solidFill>
              </a:rPr>
              <a:t>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6BDDE-74AA-A8D9-ED7D-27FCA777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02" y="1652901"/>
            <a:ext cx="3897683" cy="2627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F9DD2-FAD9-B764-A9E8-209A2309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85" y="5061284"/>
            <a:ext cx="2436402" cy="1466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A3967E-2943-1E58-11FE-0B34120D84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529"/>
          <a:stretch/>
        </p:blipFill>
        <p:spPr>
          <a:xfrm>
            <a:off x="7042484" y="1652900"/>
            <a:ext cx="3254022" cy="2574478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016F4AD-8022-AD59-9180-EB656DCB5AAB}"/>
              </a:ext>
            </a:extLst>
          </p:cNvPr>
          <p:cNvSpPr/>
          <p:nvPr/>
        </p:nvSpPr>
        <p:spPr>
          <a:xfrm rot="16200000">
            <a:off x="2431696" y="2314494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EF4A9A7-04CC-08A6-BF72-5667CF21F1C4}"/>
              </a:ext>
            </a:extLst>
          </p:cNvPr>
          <p:cNvSpPr/>
          <p:nvPr/>
        </p:nvSpPr>
        <p:spPr>
          <a:xfrm rot="16200000">
            <a:off x="8633441" y="227919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1CD592-6551-A325-5F5C-75AD42A4D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811" y="4798425"/>
            <a:ext cx="2300485" cy="1379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08E83D-B3BA-D475-4162-36B3D55BB6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0000"/>
          <a:stretch/>
        </p:blipFill>
        <p:spPr>
          <a:xfrm>
            <a:off x="2343068" y="4810886"/>
            <a:ext cx="2887016" cy="1768468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4714602-99C6-DE30-B0FC-FB143216C6F4}"/>
              </a:ext>
            </a:extLst>
          </p:cNvPr>
          <p:cNvSpPr/>
          <p:nvPr/>
        </p:nvSpPr>
        <p:spPr>
          <a:xfrm rot="10800000">
            <a:off x="3192038" y="5794599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B335CD-2D86-6C43-EDAC-443A47FD7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420" y="4742685"/>
            <a:ext cx="2830045" cy="1490534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238E396B-01DE-52B9-FE71-25B74CE9A4A8}"/>
              </a:ext>
            </a:extLst>
          </p:cNvPr>
          <p:cNvSpPr/>
          <p:nvPr/>
        </p:nvSpPr>
        <p:spPr>
          <a:xfrm>
            <a:off x="9508953" y="5621343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777EE3-6105-13B5-5A16-09963C69B1CA}"/>
              </a:ext>
            </a:extLst>
          </p:cNvPr>
          <p:cNvSpPr/>
          <p:nvPr/>
        </p:nvSpPr>
        <p:spPr>
          <a:xfrm>
            <a:off x="4056482" y="1420990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F3E0F-B7BA-79A1-67B5-6ECFD6A1A1D3}"/>
              </a:ext>
            </a:extLst>
          </p:cNvPr>
          <p:cNvSpPr/>
          <p:nvPr/>
        </p:nvSpPr>
        <p:spPr>
          <a:xfrm>
            <a:off x="1600732" y="4809789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5C85CA-AF2B-76D4-6B8A-8A1583FE6323}"/>
              </a:ext>
            </a:extLst>
          </p:cNvPr>
          <p:cNvSpPr/>
          <p:nvPr/>
        </p:nvSpPr>
        <p:spPr>
          <a:xfrm>
            <a:off x="4749692" y="4409679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n-US" sz="20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0154D6-3EAD-352F-682F-C98A29FF2101}"/>
              </a:ext>
            </a:extLst>
          </p:cNvPr>
          <p:cNvSpPr/>
          <p:nvPr/>
        </p:nvSpPr>
        <p:spPr>
          <a:xfrm>
            <a:off x="11474562" y="4342575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n-US" sz="20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54788F-D0BE-3D29-0BB6-D35F2EE25EDE}"/>
              </a:ext>
            </a:extLst>
          </p:cNvPr>
          <p:cNvSpPr/>
          <p:nvPr/>
        </p:nvSpPr>
        <p:spPr>
          <a:xfrm>
            <a:off x="6713581" y="4430428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91B05F-809E-2141-9E39-508FE7D88DB4}"/>
              </a:ext>
            </a:extLst>
          </p:cNvPr>
          <p:cNvSpPr/>
          <p:nvPr/>
        </p:nvSpPr>
        <p:spPr>
          <a:xfrm>
            <a:off x="10223990" y="1576508"/>
            <a:ext cx="328903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650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344C6-A4A0-6F17-18EA-8390DF2F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78D3262-5983-81BD-7727-97D830BA0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5107"/>
            <a:ext cx="4099560" cy="137905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9-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llamada</a:t>
            </a:r>
            <a:r>
              <a:rPr lang="en-US" b="1" dirty="0"/>
              <a:t> “</a:t>
            </a:r>
            <a:r>
              <a:rPr lang="en-US" b="1" dirty="0" err="1"/>
              <a:t>TiempoAtencion</a:t>
            </a:r>
            <a:r>
              <a:rPr lang="en-US" b="1" dirty="0"/>
              <a:t>” </a:t>
            </a:r>
            <a:r>
              <a:rPr lang="en-US" b="1" dirty="0" err="1"/>
              <a:t>obteniendo</a:t>
            </a:r>
            <a:r>
              <a:rPr lang="en-US" b="1" dirty="0"/>
              <a:t> la </a:t>
            </a:r>
            <a:r>
              <a:rPr lang="en-US" b="1" dirty="0" err="1"/>
              <a:t>diferencia</a:t>
            </a:r>
            <a:r>
              <a:rPr lang="en-US" b="1" dirty="0"/>
              <a:t> de  </a:t>
            </a:r>
            <a:r>
              <a:rPr lang="en-US" b="1" dirty="0">
                <a:solidFill>
                  <a:srgbClr val="0070C0"/>
                </a:solidFill>
              </a:rPr>
              <a:t>[Cierre] </a:t>
            </a:r>
            <a:r>
              <a:rPr lang="en-US" b="1" dirty="0"/>
              <a:t>-</a:t>
            </a:r>
            <a:r>
              <a:rPr lang="en-US" b="1" dirty="0">
                <a:solidFill>
                  <a:srgbClr val="0070C0"/>
                </a:solidFill>
              </a:rPr>
              <a:t> [</a:t>
            </a:r>
            <a:r>
              <a:rPr lang="en-US" b="1" dirty="0" err="1">
                <a:solidFill>
                  <a:srgbClr val="0070C0"/>
                </a:solidFill>
              </a:rPr>
              <a:t>Creacion</a:t>
            </a:r>
            <a:r>
              <a:rPr lang="en-US" b="1" dirty="0">
                <a:solidFill>
                  <a:srgbClr val="0070C0"/>
                </a:solidFill>
              </a:rPr>
              <a:t>]</a:t>
            </a:r>
            <a:endParaRPr lang="en-US" b="1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DA20148-0089-ECC4-8C27-BC55EB8AB624}"/>
              </a:ext>
            </a:extLst>
          </p:cNvPr>
          <p:cNvSpPr txBox="1">
            <a:spLocks/>
          </p:cNvSpPr>
          <p:nvPr/>
        </p:nvSpPr>
        <p:spPr>
          <a:xfrm>
            <a:off x="6089851" y="155107"/>
            <a:ext cx="5553509" cy="121649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10- </a:t>
            </a:r>
            <a:r>
              <a:rPr lang="en-US" b="1" dirty="0" err="1"/>
              <a:t>Agregar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columna</a:t>
            </a:r>
            <a:r>
              <a:rPr lang="en-US" b="1" dirty="0"/>
              <a:t> con el </a:t>
            </a:r>
            <a:r>
              <a:rPr lang="en-US" b="1" dirty="0" err="1"/>
              <a:t>nombre</a:t>
            </a:r>
            <a:r>
              <a:rPr lang="en-US" b="1" dirty="0"/>
              <a:t> del dia </a:t>
            </a:r>
            <a:r>
              <a:rPr lang="en-US" b="1" dirty="0" err="1"/>
              <a:t>usando</a:t>
            </a:r>
            <a:r>
              <a:rPr lang="en-US" b="1" dirty="0"/>
              <a:t>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>
                <a:solidFill>
                  <a:srgbClr val="0070C0"/>
                </a:solidFill>
              </a:rPr>
              <a:t>[</a:t>
            </a:r>
            <a:r>
              <a:rPr lang="en-US" b="1" dirty="0" err="1">
                <a:solidFill>
                  <a:srgbClr val="0070C0"/>
                </a:solidFill>
              </a:rPr>
              <a:t>fecha_cierre</a:t>
            </a:r>
            <a:r>
              <a:rPr lang="en-US" b="1" dirty="0">
                <a:solidFill>
                  <a:srgbClr val="0070C0"/>
                </a:solidFill>
              </a:rPr>
              <a:t>] </a:t>
            </a:r>
            <a:r>
              <a:rPr lang="en-US" b="1" dirty="0" err="1"/>
              <a:t>llamarla</a:t>
            </a:r>
            <a:r>
              <a:rPr lang="en-US" b="1" dirty="0"/>
              <a:t> “</a:t>
            </a:r>
            <a:r>
              <a:rPr lang="en-US" b="1" dirty="0" err="1"/>
              <a:t>DiaCierre</a:t>
            </a:r>
            <a:r>
              <a:rPr lang="en-US" b="1" dirty="0"/>
              <a:t>” y </a:t>
            </a:r>
            <a:r>
              <a:rPr lang="en-US" b="1" dirty="0" err="1"/>
              <a:t>hacer</a:t>
            </a:r>
            <a:r>
              <a:rPr lang="en-US" b="1" dirty="0"/>
              <a:t> la primer </a:t>
            </a:r>
            <a:r>
              <a:rPr lang="en-US" b="1" dirty="0" err="1"/>
              <a:t>letra</a:t>
            </a:r>
            <a:r>
              <a:rPr lang="en-US" b="1" dirty="0"/>
              <a:t> </a:t>
            </a:r>
            <a:r>
              <a:rPr lang="en-US" b="1" dirty="0" err="1"/>
              <a:t>mayuscula</a:t>
            </a:r>
            <a:endParaRPr lang="en-US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2BB514-DB62-611E-748E-B35B3B17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25" y="2110356"/>
            <a:ext cx="4646597" cy="2261118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C97A4561-012F-9C00-DC94-44025178E1D0}"/>
              </a:ext>
            </a:extLst>
          </p:cNvPr>
          <p:cNvSpPr/>
          <p:nvPr/>
        </p:nvSpPr>
        <p:spPr>
          <a:xfrm rot="5400000">
            <a:off x="3881849" y="2570137"/>
            <a:ext cx="679959" cy="346512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0761FA6-36CE-100A-B43E-37CC5C42173A}"/>
              </a:ext>
            </a:extLst>
          </p:cNvPr>
          <p:cNvSpPr/>
          <p:nvPr/>
        </p:nvSpPr>
        <p:spPr>
          <a:xfrm rot="17418639">
            <a:off x="162540" y="3933716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87CA21D-1A5E-1D3C-C9E6-08CE348D1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988"/>
          <a:stretch/>
        </p:blipFill>
        <p:spPr>
          <a:xfrm>
            <a:off x="7226953" y="1433172"/>
            <a:ext cx="2936431" cy="2770052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BD6A7D1F-1797-9369-D1E4-DFA9B83B54F5}"/>
              </a:ext>
            </a:extLst>
          </p:cNvPr>
          <p:cNvSpPr/>
          <p:nvPr/>
        </p:nvSpPr>
        <p:spPr>
          <a:xfrm>
            <a:off x="7226953" y="3856712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611BEDF-7B17-3CAC-5910-86053B149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574" y="4468452"/>
            <a:ext cx="3681679" cy="2234441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81D3D430-93D6-4714-9322-0C9F2AEBC9DA}"/>
              </a:ext>
            </a:extLst>
          </p:cNvPr>
          <p:cNvSpPr/>
          <p:nvPr/>
        </p:nvSpPr>
        <p:spPr>
          <a:xfrm>
            <a:off x="6625374" y="5324565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80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B858A-7DCD-7757-8D99-A6562CF3E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82" y="1012703"/>
            <a:ext cx="5042369" cy="55067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7C17A0-8EEB-8AD7-C24D-ACB113EDD0D1}"/>
              </a:ext>
            </a:extLst>
          </p:cNvPr>
          <p:cNvSpPr txBox="1">
            <a:spLocks/>
          </p:cNvSpPr>
          <p:nvPr/>
        </p:nvSpPr>
        <p:spPr>
          <a:xfrm>
            <a:off x="5353031" y="1012151"/>
            <a:ext cx="6600071" cy="5668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/>
              <a:t>Generar</a:t>
            </a:r>
            <a:r>
              <a:rPr lang="en-US" sz="2000" b="1" dirty="0"/>
              <a:t> </a:t>
            </a:r>
            <a:r>
              <a:rPr lang="en-US" sz="2000" b="1" dirty="0" err="1"/>
              <a:t>columnas</a:t>
            </a:r>
            <a:r>
              <a:rPr lang="en-US" sz="2000" b="1" dirty="0"/>
              <a:t> de </a:t>
            </a:r>
            <a:r>
              <a:rPr lang="en-US" sz="2000" b="1" dirty="0" err="1"/>
              <a:t>significado</a:t>
            </a:r>
            <a:r>
              <a:rPr lang="en-US" sz="2000" b="1" dirty="0"/>
              <a:t> de [</a:t>
            </a:r>
            <a:r>
              <a:rPr lang="en-US" sz="2000" b="1" dirty="0" err="1"/>
              <a:t>codigo_cierre</a:t>
            </a:r>
            <a:r>
              <a:rPr lang="en-US" sz="2000" b="1" dirty="0"/>
              <a:t>] </a:t>
            </a:r>
            <a:r>
              <a:rPr lang="en-US" sz="2000" b="1" dirty="0" err="1"/>
              <a:t>usando</a:t>
            </a:r>
            <a:r>
              <a:rPr lang="en-US" sz="2000" b="1" dirty="0"/>
              <a:t> las </a:t>
            </a:r>
            <a:r>
              <a:rPr lang="en-US" sz="2000" b="1" dirty="0" err="1"/>
              <a:t>instrucciones</a:t>
            </a:r>
            <a:r>
              <a:rPr lang="en-US" sz="2000" b="1" dirty="0"/>
              <a:t> del C5 con lo </a:t>
            </a:r>
            <a:r>
              <a:rPr lang="en-US" sz="2000" b="1" dirty="0" err="1"/>
              <a:t>aprendido</a:t>
            </a:r>
            <a:r>
              <a:rPr lang="en-US" sz="2000" b="1" dirty="0"/>
              <a:t> </a:t>
            </a:r>
            <a:r>
              <a:rPr lang="en-US" sz="2000" b="1" dirty="0" err="1"/>
              <a:t>en</a:t>
            </a:r>
            <a:r>
              <a:rPr lang="en-US" sz="2000" b="1" dirty="0"/>
              <a:t> </a:t>
            </a:r>
            <a:r>
              <a:rPr lang="en-US" sz="2000" b="1" dirty="0" err="1"/>
              <a:t>clases</a:t>
            </a:r>
            <a:r>
              <a:rPr lang="en-US" sz="2000" b="1" dirty="0"/>
              <a:t> </a:t>
            </a:r>
            <a:r>
              <a:rPr lang="en-US" sz="2000" b="1" dirty="0" err="1"/>
              <a:t>anteriores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1- </a:t>
            </a:r>
            <a:r>
              <a:rPr lang="en-US" sz="2000" b="1" dirty="0" err="1"/>
              <a:t>usando</a:t>
            </a:r>
            <a:r>
              <a:rPr lang="en-US" sz="2000" b="1" dirty="0"/>
              <a:t> la function replace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2- </a:t>
            </a:r>
            <a:r>
              <a:rPr lang="en-US" sz="2000" b="1" dirty="0" err="1"/>
              <a:t>usando</a:t>
            </a:r>
            <a:r>
              <a:rPr lang="en-US" sz="2000" b="1" dirty="0"/>
              <a:t> </a:t>
            </a:r>
            <a:r>
              <a:rPr lang="en-US" sz="2000" b="1" dirty="0" err="1"/>
              <a:t>una</a:t>
            </a:r>
            <a:r>
              <a:rPr lang="en-US" sz="2000" b="1" dirty="0"/>
              <a:t> </a:t>
            </a:r>
            <a:r>
              <a:rPr lang="en-US" sz="2000" b="1" dirty="0" err="1"/>
              <a:t>columna</a:t>
            </a:r>
            <a:r>
              <a:rPr lang="en-US" sz="2000" b="1" dirty="0"/>
              <a:t> </a:t>
            </a:r>
            <a:r>
              <a:rPr lang="en-US" sz="2000" b="1" dirty="0" err="1"/>
              <a:t>condicional</a:t>
            </a: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3- </a:t>
            </a:r>
            <a:r>
              <a:rPr lang="en-US" sz="2000" b="1" dirty="0" err="1"/>
              <a:t>usando</a:t>
            </a:r>
            <a:r>
              <a:rPr lang="en-US" sz="2000" b="1" dirty="0"/>
              <a:t> merge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highlight>
                  <a:srgbClr val="FFFF00"/>
                </a:highlight>
              </a:rPr>
              <a:t>El </a:t>
            </a:r>
            <a:r>
              <a:rPr lang="en-US" sz="2000" b="1" dirty="0" err="1">
                <a:highlight>
                  <a:srgbClr val="FFFF00"/>
                </a:highlight>
              </a:rPr>
              <a:t>objetivo</a:t>
            </a:r>
            <a:r>
              <a:rPr lang="en-US" sz="2000" b="1" dirty="0">
                <a:highlight>
                  <a:srgbClr val="FFFF00"/>
                </a:highlight>
              </a:rPr>
              <a:t> es </a:t>
            </a:r>
            <a:r>
              <a:rPr lang="en-US" sz="2000" b="1" dirty="0" err="1">
                <a:highlight>
                  <a:srgbClr val="FFFF00"/>
                </a:highlight>
              </a:rPr>
              <a:t>observar</a:t>
            </a:r>
            <a:r>
              <a:rPr lang="en-US" sz="2000" b="1" dirty="0">
                <a:highlight>
                  <a:srgbClr val="FFFF00"/>
                </a:highlight>
              </a:rPr>
              <a:t> las </a:t>
            </a:r>
            <a:r>
              <a:rPr lang="en-US" sz="2000" b="1" dirty="0" err="1">
                <a:highlight>
                  <a:srgbClr val="FFFF00"/>
                </a:highlight>
              </a:rPr>
              <a:t>ventajas</a:t>
            </a:r>
            <a:r>
              <a:rPr lang="en-US" sz="2000" b="1" dirty="0">
                <a:highlight>
                  <a:srgbClr val="FFFF00"/>
                </a:highlight>
              </a:rPr>
              <a:t> y </a:t>
            </a:r>
            <a:r>
              <a:rPr lang="en-US" sz="2000" b="1" dirty="0" err="1">
                <a:highlight>
                  <a:srgbClr val="FFFF00"/>
                </a:highlight>
              </a:rPr>
              <a:t>desventajas</a:t>
            </a:r>
            <a:r>
              <a:rPr lang="en-US" sz="2000" b="1" dirty="0">
                <a:highlight>
                  <a:srgbClr val="FFFF00"/>
                </a:highlight>
              </a:rPr>
              <a:t> de </a:t>
            </a:r>
            <a:r>
              <a:rPr lang="en-US" sz="2000" b="1" dirty="0" err="1">
                <a:highlight>
                  <a:srgbClr val="FFFF00"/>
                </a:highlight>
              </a:rPr>
              <a:t>cada</a:t>
            </a:r>
            <a:r>
              <a:rPr lang="en-US" sz="2000" b="1" dirty="0">
                <a:highlight>
                  <a:srgbClr val="FFFF00"/>
                </a:highlight>
              </a:rPr>
              <a:t> uno de los 3 </a:t>
            </a:r>
            <a:r>
              <a:rPr lang="en-US" sz="2000" b="1" dirty="0" err="1">
                <a:highlight>
                  <a:srgbClr val="FFFF00"/>
                </a:highlight>
              </a:rPr>
              <a:t>metodos</a:t>
            </a:r>
            <a:endParaRPr lang="en-US" sz="2000" b="1" dirty="0">
              <a:highlight>
                <a:srgbClr val="FFFF00"/>
              </a:highlight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0AFAD2-D2E3-DD1C-12CE-6BE77EB237C4}"/>
              </a:ext>
            </a:extLst>
          </p:cNvPr>
          <p:cNvSpPr txBox="1">
            <a:spLocks/>
          </p:cNvSpPr>
          <p:nvPr/>
        </p:nvSpPr>
        <p:spPr>
          <a:xfrm>
            <a:off x="129482" y="589004"/>
            <a:ext cx="2102972" cy="423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C5 </a:t>
            </a:r>
            <a:r>
              <a:rPr lang="en-US" sz="2000" b="1" dirty="0" err="1">
                <a:solidFill>
                  <a:srgbClr val="0070C0"/>
                </a:solidFill>
              </a:rPr>
              <a:t>datos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244F6C-F392-0075-E1D1-35DAFDACCA2F}"/>
              </a:ext>
            </a:extLst>
          </p:cNvPr>
          <p:cNvSpPr txBox="1">
            <a:spLocks/>
          </p:cNvSpPr>
          <p:nvPr/>
        </p:nvSpPr>
        <p:spPr>
          <a:xfrm>
            <a:off x="6509686" y="588453"/>
            <a:ext cx="2313037" cy="4236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 err="1">
                <a:solidFill>
                  <a:srgbClr val="0070C0"/>
                </a:solidFill>
              </a:rPr>
              <a:t>Practica</a:t>
            </a:r>
            <a:r>
              <a:rPr lang="en-US" sz="2000" b="1" dirty="0">
                <a:solidFill>
                  <a:srgbClr val="0070C0"/>
                </a:solidFill>
              </a:rPr>
              <a:t> individual</a:t>
            </a:r>
          </a:p>
        </p:txBody>
      </p:sp>
    </p:spTree>
    <p:extLst>
      <p:ext uri="{BB962C8B-B14F-4D97-AF65-F5344CB8AC3E}">
        <p14:creationId xmlns:p14="http://schemas.microsoft.com/office/powerpoint/2010/main" val="324808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5CB3-84E7-48B9-A354-205BB862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235007-BD5E-DA63-C3A9-5994B1AE2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32" y="155107"/>
            <a:ext cx="5125864" cy="13790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11- </a:t>
            </a:r>
            <a:r>
              <a:rPr lang="en-US" sz="2400" b="1" dirty="0" err="1"/>
              <a:t>Generar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tabla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</a:t>
            </a:r>
            <a:r>
              <a:rPr lang="en-US" sz="2400" b="1" dirty="0" err="1"/>
              <a:t>Powerbi</a:t>
            </a:r>
            <a:r>
              <a:rPr lang="en-US" sz="2400" b="1" dirty="0"/>
              <a:t> </a:t>
            </a:r>
            <a:r>
              <a:rPr lang="en-US" sz="2400" b="1" dirty="0" err="1"/>
              <a:t>llamada</a:t>
            </a:r>
            <a:r>
              <a:rPr lang="en-US" sz="2400" b="1" dirty="0"/>
              <a:t> “Ref” con los </a:t>
            </a:r>
            <a:r>
              <a:rPr lang="en-US" sz="2400" b="1" dirty="0" err="1"/>
              <a:t>codigos</a:t>
            </a:r>
            <a:r>
              <a:rPr lang="en-US" sz="2400" b="1" dirty="0"/>
              <a:t> y </a:t>
            </a:r>
            <a:r>
              <a:rPr lang="en-US" sz="2400" b="1" dirty="0" err="1"/>
              <a:t>significados</a:t>
            </a:r>
            <a:r>
              <a:rPr lang="en-US" sz="2400" b="1" dirty="0"/>
              <a:t> </a:t>
            </a:r>
            <a:r>
              <a:rPr lang="en-US" sz="2400" b="1" dirty="0" err="1"/>
              <a:t>usando</a:t>
            </a:r>
            <a:r>
              <a:rPr lang="en-US" sz="2400" b="1" dirty="0"/>
              <a:t> Enter Data, </a:t>
            </a:r>
            <a:r>
              <a:rPr lang="en-US" sz="2400" b="1" dirty="0" err="1"/>
              <a:t>despues</a:t>
            </a:r>
            <a:r>
              <a:rPr lang="en-US" sz="2400" b="1" dirty="0"/>
              <a:t> close </a:t>
            </a:r>
            <a:r>
              <a:rPr lang="en-US" sz="2400" b="1" dirty="0" err="1"/>
              <a:t>en</a:t>
            </a:r>
            <a:r>
              <a:rPr lang="en-US" sz="2400" b="1" dirty="0"/>
              <a:t> apply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913C81E-0E7E-53FD-B925-4C1484E82FB3}"/>
              </a:ext>
            </a:extLst>
          </p:cNvPr>
          <p:cNvSpPr txBox="1">
            <a:spLocks/>
          </p:cNvSpPr>
          <p:nvPr/>
        </p:nvSpPr>
        <p:spPr>
          <a:xfrm>
            <a:off x="6089851" y="155107"/>
            <a:ext cx="5553509" cy="12164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12- </a:t>
            </a:r>
            <a:r>
              <a:rPr lang="en-US" b="1" dirty="0" err="1"/>
              <a:t>Ir</a:t>
            </a:r>
            <a:r>
              <a:rPr lang="en-US" b="1" dirty="0"/>
              <a:t> a la vista </a:t>
            </a:r>
            <a:r>
              <a:rPr lang="en-US" b="1" dirty="0" err="1"/>
              <a:t>modelo</a:t>
            </a:r>
            <a:r>
              <a:rPr lang="en-US" b="1" dirty="0"/>
              <a:t> y </a:t>
            </a:r>
            <a:r>
              <a:rPr lang="en-US" b="1" dirty="0" err="1"/>
              <a:t>generar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relacion</a:t>
            </a:r>
            <a:r>
              <a:rPr lang="en-US" b="1" dirty="0"/>
              <a:t> entre la </a:t>
            </a:r>
            <a:r>
              <a:rPr lang="en-US" b="1" dirty="0" err="1"/>
              <a:t>columna</a:t>
            </a:r>
            <a:r>
              <a:rPr lang="en-US" b="1" dirty="0"/>
              <a:t> </a:t>
            </a:r>
            <a:r>
              <a:rPr lang="en-US" b="1" dirty="0" err="1"/>
              <a:t>arrantrando</a:t>
            </a:r>
            <a:r>
              <a:rPr lang="en-US" b="1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ECAE23-E31A-B3EB-74C2-0CA8CB49E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6" y="1812760"/>
            <a:ext cx="4665456" cy="337641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71B31D0-579B-C7FD-22EF-F21316C49211}"/>
              </a:ext>
            </a:extLst>
          </p:cNvPr>
          <p:cNvSpPr/>
          <p:nvPr/>
        </p:nvSpPr>
        <p:spPr>
          <a:xfrm>
            <a:off x="871482" y="2166888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07DBB-66AE-2DCF-CF49-DFBD8DFE5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240" y="1371600"/>
            <a:ext cx="4401605" cy="3015915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D86A56-4837-1473-DB2C-EEB46313EA62}"/>
              </a:ext>
            </a:extLst>
          </p:cNvPr>
          <p:cNvSpPr/>
          <p:nvPr/>
        </p:nvSpPr>
        <p:spPr>
          <a:xfrm>
            <a:off x="6039281" y="2533046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592FCE7-78BB-9403-1226-5D5557C77548}"/>
              </a:ext>
            </a:extLst>
          </p:cNvPr>
          <p:cNvSpPr/>
          <p:nvPr/>
        </p:nvSpPr>
        <p:spPr>
          <a:xfrm rot="18336787">
            <a:off x="8340735" y="3333460"/>
            <a:ext cx="679959" cy="346512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88D3931-A040-01E2-A8E1-EE975EAF65A1}"/>
              </a:ext>
            </a:extLst>
          </p:cNvPr>
          <p:cNvSpPr/>
          <p:nvPr/>
        </p:nvSpPr>
        <p:spPr>
          <a:xfrm rot="17289894">
            <a:off x="-89393" y="2920084"/>
            <a:ext cx="679959" cy="346512"/>
          </a:xfrm>
          <a:prstGeom prst="right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Recording 2026-02-15 095516">
            <a:hlinkClick r:id="" action="ppaction://media"/>
            <a:extLst>
              <a:ext uri="{FF2B5EF4-FFF2-40B4-BE49-F238E27FC236}">
                <a16:creationId xmlns:a16="http://schemas.microsoft.com/office/drawing/2014/main" id="{4BEDC086-1D26-39FD-F945-410086EE7B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126911" y="4466785"/>
            <a:ext cx="3479388" cy="217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2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33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AE8CC9-4869-BDA2-770C-AA3298EB9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95" y="2061474"/>
            <a:ext cx="5308707" cy="3168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6D550B-2B48-03AF-1410-EC7F1124A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991" y="1656003"/>
            <a:ext cx="5423593" cy="3545994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8E290AF-A6B5-4269-FF0F-2FAA6668EB20}"/>
              </a:ext>
            </a:extLst>
          </p:cNvPr>
          <p:cNvSpPr/>
          <p:nvPr/>
        </p:nvSpPr>
        <p:spPr>
          <a:xfrm rot="9977831">
            <a:off x="438346" y="2030530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F509CB6-2D5A-F45E-574E-EBBC7866ED55}"/>
              </a:ext>
            </a:extLst>
          </p:cNvPr>
          <p:cNvSpPr/>
          <p:nvPr/>
        </p:nvSpPr>
        <p:spPr>
          <a:xfrm rot="9977831">
            <a:off x="5026389" y="315527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B421A76-5714-9295-EE6F-DD7925BA9569}"/>
              </a:ext>
            </a:extLst>
          </p:cNvPr>
          <p:cNvSpPr/>
          <p:nvPr/>
        </p:nvSpPr>
        <p:spPr>
          <a:xfrm rot="5897422">
            <a:off x="3316066" y="383375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99D6AE0-D80E-D5AA-BF78-E28296F105EC}"/>
              </a:ext>
            </a:extLst>
          </p:cNvPr>
          <p:cNvSpPr/>
          <p:nvPr/>
        </p:nvSpPr>
        <p:spPr>
          <a:xfrm rot="15708700">
            <a:off x="11098326" y="3472561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2375E97-5AB8-3ED2-B314-D3AB168B6B4A}"/>
              </a:ext>
            </a:extLst>
          </p:cNvPr>
          <p:cNvSpPr/>
          <p:nvPr/>
        </p:nvSpPr>
        <p:spPr>
          <a:xfrm rot="15708700">
            <a:off x="9670578" y="3905698"/>
            <a:ext cx="679959" cy="34651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384B0B1-1917-4B67-5FFB-820ED2A2C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579" y="5815263"/>
            <a:ext cx="5050140" cy="926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0B0F0"/>
                </a:solidFill>
              </a:rPr>
              <a:t>Observar</a:t>
            </a:r>
            <a:r>
              <a:rPr lang="en-US" sz="1600" b="1" dirty="0">
                <a:solidFill>
                  <a:srgbClr val="00B0F0"/>
                </a:solidFill>
              </a:rPr>
              <a:t> que </a:t>
            </a:r>
            <a:r>
              <a:rPr lang="en-US" sz="1600" b="1" dirty="0" err="1">
                <a:solidFill>
                  <a:srgbClr val="00B0F0"/>
                </a:solidFill>
              </a:rPr>
              <a:t>debido</a:t>
            </a:r>
            <a:r>
              <a:rPr lang="en-US" sz="1600" b="1" dirty="0">
                <a:solidFill>
                  <a:srgbClr val="00B0F0"/>
                </a:solidFill>
              </a:rPr>
              <a:t> a la </a:t>
            </a:r>
            <a:r>
              <a:rPr lang="en-US" sz="1600" b="1" dirty="0" err="1">
                <a:solidFill>
                  <a:srgbClr val="00B0F0"/>
                </a:solidFill>
              </a:rPr>
              <a:t>relacion</a:t>
            </a:r>
            <a:r>
              <a:rPr lang="en-US" sz="1600" b="1" dirty="0">
                <a:solidFill>
                  <a:srgbClr val="00B0F0"/>
                </a:solidFill>
              </a:rPr>
              <a:t> </a:t>
            </a:r>
            <a:r>
              <a:rPr lang="en-US" sz="1600" b="1" dirty="0" err="1">
                <a:solidFill>
                  <a:srgbClr val="00B0F0"/>
                </a:solidFill>
              </a:rPr>
              <a:t>generada</a:t>
            </a:r>
            <a:r>
              <a:rPr lang="en-US" sz="1600" b="1" dirty="0">
                <a:solidFill>
                  <a:srgbClr val="00B0F0"/>
                </a:solidFill>
              </a:rPr>
              <a:t> entre las </a:t>
            </a:r>
            <a:r>
              <a:rPr lang="en-US" sz="1600" b="1" dirty="0" err="1">
                <a:solidFill>
                  <a:srgbClr val="00B0F0"/>
                </a:solidFill>
              </a:rPr>
              <a:t>tablas</a:t>
            </a:r>
            <a:r>
              <a:rPr lang="en-US" sz="1600" b="1" dirty="0">
                <a:solidFill>
                  <a:srgbClr val="00B0F0"/>
                </a:solidFill>
              </a:rPr>
              <a:t> se </a:t>
            </a:r>
            <a:r>
              <a:rPr lang="en-US" sz="1600" b="1" dirty="0" err="1">
                <a:solidFill>
                  <a:srgbClr val="00B0F0"/>
                </a:solidFill>
              </a:rPr>
              <a:t>puede</a:t>
            </a:r>
            <a:r>
              <a:rPr lang="en-US" sz="1600" b="1" dirty="0">
                <a:solidFill>
                  <a:srgbClr val="00B0F0"/>
                </a:solidFill>
              </a:rPr>
              <a:t> usar </a:t>
            </a:r>
            <a:r>
              <a:rPr lang="en-US" sz="1600" b="1" dirty="0" err="1">
                <a:solidFill>
                  <a:srgbClr val="00B0F0"/>
                </a:solidFill>
              </a:rPr>
              <a:t>columnas</a:t>
            </a:r>
            <a:r>
              <a:rPr lang="en-US" sz="1600" b="1" dirty="0">
                <a:solidFill>
                  <a:srgbClr val="00B0F0"/>
                </a:solidFill>
              </a:rPr>
              <a:t> de ambas </a:t>
            </a:r>
            <a:r>
              <a:rPr lang="en-US" sz="1600" b="1" dirty="0" err="1">
                <a:solidFill>
                  <a:srgbClr val="00B0F0"/>
                </a:solidFill>
              </a:rPr>
              <a:t>tablas</a:t>
            </a:r>
            <a:r>
              <a:rPr lang="en-US" sz="1600" b="1" dirty="0">
                <a:solidFill>
                  <a:srgbClr val="00B0F0"/>
                </a:solidFill>
              </a:rPr>
              <a:t> sin </a:t>
            </a:r>
            <a:r>
              <a:rPr lang="en-US" sz="1600" b="1" dirty="0" err="1">
                <a:solidFill>
                  <a:srgbClr val="00B0F0"/>
                </a:solidFill>
              </a:rPr>
              <a:t>problemas</a:t>
            </a:r>
            <a:r>
              <a:rPr lang="en-US" sz="1600" b="1" dirty="0">
                <a:solidFill>
                  <a:srgbClr val="00B0F0"/>
                </a:solidFill>
              </a:rPr>
              <a:t> similar a un </a:t>
            </a:r>
            <a:r>
              <a:rPr lang="en-US" sz="1600" b="1" dirty="0" err="1">
                <a:solidFill>
                  <a:srgbClr val="00B0F0"/>
                </a:solidFill>
              </a:rPr>
              <a:t>filtro</a:t>
            </a:r>
            <a:r>
              <a:rPr lang="en-US" sz="1600" b="1" dirty="0">
                <a:solidFill>
                  <a:srgbClr val="00B0F0"/>
                </a:solidFill>
              </a:rPr>
              <a:t> o </a:t>
            </a:r>
            <a:r>
              <a:rPr lang="en-US" sz="1600" b="1" dirty="0" err="1">
                <a:solidFill>
                  <a:srgbClr val="00B0F0"/>
                </a:solidFill>
              </a:rPr>
              <a:t>vlookup</a:t>
            </a:r>
            <a:endParaRPr lang="en-US" sz="1600" b="1" dirty="0">
              <a:solidFill>
                <a:srgbClr val="00B0F0"/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D6D2B54-1D5B-5BF9-05BF-71E15431CFB8}"/>
              </a:ext>
            </a:extLst>
          </p:cNvPr>
          <p:cNvSpPr txBox="1">
            <a:spLocks/>
          </p:cNvSpPr>
          <p:nvPr/>
        </p:nvSpPr>
        <p:spPr>
          <a:xfrm>
            <a:off x="240632" y="307507"/>
            <a:ext cx="5125864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13- </a:t>
            </a:r>
            <a:r>
              <a:rPr lang="en-US" sz="2400" b="1" dirty="0" err="1"/>
              <a:t>Regresar</a:t>
            </a:r>
            <a:r>
              <a:rPr lang="en-US" sz="2400" b="1" dirty="0"/>
              <a:t> a la vista de </a:t>
            </a:r>
            <a:r>
              <a:rPr lang="en-US" sz="2400" b="1" dirty="0" err="1"/>
              <a:t>reporte</a:t>
            </a:r>
            <a:r>
              <a:rPr lang="en-US" sz="2400" b="1" dirty="0"/>
              <a:t>, </a:t>
            </a:r>
            <a:r>
              <a:rPr lang="en-US" sz="2400" b="1" dirty="0" err="1"/>
              <a:t>agregar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card con el </a:t>
            </a:r>
            <a:r>
              <a:rPr lang="en-US" sz="2400" b="1" dirty="0" err="1"/>
              <a:t>conteo</a:t>
            </a:r>
            <a:r>
              <a:rPr lang="en-US" sz="2400" b="1" dirty="0"/>
              <a:t> de la </a:t>
            </a:r>
            <a:r>
              <a:rPr lang="en-US" sz="2400" b="1" dirty="0" err="1"/>
              <a:t>columna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[folio]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84BD8B-6D7C-8ECC-1577-F60624C377A3}"/>
              </a:ext>
            </a:extLst>
          </p:cNvPr>
          <p:cNvSpPr txBox="1">
            <a:spLocks/>
          </p:cNvSpPr>
          <p:nvPr/>
        </p:nvSpPr>
        <p:spPr>
          <a:xfrm>
            <a:off x="6774255" y="429350"/>
            <a:ext cx="5125864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14- </a:t>
            </a:r>
            <a:r>
              <a:rPr lang="en-US" sz="2400" b="1" dirty="0" err="1"/>
              <a:t>Agregar</a:t>
            </a:r>
            <a:r>
              <a:rPr lang="en-US" sz="2400" b="1" dirty="0"/>
              <a:t> un slicer con la </a:t>
            </a:r>
            <a:r>
              <a:rPr lang="en-US" sz="2400" b="1" dirty="0" err="1"/>
              <a:t>columna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[</a:t>
            </a:r>
            <a:r>
              <a:rPr lang="en-US" sz="2400" b="1" dirty="0" err="1">
                <a:solidFill>
                  <a:srgbClr val="0070C0"/>
                </a:solidFill>
              </a:rPr>
              <a:t>Significado</a:t>
            </a:r>
            <a:r>
              <a:rPr lang="en-US" sz="2400" b="1" dirty="0">
                <a:solidFill>
                  <a:srgbClr val="0070C0"/>
                </a:solidFill>
              </a:rPr>
              <a:t>] </a:t>
            </a:r>
            <a:r>
              <a:rPr lang="en-US" sz="2400" b="1" dirty="0"/>
              <a:t>de la table “Ref”</a:t>
            </a:r>
          </a:p>
        </p:txBody>
      </p:sp>
    </p:spTree>
    <p:extLst>
      <p:ext uri="{BB962C8B-B14F-4D97-AF65-F5344CB8AC3E}">
        <p14:creationId xmlns:p14="http://schemas.microsoft.com/office/powerpoint/2010/main" val="1507195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55379F-5BC1-3323-9B7A-CEE43215A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13" y="2045713"/>
            <a:ext cx="5608806" cy="40084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1B3F6D-8FBC-1E55-3C08-C7A451FA3B3C}"/>
              </a:ext>
            </a:extLst>
          </p:cNvPr>
          <p:cNvSpPr txBox="1">
            <a:spLocks/>
          </p:cNvSpPr>
          <p:nvPr/>
        </p:nvSpPr>
        <p:spPr>
          <a:xfrm>
            <a:off x="5173579" y="353418"/>
            <a:ext cx="6849530" cy="13790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16- </a:t>
            </a:r>
            <a:r>
              <a:rPr lang="en-US" sz="2400" b="1" dirty="0" err="1"/>
              <a:t>Llenar</a:t>
            </a:r>
            <a:r>
              <a:rPr lang="en-US" sz="2400" b="1" dirty="0"/>
              <a:t> “</a:t>
            </a:r>
            <a:r>
              <a:rPr lang="en-US" sz="2400" b="1" dirty="0" err="1"/>
              <a:t>Locacion</a:t>
            </a:r>
            <a:r>
              <a:rPr lang="en-US" sz="2400" b="1" dirty="0"/>
              <a:t>” con el campo [</a:t>
            </a:r>
            <a:r>
              <a:rPr lang="en-US" sz="2400" b="1" dirty="0" err="1"/>
              <a:t>alcaldia_catalogo</a:t>
            </a:r>
            <a:r>
              <a:rPr lang="en-US" sz="2400" b="1" dirty="0"/>
              <a:t>] y el “Buble size/ size”, observer la </a:t>
            </a:r>
            <a:r>
              <a:rPr lang="en-US" sz="2400" b="1" dirty="0" err="1"/>
              <a:t>distribucion</a:t>
            </a:r>
            <a:r>
              <a:rPr lang="en-US" sz="2400" b="1" dirty="0"/>
              <a:t> de las </a:t>
            </a:r>
            <a:r>
              <a:rPr lang="en-US" sz="2400" b="1" dirty="0" err="1"/>
              <a:t>burbujas</a:t>
            </a:r>
            <a:r>
              <a:rPr lang="en-US" sz="2400" b="1" dirty="0"/>
              <a:t>, </a:t>
            </a:r>
            <a:r>
              <a:rPr lang="en-US" sz="2400" b="1" dirty="0" err="1"/>
              <a:t>observar</a:t>
            </a:r>
            <a:r>
              <a:rPr lang="en-US" sz="2400" b="1" dirty="0"/>
              <a:t> las “Venustiano Carranza” que se </a:t>
            </a:r>
            <a:r>
              <a:rPr lang="en-US" sz="2400" b="1" dirty="0" err="1"/>
              <a:t>observa</a:t>
            </a:r>
            <a:r>
              <a:rPr lang="en-US" sz="2400" b="1" dirty="0"/>
              <a:t> fuera de CDMX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C4DCC-003D-585B-4AC0-2755D170F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77" y="2674525"/>
            <a:ext cx="1684166" cy="217950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F4B277-2142-B36C-EC5B-DF216743EA7D}"/>
              </a:ext>
            </a:extLst>
          </p:cNvPr>
          <p:cNvSpPr txBox="1">
            <a:spLocks/>
          </p:cNvSpPr>
          <p:nvPr/>
        </p:nvSpPr>
        <p:spPr>
          <a:xfrm>
            <a:off x="363295" y="551270"/>
            <a:ext cx="3487345" cy="137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15- </a:t>
            </a:r>
            <a:r>
              <a:rPr lang="en-US" sz="2400" b="1" dirty="0" err="1"/>
              <a:t>Agregar</a:t>
            </a:r>
            <a:r>
              <a:rPr lang="en-US" sz="2400" b="1" dirty="0"/>
              <a:t> el “Map” o </a:t>
            </a:r>
            <a:r>
              <a:rPr lang="en-US" sz="2400" b="1" dirty="0" err="1"/>
              <a:t>un“Azure</a:t>
            </a:r>
            <a:r>
              <a:rPr lang="en-US" sz="2400" b="1" dirty="0"/>
              <a:t> Map”</a:t>
            </a:r>
          </a:p>
        </p:txBody>
      </p:sp>
    </p:spTree>
    <p:extLst>
      <p:ext uri="{BB962C8B-B14F-4D97-AF65-F5344CB8AC3E}">
        <p14:creationId xmlns:p14="http://schemas.microsoft.com/office/powerpoint/2010/main" val="3913378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F1568-2E7B-592D-0E9E-6DBAAFEC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21FB57-E697-1076-A9F6-2A32ADEAE6B4}"/>
              </a:ext>
            </a:extLst>
          </p:cNvPr>
          <p:cNvSpPr txBox="1">
            <a:spLocks/>
          </p:cNvSpPr>
          <p:nvPr/>
        </p:nvSpPr>
        <p:spPr>
          <a:xfrm>
            <a:off x="601579" y="361439"/>
            <a:ext cx="4211053" cy="19245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17- Hacer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copia</a:t>
            </a:r>
            <a:r>
              <a:rPr lang="en-US" sz="2400" b="1" dirty="0"/>
              <a:t> del </a:t>
            </a:r>
            <a:r>
              <a:rPr lang="en-US" sz="2400" b="1" dirty="0" err="1"/>
              <a:t>mapa</a:t>
            </a:r>
            <a:r>
              <a:rPr lang="en-US" sz="2400" b="1" dirty="0"/>
              <a:t> </a:t>
            </a:r>
            <a:r>
              <a:rPr lang="en-US" sz="2400" b="1" dirty="0" err="1"/>
              <a:t>quitar</a:t>
            </a:r>
            <a:r>
              <a:rPr lang="en-US" sz="2400" b="1" dirty="0"/>
              <a:t> la </a:t>
            </a:r>
            <a:r>
              <a:rPr lang="en-US" sz="2400" b="1" dirty="0" err="1"/>
              <a:t>locacion</a:t>
            </a:r>
            <a:r>
              <a:rPr lang="en-US" sz="2400" b="1" dirty="0"/>
              <a:t> [</a:t>
            </a:r>
            <a:r>
              <a:rPr lang="en-US" sz="2400" b="1" dirty="0" err="1"/>
              <a:t>alcaldia_catalogo</a:t>
            </a:r>
            <a:r>
              <a:rPr lang="en-US" sz="2400" b="1" dirty="0"/>
              <a:t>] y </a:t>
            </a:r>
            <a:r>
              <a:rPr lang="en-US" sz="2400" b="1" dirty="0" err="1"/>
              <a:t>colocar</a:t>
            </a:r>
            <a:r>
              <a:rPr lang="en-US" sz="2400" b="1" dirty="0"/>
              <a:t> los campos </a:t>
            </a:r>
            <a:r>
              <a:rPr lang="en-US" sz="2400" b="1" dirty="0" err="1"/>
              <a:t>en</a:t>
            </a:r>
            <a:r>
              <a:rPr lang="en-US" sz="2400" b="1" dirty="0"/>
              <a:t> latitude y </a:t>
            </a:r>
            <a:r>
              <a:rPr lang="en-US" sz="2400" b="1" dirty="0" err="1"/>
              <a:t>longitud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sus </a:t>
            </a:r>
            <a:r>
              <a:rPr lang="en-US" sz="2400" b="1" dirty="0" err="1"/>
              <a:t>respectivos</a:t>
            </a:r>
            <a:r>
              <a:rPr lang="en-US" sz="2400" b="1" dirty="0"/>
              <a:t> </a:t>
            </a:r>
            <a:r>
              <a:rPr lang="en-US" sz="2400" b="1" dirty="0" err="1"/>
              <a:t>espacios</a:t>
            </a: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B095A-9157-28B4-6FF2-7E9E8BA0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2" y="2189256"/>
            <a:ext cx="4677441" cy="280892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6F75DC-9892-E430-91B5-F248F5A43B0C}"/>
              </a:ext>
            </a:extLst>
          </p:cNvPr>
          <p:cNvSpPr txBox="1">
            <a:spLocks/>
          </p:cNvSpPr>
          <p:nvPr/>
        </p:nvSpPr>
        <p:spPr>
          <a:xfrm>
            <a:off x="6096000" y="361439"/>
            <a:ext cx="5229726" cy="1547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18- En la </a:t>
            </a:r>
            <a:r>
              <a:rPr lang="en-US" sz="2400" b="1" dirty="0" err="1"/>
              <a:t>columna</a:t>
            </a:r>
            <a:r>
              <a:rPr lang="en-US" sz="2400" b="1" dirty="0"/>
              <a:t> [</a:t>
            </a:r>
            <a:r>
              <a:rPr lang="en-US" sz="2400" b="1" dirty="0" err="1"/>
              <a:t>alcaldia_catalogo</a:t>
            </a:r>
            <a:r>
              <a:rPr lang="en-US" sz="2400" b="1" dirty="0"/>
              <a:t>] </a:t>
            </a:r>
            <a:r>
              <a:rPr lang="en-US" sz="2400" b="1" dirty="0" err="1"/>
              <a:t>agregar</a:t>
            </a:r>
            <a:r>
              <a:rPr lang="en-US" sz="2400" b="1" dirty="0"/>
              <a:t> un </a:t>
            </a:r>
            <a:r>
              <a:rPr lang="en-US" sz="2400" b="1" dirty="0" err="1"/>
              <a:t>sufijo</a:t>
            </a:r>
            <a:r>
              <a:rPr lang="en-US" sz="2400" b="1" dirty="0"/>
              <a:t> ( ,CMDX) para </a:t>
            </a:r>
            <a:r>
              <a:rPr lang="en-US" sz="2400" b="1" dirty="0" err="1"/>
              <a:t>corregir</a:t>
            </a:r>
            <a:r>
              <a:rPr lang="en-US" sz="2400" b="1" dirty="0"/>
              <a:t> los </a:t>
            </a:r>
            <a:r>
              <a:rPr lang="en-US" sz="2400" b="1" dirty="0" err="1"/>
              <a:t>errores</a:t>
            </a:r>
            <a:endParaRPr lang="en-US" sz="2400" b="1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F096B-B790-5DE9-580E-148AE8AC9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397"/>
          <a:stretch/>
        </p:blipFill>
        <p:spPr>
          <a:xfrm>
            <a:off x="7176566" y="1715915"/>
            <a:ext cx="2793603" cy="280892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FD96629-950A-7461-37A8-C6A3B22FC3D8}"/>
              </a:ext>
            </a:extLst>
          </p:cNvPr>
          <p:cNvSpPr/>
          <p:nvPr/>
        </p:nvSpPr>
        <p:spPr>
          <a:xfrm>
            <a:off x="9488905" y="1770507"/>
            <a:ext cx="513348" cy="595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CDD56A-7AED-8546-B0AE-207266764E74}"/>
              </a:ext>
            </a:extLst>
          </p:cNvPr>
          <p:cNvSpPr/>
          <p:nvPr/>
        </p:nvSpPr>
        <p:spPr>
          <a:xfrm>
            <a:off x="8573366" y="3429000"/>
            <a:ext cx="1027833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D3E400D-B590-9030-A6B3-39D71DBFC22B}"/>
              </a:ext>
            </a:extLst>
          </p:cNvPr>
          <p:cNvSpPr txBox="1">
            <a:spLocks/>
          </p:cNvSpPr>
          <p:nvPr/>
        </p:nvSpPr>
        <p:spPr>
          <a:xfrm>
            <a:off x="152400" y="5590673"/>
            <a:ext cx="5398168" cy="95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</a:rPr>
              <a:t>Nota: observer que </a:t>
            </a:r>
            <a:r>
              <a:rPr lang="en-US" sz="1400" b="1" dirty="0" err="1">
                <a:solidFill>
                  <a:srgbClr val="0070C0"/>
                </a:solidFill>
              </a:rPr>
              <a:t>cuando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usas</a:t>
            </a:r>
            <a:r>
              <a:rPr lang="en-US" sz="1400" b="1" dirty="0">
                <a:solidFill>
                  <a:srgbClr val="0070C0"/>
                </a:solidFill>
              </a:rPr>
              <a:t> las </a:t>
            </a:r>
            <a:r>
              <a:rPr lang="en-US" sz="1400" b="1" dirty="0" err="1">
                <a:solidFill>
                  <a:srgbClr val="0070C0"/>
                </a:solidFill>
              </a:rPr>
              <a:t>coordenadas</a:t>
            </a:r>
            <a:r>
              <a:rPr lang="en-US" sz="1400" b="1" dirty="0">
                <a:solidFill>
                  <a:srgbClr val="0070C0"/>
                </a:solidFill>
              </a:rPr>
              <a:t> se genera un punto </a:t>
            </a:r>
            <a:r>
              <a:rPr lang="en-US" sz="1400" b="1" dirty="0" err="1">
                <a:solidFill>
                  <a:srgbClr val="0070C0"/>
                </a:solidFill>
              </a:rPr>
              <a:t>por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cada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incidente</a:t>
            </a:r>
            <a:r>
              <a:rPr lang="en-US" sz="1400" b="1" dirty="0">
                <a:solidFill>
                  <a:srgbClr val="0070C0"/>
                </a:solidFill>
              </a:rPr>
              <a:t> lo que no </a:t>
            </a:r>
            <a:r>
              <a:rPr lang="en-US" sz="1400" b="1" dirty="0" err="1">
                <a:solidFill>
                  <a:srgbClr val="0070C0"/>
                </a:solidFill>
              </a:rPr>
              <a:t>ayuda</a:t>
            </a:r>
            <a:r>
              <a:rPr lang="en-US" sz="1400" b="1" dirty="0">
                <a:solidFill>
                  <a:srgbClr val="0070C0"/>
                </a:solidFill>
              </a:rPr>
              <a:t> tanto al </a:t>
            </a:r>
            <a:r>
              <a:rPr lang="en-US" sz="1400" b="1" dirty="0" err="1">
                <a:solidFill>
                  <a:srgbClr val="0070C0"/>
                </a:solidFill>
              </a:rPr>
              <a:t>analisis</a:t>
            </a:r>
            <a:r>
              <a:rPr lang="en-US" sz="1400" b="1" dirty="0">
                <a:solidFill>
                  <a:srgbClr val="0070C0"/>
                </a:solidFill>
              </a:rPr>
              <a:t> de las </a:t>
            </a:r>
            <a:r>
              <a:rPr lang="en-US" sz="1400" b="1" dirty="0" err="1">
                <a:solidFill>
                  <a:srgbClr val="0070C0"/>
                </a:solidFill>
              </a:rPr>
              <a:t>alcaldias</a:t>
            </a:r>
            <a:endParaRPr lang="en-US" sz="1400" b="1" dirty="0">
              <a:solidFill>
                <a:srgbClr val="0070C0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1ADA9B3-4D31-12F8-7BE6-CECE85C924A9}"/>
              </a:ext>
            </a:extLst>
          </p:cNvPr>
          <p:cNvSpPr txBox="1">
            <a:spLocks/>
          </p:cNvSpPr>
          <p:nvPr/>
        </p:nvSpPr>
        <p:spPr>
          <a:xfrm>
            <a:off x="6516535" y="5590673"/>
            <a:ext cx="5398168" cy="955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</a:rPr>
              <a:t>Al </a:t>
            </a:r>
            <a:r>
              <a:rPr lang="en-US" sz="1400" b="1" dirty="0" err="1">
                <a:solidFill>
                  <a:srgbClr val="0070C0"/>
                </a:solidFill>
              </a:rPr>
              <a:t>agegar</a:t>
            </a:r>
            <a:r>
              <a:rPr lang="en-US" sz="1400" b="1" dirty="0">
                <a:solidFill>
                  <a:srgbClr val="0070C0"/>
                </a:solidFill>
              </a:rPr>
              <a:t> el </a:t>
            </a:r>
            <a:r>
              <a:rPr lang="en-US" sz="1400" b="1" dirty="0" err="1">
                <a:solidFill>
                  <a:srgbClr val="0070C0"/>
                </a:solidFill>
              </a:rPr>
              <a:t>sufijo</a:t>
            </a:r>
            <a:r>
              <a:rPr lang="en-US" sz="1400" b="1" dirty="0">
                <a:solidFill>
                  <a:srgbClr val="0070C0"/>
                </a:solidFill>
              </a:rPr>
              <a:t> se </a:t>
            </a:r>
            <a:r>
              <a:rPr lang="en-US" sz="1400" b="1" dirty="0" err="1">
                <a:solidFill>
                  <a:srgbClr val="0070C0"/>
                </a:solidFill>
              </a:rPr>
              <a:t>agrega</a:t>
            </a:r>
            <a:r>
              <a:rPr lang="en-US" sz="1400" b="1" dirty="0">
                <a:solidFill>
                  <a:srgbClr val="0070C0"/>
                </a:solidFill>
              </a:rPr>
              <a:t> mas </a:t>
            </a:r>
            <a:r>
              <a:rPr lang="en-US" sz="1400" b="1" dirty="0" err="1">
                <a:solidFill>
                  <a:srgbClr val="0070C0"/>
                </a:solidFill>
              </a:rPr>
              <a:t>detalle</a:t>
            </a:r>
            <a:r>
              <a:rPr lang="en-US" sz="1400" b="1" dirty="0">
                <a:solidFill>
                  <a:srgbClr val="0070C0"/>
                </a:solidFill>
              </a:rPr>
              <a:t> a la </a:t>
            </a:r>
            <a:r>
              <a:rPr lang="en-US" sz="1400" b="1" dirty="0" err="1">
                <a:solidFill>
                  <a:srgbClr val="0070C0"/>
                </a:solidFill>
              </a:rPr>
              <a:t>locacion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evitando</a:t>
            </a:r>
            <a:r>
              <a:rPr lang="en-US" sz="1400" b="1" dirty="0">
                <a:solidFill>
                  <a:srgbClr val="0070C0"/>
                </a:solidFill>
              </a:rPr>
              <a:t> que </a:t>
            </a:r>
            <a:r>
              <a:rPr lang="en-US" sz="1400" b="1" dirty="0" err="1">
                <a:solidFill>
                  <a:srgbClr val="0070C0"/>
                </a:solidFill>
              </a:rPr>
              <a:t>si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existen</a:t>
            </a:r>
            <a:r>
              <a:rPr lang="en-US" sz="1400" b="1" dirty="0">
                <a:solidFill>
                  <a:srgbClr val="0070C0"/>
                </a:solidFill>
              </a:rPr>
              <a:t> mas </a:t>
            </a:r>
            <a:r>
              <a:rPr lang="en-US" sz="1400" b="1" dirty="0" err="1">
                <a:solidFill>
                  <a:srgbClr val="0070C0"/>
                </a:solidFill>
              </a:rPr>
              <a:t>ubicaciones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en</a:t>
            </a:r>
            <a:r>
              <a:rPr lang="en-US" sz="1400" b="1" dirty="0">
                <a:solidFill>
                  <a:srgbClr val="0070C0"/>
                </a:solidFill>
              </a:rPr>
              <a:t> el </a:t>
            </a:r>
            <a:r>
              <a:rPr lang="en-US" sz="1400" b="1" dirty="0" err="1">
                <a:solidFill>
                  <a:srgbClr val="0070C0"/>
                </a:solidFill>
              </a:rPr>
              <a:t>mundo</a:t>
            </a:r>
            <a:r>
              <a:rPr lang="en-US" sz="1400" b="1" dirty="0">
                <a:solidFill>
                  <a:srgbClr val="0070C0"/>
                </a:solidFill>
              </a:rPr>
              <a:t> con el </a:t>
            </a:r>
            <a:r>
              <a:rPr lang="en-US" sz="1400" b="1" dirty="0" err="1">
                <a:solidFill>
                  <a:srgbClr val="0070C0"/>
                </a:solidFill>
              </a:rPr>
              <a:t>mismo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nombre</a:t>
            </a:r>
            <a:r>
              <a:rPr lang="en-US" sz="1400" b="1" dirty="0">
                <a:solidFill>
                  <a:srgbClr val="0070C0"/>
                </a:solidFill>
              </a:rPr>
              <a:t> el </a:t>
            </a:r>
            <a:r>
              <a:rPr lang="en-US" sz="1400" b="1" dirty="0" err="1">
                <a:solidFill>
                  <a:srgbClr val="0070C0"/>
                </a:solidFill>
              </a:rPr>
              <a:t>mapa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muestre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err="1">
                <a:solidFill>
                  <a:srgbClr val="0070C0"/>
                </a:solidFill>
              </a:rPr>
              <a:t>errores</a:t>
            </a:r>
            <a:endParaRPr lang="en-US" sz="1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47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796F59-094C-0BA7-909B-A8E533857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9" y="1587930"/>
            <a:ext cx="4722664" cy="98431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84B6F8-50A1-367A-1E80-7DDEBD7DC86C}"/>
              </a:ext>
            </a:extLst>
          </p:cNvPr>
          <p:cNvSpPr txBox="1">
            <a:spLocks/>
          </p:cNvSpPr>
          <p:nvPr/>
        </p:nvSpPr>
        <p:spPr>
          <a:xfrm>
            <a:off x="601579" y="457454"/>
            <a:ext cx="4283242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19- </a:t>
            </a:r>
            <a:r>
              <a:rPr lang="en-US" sz="2400" b="1" dirty="0" err="1"/>
              <a:t>Generar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measure con el </a:t>
            </a:r>
            <a:r>
              <a:rPr lang="en-US" sz="2400" b="1" dirty="0" err="1"/>
              <a:t>nombre</a:t>
            </a:r>
            <a:r>
              <a:rPr lang="en-US" sz="2400" b="1" dirty="0"/>
              <a:t> </a:t>
            </a:r>
            <a:r>
              <a:rPr lang="en-US" sz="2400" b="1" dirty="0" err="1"/>
              <a:t>AvrgIncidents</a:t>
            </a:r>
            <a:r>
              <a:rPr lang="en-US" sz="2400" b="1" dirty="0"/>
              <a:t> con valor de 125,000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377BBC-A930-BBB3-1006-E913F7518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627" y="1213252"/>
            <a:ext cx="4369412" cy="27179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D956CA-6807-A96F-546A-5D3013A53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49" y="4233894"/>
            <a:ext cx="5650258" cy="2468305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840D107-9ADF-D350-FA20-495E71C3E7E3}"/>
              </a:ext>
            </a:extLst>
          </p:cNvPr>
          <p:cNvSpPr txBox="1">
            <a:spLocks/>
          </p:cNvSpPr>
          <p:nvPr/>
        </p:nvSpPr>
        <p:spPr>
          <a:xfrm>
            <a:off x="489818" y="2910912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20- </a:t>
            </a:r>
            <a:r>
              <a:rPr lang="en-US" sz="2400" b="1" dirty="0" err="1"/>
              <a:t>Insertar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grafica</a:t>
            </a:r>
            <a:r>
              <a:rPr lang="en-US" sz="2400" b="1" dirty="0"/>
              <a:t> de barras con </a:t>
            </a:r>
            <a:r>
              <a:rPr lang="en-US" sz="2400" b="1" dirty="0" err="1"/>
              <a:t>lineas</a:t>
            </a:r>
            <a:r>
              <a:rPr lang="en-US" sz="2400" b="1" dirty="0"/>
              <a:t> </a:t>
            </a:r>
            <a:r>
              <a:rPr lang="en-US" sz="2400" b="1" dirty="0" err="1"/>
              <a:t>colocando</a:t>
            </a:r>
            <a:r>
              <a:rPr lang="en-US" sz="2400" b="1" dirty="0"/>
              <a:t> los campos de la imagen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4FAA683-1186-BEAA-BBE6-7572C5BBCC89}"/>
              </a:ext>
            </a:extLst>
          </p:cNvPr>
          <p:cNvSpPr txBox="1">
            <a:spLocks/>
          </p:cNvSpPr>
          <p:nvPr/>
        </p:nvSpPr>
        <p:spPr>
          <a:xfrm>
            <a:off x="6859682" y="233781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21- </a:t>
            </a:r>
            <a:r>
              <a:rPr lang="en-US" sz="2400" b="1" dirty="0" err="1"/>
              <a:t>crear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funcion</a:t>
            </a:r>
            <a:r>
              <a:rPr lang="en-US" sz="2400" b="1" dirty="0"/>
              <a:t> para que las barras </a:t>
            </a:r>
            <a:r>
              <a:rPr lang="en-US" sz="2400" b="1" dirty="0" err="1"/>
              <a:t>cambien</a:t>
            </a:r>
            <a:r>
              <a:rPr lang="en-US" sz="2400" b="1" dirty="0"/>
              <a:t> de color de </a:t>
            </a:r>
            <a:r>
              <a:rPr lang="en-US" sz="2400" b="1" dirty="0" err="1"/>
              <a:t>acuerdo</a:t>
            </a:r>
            <a:r>
              <a:rPr lang="en-US" sz="2400" b="1" dirty="0"/>
              <a:t> al valor </a:t>
            </a:r>
            <a:r>
              <a:rPr lang="en-US" sz="2400" b="1" dirty="0" err="1"/>
              <a:t>promedio</a:t>
            </a:r>
            <a:endParaRPr lang="en-US" sz="24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13CDA2-8BED-1AF7-C247-49DB6EEF4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076" y="4596063"/>
            <a:ext cx="4825907" cy="183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40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71DB-2C09-587E-D9FD-0A949493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15A578-90F8-396E-E50A-D04A9AF6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372669"/>
            <a:ext cx="5125988" cy="2983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25B7E8-1B5C-E47E-8733-E753B03B5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8" y="984475"/>
            <a:ext cx="4568948" cy="1732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D96F0A-3E09-F38A-FFDE-4C9F4F959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580" y="4265048"/>
            <a:ext cx="3894157" cy="22252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5EC992-C871-D6DD-D482-D1E2468D54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410" b="16889"/>
          <a:stretch/>
        </p:blipFill>
        <p:spPr>
          <a:xfrm>
            <a:off x="721359" y="4184833"/>
            <a:ext cx="2141591" cy="227948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308398E-6433-2206-73FF-A1D47D600A5D}"/>
              </a:ext>
            </a:extLst>
          </p:cNvPr>
          <p:cNvSpPr/>
          <p:nvPr/>
        </p:nvSpPr>
        <p:spPr>
          <a:xfrm>
            <a:off x="2238703" y="6198249"/>
            <a:ext cx="378882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C497E8-F9EF-2D9E-764F-ACA3770B12ED}"/>
              </a:ext>
            </a:extLst>
          </p:cNvPr>
          <p:cNvSpPr/>
          <p:nvPr/>
        </p:nvSpPr>
        <p:spPr>
          <a:xfrm>
            <a:off x="755830" y="4866492"/>
            <a:ext cx="1678150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840EDD-F87B-9E12-86C5-6AACD5EAAF66}"/>
              </a:ext>
            </a:extLst>
          </p:cNvPr>
          <p:cNvSpPr/>
          <p:nvPr/>
        </p:nvSpPr>
        <p:spPr>
          <a:xfrm>
            <a:off x="4716188" y="2307457"/>
            <a:ext cx="378882" cy="2660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9B72550-1F47-D01D-AD32-FEC9FF42B19F}"/>
              </a:ext>
            </a:extLst>
          </p:cNvPr>
          <p:cNvSpPr txBox="1">
            <a:spLocks/>
          </p:cNvSpPr>
          <p:nvPr/>
        </p:nvSpPr>
        <p:spPr>
          <a:xfrm>
            <a:off x="405300" y="239827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22- </a:t>
            </a:r>
            <a:r>
              <a:rPr lang="en-US" sz="2400" b="1" dirty="0" err="1"/>
              <a:t>Colocar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Matrix con los </a:t>
            </a:r>
            <a:r>
              <a:rPr lang="en-US" sz="2400" b="1" dirty="0" err="1"/>
              <a:t>siguientes</a:t>
            </a:r>
            <a:r>
              <a:rPr lang="en-US" sz="2400" b="1" dirty="0"/>
              <a:t> campos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C58A9E1-22E2-37D5-D5AB-6112F38DA7D7}"/>
              </a:ext>
            </a:extLst>
          </p:cNvPr>
          <p:cNvSpPr txBox="1">
            <a:spLocks/>
          </p:cNvSpPr>
          <p:nvPr/>
        </p:nvSpPr>
        <p:spPr>
          <a:xfrm>
            <a:off x="159935" y="2942066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23- Click </a:t>
            </a:r>
            <a:r>
              <a:rPr lang="en-US" sz="2400" b="1" dirty="0" err="1"/>
              <a:t>en</a:t>
            </a:r>
            <a:r>
              <a:rPr lang="en-US" sz="2400" b="1" dirty="0"/>
              <a:t> el campo de [Count of folio] y </a:t>
            </a:r>
            <a:r>
              <a:rPr lang="en-US" sz="2400" b="1" dirty="0" err="1"/>
              <a:t>seleccionar</a:t>
            </a:r>
            <a:r>
              <a:rPr lang="en-US" sz="2400" b="1" dirty="0"/>
              <a:t> la </a:t>
            </a:r>
            <a:r>
              <a:rPr lang="en-US" sz="2400" b="1" dirty="0" err="1"/>
              <a:t>opcion</a:t>
            </a:r>
            <a:r>
              <a:rPr lang="en-US" sz="2400" b="1" dirty="0"/>
              <a:t> de (Conditional formatting)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F8FB3D-7194-8CA4-7BE1-5C3A4777C343}"/>
              </a:ext>
            </a:extLst>
          </p:cNvPr>
          <p:cNvSpPr txBox="1">
            <a:spLocks/>
          </p:cNvSpPr>
          <p:nvPr/>
        </p:nvSpPr>
        <p:spPr>
          <a:xfrm>
            <a:off x="6201343" y="49687"/>
            <a:ext cx="4915301" cy="13229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24- </a:t>
            </a:r>
            <a:r>
              <a:rPr lang="en-US" sz="2400" b="1" dirty="0" err="1"/>
              <a:t>Colocar</a:t>
            </a:r>
            <a:r>
              <a:rPr lang="en-US" sz="2400" b="1" dirty="0"/>
              <a:t> los </a:t>
            </a:r>
            <a:r>
              <a:rPr lang="en-US" sz="2400" b="1" dirty="0" err="1"/>
              <a:t>siguientes</a:t>
            </a:r>
            <a:r>
              <a:rPr lang="en-US" sz="2400" b="1" dirty="0"/>
              <a:t> </a:t>
            </a:r>
            <a:r>
              <a:rPr lang="en-US" sz="2400" b="1" dirty="0" err="1"/>
              <a:t>degradados</a:t>
            </a:r>
            <a:r>
              <a:rPr lang="en-US" sz="2400" b="1" dirty="0"/>
              <a:t> para que el valor mas alto sea color mas </a:t>
            </a:r>
            <a:r>
              <a:rPr lang="en-US" sz="2400" b="1" dirty="0" err="1"/>
              <a:t>obscuro</a:t>
            </a:r>
            <a:r>
              <a:rPr lang="en-US" sz="2400" b="1" dirty="0"/>
              <a:t> y </a:t>
            </a:r>
            <a:r>
              <a:rPr lang="en-US" sz="2400" b="1" dirty="0" err="1"/>
              <a:t>mientras</a:t>
            </a:r>
            <a:r>
              <a:rPr lang="en-US" sz="2400" b="1" dirty="0"/>
              <a:t> mas bajo </a:t>
            </a:r>
            <a:r>
              <a:rPr lang="en-US" sz="2400" b="1" dirty="0" err="1"/>
              <a:t>blanco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29994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598</Words>
  <Application>Microsoft Office PowerPoint</Application>
  <PresentationFormat>Widescreen</PresentationFormat>
  <Paragraphs>49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Corning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Gonzalez, Jose Eduardo</dc:creator>
  <cp:lastModifiedBy>Gonzalez, Jose Eduardo</cp:lastModifiedBy>
  <cp:revision>4</cp:revision>
  <dcterms:created xsi:type="dcterms:W3CDTF">2026-02-15T14:25:02Z</dcterms:created>
  <dcterms:modified xsi:type="dcterms:W3CDTF">2026-02-27T04:19:11Z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4e56da1-ea92-450b-bcad-67d23f2d9181_Enabled">
    <vt:lpwstr>true</vt:lpwstr>
  </property>
  <property fmtid="{D5CDD505-2E9C-101B-9397-08002B2CF9AE}" pid="3" name="MSIP_Label_94e56da1-ea92-450b-bcad-67d23f2d9181_SetDate">
    <vt:lpwstr>2026-02-15T15:42:54Z</vt:lpwstr>
  </property>
  <property fmtid="{D5CDD505-2E9C-101B-9397-08002B2CF9AE}" pid="4" name="MSIP_Label_94e56da1-ea92-450b-bcad-67d23f2d9181_Method">
    <vt:lpwstr>Privileged</vt:lpwstr>
  </property>
  <property fmtid="{D5CDD505-2E9C-101B-9397-08002B2CF9AE}" pid="5" name="MSIP_Label_94e56da1-ea92-450b-bcad-67d23f2d9181_Name">
    <vt:lpwstr>General - Corning (L4) Not-Encrypted (Anyone)</vt:lpwstr>
  </property>
  <property fmtid="{D5CDD505-2E9C-101B-9397-08002B2CF9AE}" pid="6" name="MSIP_Label_94e56da1-ea92-450b-bcad-67d23f2d9181_SiteId">
    <vt:lpwstr>b36a1e05-4a62-442b-83cf-dbdd6d7810e4</vt:lpwstr>
  </property>
  <property fmtid="{D5CDD505-2E9C-101B-9397-08002B2CF9AE}" pid="7" name="MSIP_Label_94e56da1-ea92-450b-bcad-67d23f2d9181_ActionId">
    <vt:lpwstr>fc23eb33-54df-4b8a-bd91-02157344a099</vt:lpwstr>
  </property>
  <property fmtid="{D5CDD505-2E9C-101B-9397-08002B2CF9AE}" pid="8" name="MSIP_Label_94e56da1-ea92-450b-bcad-67d23f2d9181_ContentBits">
    <vt:lpwstr>2</vt:lpwstr>
  </property>
  <property fmtid="{D5CDD505-2E9C-101B-9397-08002B2CF9AE}" pid="9" name="MSIP_Label_94e56da1-ea92-450b-bcad-67d23f2d9181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Corning (L4)</vt:lpwstr>
  </property>
</Properties>
</file>